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57" r:id="rId4"/>
    <p:sldId id="258" r:id="rId5"/>
    <p:sldId id="259" r:id="rId6"/>
    <p:sldId id="264" r:id="rId7"/>
    <p:sldId id="263" r:id="rId8"/>
    <p:sldId id="270" r:id="rId9"/>
    <p:sldId id="269" r:id="rId10"/>
    <p:sldId id="265" r:id="rId11"/>
    <p:sldId id="266" r:id="rId12"/>
    <p:sldId id="262" r:id="rId13"/>
    <p:sldId id="260" r:id="rId14"/>
    <p:sldId id="261" r:id="rId15"/>
    <p:sldId id="267" r:id="rId16"/>
    <p:sldId id="272" r:id="rId17"/>
    <p:sldId id="274" r:id="rId18"/>
    <p:sldId id="268" r:id="rId19"/>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4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p:cNvSpPr>
            <a:spLocks noGrp="1"/>
          </p:cNvSpPr>
          <p:nvPr>
            <p:ph type="dt" sz="half" idx="10"/>
          </p:nvPr>
        </p:nvSpPr>
        <p:spPr/>
        <p:txBody>
          <a:bodyPr/>
          <a:lstStyle/>
          <a:p>
            <a:fld id="{EDC7BAC4-75EC-4F23-A758-C4A263463FFA}" type="datetimeFigureOut">
              <a:rPr lang="id-ID" smtClean="0"/>
              <a:t>11/06/2017</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880638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EDC7BAC4-75EC-4F23-A758-C4A263463FFA}" type="datetimeFigureOut">
              <a:rPr lang="id-ID" smtClean="0"/>
              <a:t>11/06/2017</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3362429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d-ID"/>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7BAC4-75EC-4F23-A758-C4A263463FFA}" type="datetimeFigureOut">
              <a:rPr lang="id-ID" smtClean="0"/>
              <a:t>11/06/2017</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1053377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EDC7BAC4-75EC-4F23-A758-C4A263463FFA}" type="datetimeFigureOut">
              <a:rPr lang="id-ID" smtClean="0"/>
              <a:t>11/06/2017</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100489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id-ID"/>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EDC7BAC4-75EC-4F23-A758-C4A263463FFA}" type="datetimeFigureOut">
              <a:rPr lang="id-ID" smtClean="0"/>
              <a:t>11/06/2017</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4027327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EDC7BAC4-75EC-4F23-A758-C4A263463FFA}" type="datetimeFigureOut">
              <a:rPr lang="id-ID" smtClean="0"/>
              <a:t>11/06/2017</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281574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C7BAC4-75EC-4F23-A758-C4A263463FFA}" type="datetimeFigureOut">
              <a:rPr lang="id-ID" smtClean="0"/>
              <a:t>11/06/2017</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3312219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C7BAC4-75EC-4F23-A758-C4A263463FFA}" type="datetimeFigureOut">
              <a:rPr lang="id-ID" smtClean="0"/>
              <a:t>11/06/2017</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2995362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C7BAC4-75EC-4F23-A758-C4A263463FFA}" type="datetimeFigureOut">
              <a:rPr lang="id-ID" smtClean="0"/>
              <a:t>11/06/2017</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3947837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EDC7BAC4-75EC-4F23-A758-C4A263463FFA}" type="datetimeFigureOut">
              <a:rPr lang="id-ID" smtClean="0"/>
              <a:t>11/06/2017</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2621019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EDC7BAC4-75EC-4F23-A758-C4A263463FFA}" type="datetimeFigureOut">
              <a:rPr lang="id-ID" smtClean="0"/>
              <a:t>11/06/2017</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21C5EA15-6ED6-41EA-A9DB-DF1A6A3685A3}" type="slidenum">
              <a:rPr lang="id-ID" smtClean="0"/>
              <a:t>‹#›</a:t>
            </a:fld>
            <a:endParaRPr lang="id-ID"/>
          </a:p>
        </p:txBody>
      </p:sp>
    </p:spTree>
    <p:extLst>
      <p:ext uri="{BB962C8B-B14F-4D97-AF65-F5344CB8AC3E}">
        <p14:creationId xmlns:p14="http://schemas.microsoft.com/office/powerpoint/2010/main" val="353968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C7BAC4-75EC-4F23-A758-C4A263463FFA}" type="datetimeFigureOut">
              <a:rPr lang="id-ID" smtClean="0"/>
              <a:t>11/06/2017</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C5EA15-6ED6-41EA-A9DB-DF1A6A3685A3}" type="slidenum">
              <a:rPr lang="id-ID" smtClean="0"/>
              <a:t>‹#›</a:t>
            </a:fld>
            <a:endParaRPr lang="id-ID"/>
          </a:p>
        </p:txBody>
      </p:sp>
    </p:spTree>
    <p:extLst>
      <p:ext uri="{BB962C8B-B14F-4D97-AF65-F5344CB8AC3E}">
        <p14:creationId xmlns:p14="http://schemas.microsoft.com/office/powerpoint/2010/main" val="904965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id-ID" sz="8000" b="1" dirty="0">
                <a:solidFill>
                  <a:srgbClr val="0070C0"/>
                </a:solidFill>
                <a:latin typeface="Comic Sans MS" panose="030F0702030302020204" pitchFamily="66" charset="0"/>
              </a:rPr>
              <a:t>purifikasi</a:t>
            </a:r>
          </a:p>
        </p:txBody>
      </p:sp>
      <p:sp>
        <p:nvSpPr>
          <p:cNvPr id="3" name="Subtitle 2"/>
          <p:cNvSpPr>
            <a:spLocks noGrp="1"/>
          </p:cNvSpPr>
          <p:nvPr>
            <p:ph type="subTitle" idx="1"/>
          </p:nvPr>
        </p:nvSpPr>
        <p:spPr/>
        <p:txBody>
          <a:bodyPr/>
          <a:lstStyle/>
          <a:p>
            <a:endParaRPr lang="id-ID" dirty="0"/>
          </a:p>
          <a:p>
            <a:r>
              <a:rPr lang="id-ID" dirty="0">
                <a:latin typeface="Comic Sans MS" panose="030F0702030302020204" pitchFamily="66" charset="0"/>
              </a:rPr>
              <a:t>keuntungan dan kerugian online dan offline purifikasi</a:t>
            </a:r>
          </a:p>
        </p:txBody>
      </p:sp>
    </p:spTree>
    <p:extLst>
      <p:ext uri="{BB962C8B-B14F-4D97-AF65-F5344CB8AC3E}">
        <p14:creationId xmlns:p14="http://schemas.microsoft.com/office/powerpoint/2010/main" val="2246647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4870"/>
            <a:ext cx="10515600" cy="728384"/>
          </a:xfrm>
        </p:spPr>
        <p:txBody>
          <a:bodyPr/>
          <a:lstStyle/>
          <a:p>
            <a:pPr algn="ctr"/>
            <a:r>
              <a:rPr lang="id-ID" dirty="0">
                <a:latin typeface="Comic Sans MS" panose="030F0702030302020204" pitchFamily="66" charset="0"/>
              </a:rPr>
              <a:t>prakata</a:t>
            </a:r>
          </a:p>
        </p:txBody>
      </p:sp>
      <p:sp>
        <p:nvSpPr>
          <p:cNvPr id="3" name="Content Placeholder 2"/>
          <p:cNvSpPr>
            <a:spLocks noGrp="1"/>
          </p:cNvSpPr>
          <p:nvPr>
            <p:ph idx="1"/>
          </p:nvPr>
        </p:nvSpPr>
        <p:spPr>
          <a:xfrm>
            <a:off x="838200" y="1024480"/>
            <a:ext cx="11001866" cy="5517722"/>
          </a:xfrm>
        </p:spPr>
        <p:txBody>
          <a:bodyPr>
            <a:noAutofit/>
          </a:bodyPr>
          <a:lstStyle/>
          <a:p>
            <a:pPr marL="0" indent="0" algn="just">
              <a:buNone/>
            </a:pPr>
            <a:r>
              <a:rPr lang="id-ID" sz="2400" dirty="0">
                <a:latin typeface="Comic Sans MS" panose="030F0702030302020204" pitchFamily="66" charset="0"/>
              </a:rPr>
              <a:t>The increasing voltage and rating of the modern transformer and electrical apparatus results in greater electrical stress in insulating material and fluids. </a:t>
            </a:r>
            <a:r>
              <a:rPr lang="id-ID" sz="2400" i="1" dirty="0">
                <a:solidFill>
                  <a:srgbClr val="00B050"/>
                </a:solidFill>
                <a:latin typeface="Comic Sans MS" panose="030F0702030302020204" pitchFamily="66" charset="0"/>
              </a:rPr>
              <a:t>To handle these greater stresses, oils with better dielectric qualities are required. Also lower residual water content in insulating fluids and material must be maintained</a:t>
            </a:r>
            <a:r>
              <a:rPr lang="id-ID" sz="2400" dirty="0">
                <a:latin typeface="Comic Sans MS" panose="030F0702030302020204" pitchFamily="66" charset="0"/>
              </a:rPr>
              <a:t>.</a:t>
            </a:r>
            <a:r>
              <a:rPr lang="en-US" sz="2400" dirty="0">
                <a:latin typeface="Comic Sans MS" panose="030F0702030302020204" pitchFamily="66" charset="0"/>
              </a:rPr>
              <a:t> </a:t>
            </a:r>
          </a:p>
          <a:p>
            <a:pPr marL="0" indent="0" algn="just">
              <a:buNone/>
            </a:pPr>
            <a:r>
              <a:rPr lang="en-US" dirty="0"/>
              <a:t>All drying </a:t>
            </a:r>
            <a:r>
              <a:rPr lang="en-US" sz="2400" dirty="0">
                <a:latin typeface="Comic Sans MS" panose="030F0702030302020204" pitchFamily="66" charset="0"/>
              </a:rPr>
              <a:t>methods share a common objective - </a:t>
            </a:r>
            <a:r>
              <a:rPr lang="en-US" sz="2400" b="1" dirty="0">
                <a:solidFill>
                  <a:srgbClr val="0070C0"/>
                </a:solidFill>
                <a:latin typeface="Comic Sans MS" panose="030F0702030302020204" pitchFamily="66" charset="0"/>
              </a:rPr>
              <a:t>the removal of free and dissolved moisture from the cellulose paper, as well as the insulating oil</a:t>
            </a:r>
            <a:r>
              <a:rPr lang="en-US" sz="2400" dirty="0">
                <a:latin typeface="Comic Sans MS" panose="030F0702030302020204" pitchFamily="66" charset="0"/>
              </a:rPr>
              <a:t>. </a:t>
            </a:r>
          </a:p>
          <a:p>
            <a:pPr marL="0" indent="0" algn="just">
              <a:buNone/>
            </a:pPr>
            <a:r>
              <a:rPr lang="id-ID" sz="2400" dirty="0">
                <a:latin typeface="Comic Sans MS" panose="030F0702030302020204" pitchFamily="66" charset="0"/>
              </a:rPr>
              <a:t>The proper treatment and upgrading of the insulating fluid will result in the improvement of the properties of the entire insulating media of power transformers.</a:t>
            </a:r>
          </a:p>
          <a:p>
            <a:pPr marL="0" indent="0" algn="just">
              <a:buNone/>
            </a:pPr>
            <a:r>
              <a:rPr lang="id-ID" sz="2400" dirty="0">
                <a:latin typeface="Comic Sans MS" panose="030F0702030302020204" pitchFamily="66" charset="0"/>
              </a:rPr>
              <a:t>The principal functions of the insulating fluid are to serve as a dielectric material and as an effective coolant. To perform these functions, the insulating fluid must have the necessary qualities at the time of initial impregnation and filling at the factory and later maintain the same quality in the field operation.</a:t>
            </a:r>
          </a:p>
        </p:txBody>
      </p:sp>
    </p:spTree>
    <p:extLst>
      <p:ext uri="{BB962C8B-B14F-4D97-AF65-F5344CB8AC3E}">
        <p14:creationId xmlns:p14="http://schemas.microsoft.com/office/powerpoint/2010/main" val="2314226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958" y="0"/>
            <a:ext cx="10515600" cy="1325563"/>
          </a:xfrm>
        </p:spPr>
        <p:txBody>
          <a:bodyPr>
            <a:normAutofit/>
          </a:bodyPr>
          <a:lstStyle/>
          <a:p>
            <a:pPr algn="ctr"/>
            <a:r>
              <a:rPr lang="id-ID" sz="3600" b="1" dirty="0">
                <a:latin typeface="Comic Sans MS" panose="030F0702030302020204" pitchFamily="66" charset="0"/>
              </a:rPr>
              <a:t>tujuan purifikasi</a:t>
            </a:r>
          </a:p>
        </p:txBody>
      </p:sp>
      <p:sp>
        <p:nvSpPr>
          <p:cNvPr id="3" name="Content Placeholder 2"/>
          <p:cNvSpPr>
            <a:spLocks noGrp="1"/>
          </p:cNvSpPr>
          <p:nvPr>
            <p:ph idx="1"/>
          </p:nvPr>
        </p:nvSpPr>
        <p:spPr>
          <a:xfrm>
            <a:off x="876836" y="1143044"/>
            <a:ext cx="10515600" cy="4800556"/>
          </a:xfrm>
        </p:spPr>
        <p:txBody>
          <a:bodyPr>
            <a:normAutofit fontScale="92500" lnSpcReduction="10000"/>
          </a:bodyPr>
          <a:lstStyle/>
          <a:p>
            <a:pPr marL="514350" lvl="1" indent="-514350" algn="just">
              <a:spcBef>
                <a:spcPts val="1000"/>
              </a:spcBef>
              <a:buFont typeface="+mj-lt"/>
              <a:buAutoNum type="arabicPeriod"/>
            </a:pPr>
            <a:r>
              <a:rPr lang="id-ID" sz="3000" i="1" dirty="0">
                <a:solidFill>
                  <a:srgbClr val="00B0F0"/>
                </a:solidFill>
                <a:latin typeface="Comic Sans MS" panose="030F0702030302020204" pitchFamily="66" charset="0"/>
              </a:rPr>
              <a:t>tujuan utama purifikasi adalah mengurangi moisture didalam isolasi kertas pada transformator dengan pendingin minyak.</a:t>
            </a:r>
            <a:r>
              <a:rPr lang="en-US" sz="3000" b="1" i="1" dirty="0">
                <a:solidFill>
                  <a:srgbClr val="00B0F0"/>
                </a:solidFill>
                <a:latin typeface="Comic Sans MS" panose="030F0702030302020204" pitchFamily="66" charset="0"/>
              </a:rPr>
              <a:t> </a:t>
            </a:r>
            <a:endParaRPr lang="id-ID" sz="3000" b="1" i="1" dirty="0">
              <a:solidFill>
                <a:srgbClr val="00B0F0"/>
              </a:solidFill>
              <a:latin typeface="Comic Sans MS" panose="030F0702030302020204" pitchFamily="66" charset="0"/>
            </a:endParaRPr>
          </a:p>
          <a:p>
            <a:pPr marL="971550" lvl="2" indent="-514350" algn="just">
              <a:spcBef>
                <a:spcPts val="1000"/>
              </a:spcBef>
              <a:buFont typeface="Wingdings" panose="05000000000000000000" pitchFamily="2" charset="2"/>
              <a:buChar char="ü"/>
            </a:pPr>
            <a:r>
              <a:rPr lang="id-ID" sz="2400" b="1" i="1" dirty="0">
                <a:solidFill>
                  <a:srgbClr val="00B050"/>
                </a:solidFill>
                <a:latin typeface="Comic Sans MS" panose="030F0702030302020204" pitchFamily="66" charset="0"/>
              </a:rPr>
              <a:t>n</a:t>
            </a:r>
            <a:r>
              <a:rPr lang="en-US" sz="2400" b="1" i="1" dirty="0" err="1">
                <a:solidFill>
                  <a:srgbClr val="00B050"/>
                </a:solidFill>
                <a:latin typeface="Comic Sans MS" panose="030F0702030302020204" pitchFamily="66" charset="0"/>
              </a:rPr>
              <a:t>ote</a:t>
            </a:r>
            <a:r>
              <a:rPr lang="en-US" sz="2400" b="1" i="1" dirty="0">
                <a:solidFill>
                  <a:srgbClr val="00B050"/>
                </a:solidFill>
                <a:latin typeface="Comic Sans MS" panose="030F0702030302020204" pitchFamily="66" charset="0"/>
              </a:rPr>
              <a:t>: </a:t>
            </a:r>
            <a:r>
              <a:rPr lang="id-ID" sz="2400" b="1" i="1" dirty="0">
                <a:solidFill>
                  <a:srgbClr val="00B050"/>
                </a:solidFill>
                <a:latin typeface="Comic Sans MS" panose="030F0702030302020204" pitchFamily="66" charset="0"/>
              </a:rPr>
              <a:t>a</a:t>
            </a:r>
            <a:r>
              <a:rPr lang="en-US" sz="2400" b="1" i="1" dirty="0" err="1">
                <a:solidFill>
                  <a:srgbClr val="00B050"/>
                </a:solidFill>
                <a:latin typeface="Comic Sans MS" panose="030F0702030302020204" pitchFamily="66" charset="0"/>
              </a:rPr>
              <a:t>bove</a:t>
            </a:r>
            <a:r>
              <a:rPr lang="en-US" sz="2400" b="1" i="1" dirty="0">
                <a:solidFill>
                  <a:srgbClr val="00B050"/>
                </a:solidFill>
                <a:latin typeface="Comic Sans MS" panose="030F0702030302020204" pitchFamily="66" charset="0"/>
              </a:rPr>
              <a:t> 50 ppm</a:t>
            </a:r>
            <a:r>
              <a:rPr lang="id-ID" sz="2400" b="1" i="1" dirty="0">
                <a:solidFill>
                  <a:srgbClr val="00B050"/>
                </a:solidFill>
                <a:latin typeface="Comic Sans MS" panose="030F0702030302020204" pitchFamily="66" charset="0"/>
              </a:rPr>
              <a:t> </a:t>
            </a:r>
            <a:r>
              <a:rPr lang="en-US" sz="2400" b="1" i="1" dirty="0">
                <a:solidFill>
                  <a:srgbClr val="00B050"/>
                </a:solidFill>
                <a:latin typeface="Comic Sans MS" panose="030F0702030302020204" pitchFamily="66" charset="0"/>
              </a:rPr>
              <a:t>(ASTM 1533) of water in transformer oil definitely indicates the paper insulation is loaded with water. </a:t>
            </a:r>
            <a:endParaRPr lang="id-ID" sz="2400" i="1" dirty="0">
              <a:solidFill>
                <a:srgbClr val="00B050"/>
              </a:solidFill>
              <a:latin typeface="Comic Sans MS" panose="030F0702030302020204" pitchFamily="66" charset="0"/>
            </a:endParaRPr>
          </a:p>
          <a:p>
            <a:pPr marL="514350" indent="-514350" algn="just">
              <a:buFont typeface="+mj-lt"/>
              <a:buAutoNum type="arabicPeriod" startAt="2"/>
            </a:pPr>
            <a:r>
              <a:rPr lang="en-US" sz="3000" dirty="0" err="1">
                <a:latin typeface="Comic Sans MS" panose="030F0702030302020204" pitchFamily="66" charset="0"/>
              </a:rPr>
              <a:t>mengapa</a:t>
            </a:r>
            <a:r>
              <a:rPr lang="en-US" sz="3000" dirty="0">
                <a:latin typeface="Comic Sans MS" panose="030F0702030302020204" pitchFamily="66" charset="0"/>
              </a:rPr>
              <a:t> moisture </a:t>
            </a:r>
            <a:r>
              <a:rPr lang="en-US" sz="3000" dirty="0" err="1">
                <a:latin typeface="Comic Sans MS" panose="030F0702030302020204" pitchFamily="66" charset="0"/>
              </a:rPr>
              <a:t>didalam</a:t>
            </a:r>
            <a:r>
              <a:rPr lang="en-US" sz="3000" dirty="0">
                <a:latin typeface="Comic Sans MS" panose="030F0702030302020204" pitchFamily="66" charset="0"/>
              </a:rPr>
              <a:t> </a:t>
            </a:r>
            <a:r>
              <a:rPr lang="en-US" sz="3000" dirty="0" err="1">
                <a:latin typeface="Comic Sans MS" panose="030F0702030302020204" pitchFamily="66" charset="0"/>
              </a:rPr>
              <a:t>isolasi</a:t>
            </a:r>
            <a:r>
              <a:rPr lang="en-US" sz="3000" dirty="0">
                <a:latin typeface="Comic Sans MS" panose="030F0702030302020204" pitchFamily="66" charset="0"/>
              </a:rPr>
              <a:t> yang </a:t>
            </a:r>
            <a:r>
              <a:rPr lang="en-US" sz="3000" dirty="0" err="1">
                <a:latin typeface="Comic Sans MS" panose="030F0702030302020204" pitchFamily="66" charset="0"/>
              </a:rPr>
              <a:t>dikurangi</a:t>
            </a:r>
            <a:r>
              <a:rPr lang="en-US" sz="3000" dirty="0">
                <a:latin typeface="Comic Sans MS" panose="030F0702030302020204" pitchFamily="66" charset="0"/>
              </a:rPr>
              <a:t> ? Karena </a:t>
            </a:r>
            <a:r>
              <a:rPr lang="en-US" sz="3000" dirty="0" err="1">
                <a:latin typeface="Comic Sans MS" panose="030F0702030302020204" pitchFamily="66" charset="0"/>
              </a:rPr>
              <a:t>jarak</a:t>
            </a:r>
            <a:r>
              <a:rPr lang="en-US" sz="3000" dirty="0">
                <a:latin typeface="Comic Sans MS" panose="030F0702030302020204" pitchFamily="66" charset="0"/>
              </a:rPr>
              <a:t> electric </a:t>
            </a:r>
            <a:r>
              <a:rPr lang="en-US" sz="3000" dirty="0" err="1">
                <a:latin typeface="Comic Sans MS" panose="030F0702030302020204" pitchFamily="66" charset="0"/>
              </a:rPr>
              <a:t>terdekat</a:t>
            </a:r>
            <a:r>
              <a:rPr lang="en-US" sz="3000" dirty="0">
                <a:latin typeface="Comic Sans MS" panose="030F0702030302020204" pitchFamily="66" charset="0"/>
              </a:rPr>
              <a:t> </a:t>
            </a:r>
            <a:r>
              <a:rPr lang="en-US" sz="3000" dirty="0" err="1">
                <a:latin typeface="Comic Sans MS" panose="030F0702030302020204" pitchFamily="66" charset="0"/>
              </a:rPr>
              <a:t>antar</a:t>
            </a:r>
            <a:r>
              <a:rPr lang="en-US" sz="3000" dirty="0">
                <a:latin typeface="Comic Sans MS" panose="030F0702030302020204" pitchFamily="66" charset="0"/>
              </a:rPr>
              <a:t> </a:t>
            </a:r>
            <a:r>
              <a:rPr lang="en-US" sz="3000" dirty="0" err="1">
                <a:latin typeface="Comic Sans MS" panose="030F0702030302020204" pitchFamily="66" charset="0"/>
              </a:rPr>
              <a:t>phasa</a:t>
            </a:r>
            <a:r>
              <a:rPr lang="en-US" sz="3000" dirty="0">
                <a:latin typeface="Comic Sans MS" panose="030F0702030302020204" pitchFamily="66" charset="0"/>
              </a:rPr>
              <a:t> </a:t>
            </a:r>
            <a:r>
              <a:rPr lang="en-US" sz="3000" dirty="0" err="1">
                <a:latin typeface="Comic Sans MS" panose="030F0702030302020204" pitchFamily="66" charset="0"/>
              </a:rPr>
              <a:t>berada</a:t>
            </a:r>
            <a:r>
              <a:rPr lang="en-US" sz="3000" dirty="0">
                <a:latin typeface="Comic Sans MS" panose="030F0702030302020204" pitchFamily="66" charset="0"/>
              </a:rPr>
              <a:t> </a:t>
            </a:r>
            <a:r>
              <a:rPr lang="en-US" sz="3000" dirty="0" err="1">
                <a:latin typeface="Comic Sans MS" panose="030F0702030302020204" pitchFamily="66" charset="0"/>
              </a:rPr>
              <a:t>pada</a:t>
            </a:r>
            <a:r>
              <a:rPr lang="en-US" sz="3000" dirty="0">
                <a:latin typeface="Comic Sans MS" panose="030F0702030302020204" pitchFamily="66" charset="0"/>
              </a:rPr>
              <a:t> </a:t>
            </a:r>
            <a:r>
              <a:rPr lang="en-US" sz="3000" dirty="0" err="1">
                <a:latin typeface="Comic Sans MS" panose="030F0702030302020204" pitchFamily="66" charset="0"/>
              </a:rPr>
              <a:t>antar</a:t>
            </a:r>
            <a:r>
              <a:rPr lang="en-US" sz="3000" dirty="0">
                <a:latin typeface="Comic Sans MS" panose="030F0702030302020204" pitchFamily="66" charset="0"/>
              </a:rPr>
              <a:t> </a:t>
            </a:r>
            <a:r>
              <a:rPr lang="en-US" sz="3000" dirty="0" err="1">
                <a:latin typeface="Comic Sans MS" panose="030F0702030302020204" pitchFamily="66" charset="0"/>
              </a:rPr>
              <a:t>lilitan</a:t>
            </a:r>
            <a:r>
              <a:rPr lang="en-US" sz="3000" dirty="0">
                <a:latin typeface="Comic Sans MS" panose="030F0702030302020204" pitchFamily="66" charset="0"/>
              </a:rPr>
              <a:t>, </a:t>
            </a:r>
            <a:r>
              <a:rPr lang="en-US" sz="3000" dirty="0" err="1">
                <a:latin typeface="Comic Sans MS" panose="030F0702030302020204" pitchFamily="66" charset="0"/>
              </a:rPr>
              <a:t>dibanding</a:t>
            </a:r>
            <a:r>
              <a:rPr lang="en-US" sz="3000" dirty="0">
                <a:latin typeface="Comic Sans MS" panose="030F0702030302020204" pitchFamily="66" charset="0"/>
              </a:rPr>
              <a:t> </a:t>
            </a:r>
            <a:r>
              <a:rPr lang="en-US" sz="3000" dirty="0" err="1">
                <a:latin typeface="Comic Sans MS" panose="030F0702030302020204" pitchFamily="66" charset="0"/>
              </a:rPr>
              <a:t>lilitan</a:t>
            </a:r>
            <a:r>
              <a:rPr lang="en-US" sz="3000" dirty="0">
                <a:latin typeface="Comic Sans MS" panose="030F0702030302020204" pitchFamily="66" charset="0"/>
              </a:rPr>
              <a:t> </a:t>
            </a:r>
            <a:r>
              <a:rPr lang="en-US" sz="3000" dirty="0" err="1">
                <a:latin typeface="Comic Sans MS" panose="030F0702030302020204" pitchFamily="66" charset="0"/>
              </a:rPr>
              <a:t>dengan</a:t>
            </a:r>
            <a:r>
              <a:rPr lang="en-US" sz="3000" dirty="0">
                <a:latin typeface="Comic Sans MS" panose="030F0702030302020204" pitchFamily="66" charset="0"/>
              </a:rPr>
              <a:t> </a:t>
            </a:r>
            <a:r>
              <a:rPr lang="en-US" sz="3000" dirty="0" err="1">
                <a:latin typeface="Comic Sans MS" panose="030F0702030302020204" pitchFamily="66" charset="0"/>
              </a:rPr>
              <a:t>dinding</a:t>
            </a:r>
            <a:r>
              <a:rPr lang="en-US" sz="3000" dirty="0">
                <a:latin typeface="Comic Sans MS" panose="030F0702030302020204" pitchFamily="66" charset="0"/>
              </a:rPr>
              <a:t>.</a:t>
            </a:r>
          </a:p>
          <a:p>
            <a:pPr marL="514350" indent="-514350" algn="just">
              <a:buFont typeface="+mj-lt"/>
              <a:buAutoNum type="arabicPeriod" startAt="2"/>
            </a:pPr>
            <a:r>
              <a:rPr lang="id-ID" sz="3000" dirty="0">
                <a:latin typeface="Comic Sans MS" panose="030F0702030302020204" pitchFamily="66" charset="0"/>
              </a:rPr>
              <a:t>dengan mengurangi moisture didalam isolasi akan berdampak menurunkan moisture didalam minyak juga.</a:t>
            </a:r>
          </a:p>
          <a:p>
            <a:pPr marL="514350" indent="-514350" algn="just">
              <a:buFont typeface="+mj-lt"/>
              <a:buAutoNum type="arabicPeriod" startAt="2"/>
            </a:pPr>
            <a:r>
              <a:rPr lang="id-ID" sz="3000" dirty="0">
                <a:latin typeface="Comic Sans MS" panose="030F0702030302020204" pitchFamily="66" charset="0"/>
              </a:rPr>
              <a:t>dengan menurunnya moisture didalam minyak, tegangan tembus minyak akan naik.</a:t>
            </a:r>
          </a:p>
        </p:txBody>
      </p:sp>
    </p:spTree>
    <p:extLst>
      <p:ext uri="{BB962C8B-B14F-4D97-AF65-F5344CB8AC3E}">
        <p14:creationId xmlns:p14="http://schemas.microsoft.com/office/powerpoint/2010/main" val="514048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322" y="0"/>
            <a:ext cx="10515600" cy="1325563"/>
          </a:xfrm>
        </p:spPr>
        <p:txBody>
          <a:bodyPr>
            <a:normAutofit/>
          </a:bodyPr>
          <a:lstStyle/>
          <a:p>
            <a:pPr algn="ctr"/>
            <a:r>
              <a:rPr lang="id-ID" sz="3600" b="1" dirty="0">
                <a:latin typeface="Comic Sans MS" panose="030F0702030302020204" pitchFamily="66" charset="0"/>
              </a:rPr>
              <a:t>tujuan purifikasi</a:t>
            </a:r>
            <a:endParaRPr lang="id-ID" sz="3600" dirty="0"/>
          </a:p>
        </p:txBody>
      </p:sp>
      <p:sp>
        <p:nvSpPr>
          <p:cNvPr id="3" name="Content Placeholder 2"/>
          <p:cNvSpPr>
            <a:spLocks noGrp="1"/>
          </p:cNvSpPr>
          <p:nvPr>
            <p:ph idx="1"/>
          </p:nvPr>
        </p:nvSpPr>
        <p:spPr>
          <a:xfrm>
            <a:off x="825322" y="1179581"/>
            <a:ext cx="10515600" cy="4351338"/>
          </a:xfrm>
        </p:spPr>
        <p:txBody>
          <a:bodyPr>
            <a:normAutofit fontScale="92500" lnSpcReduction="10000"/>
          </a:bodyPr>
          <a:lstStyle/>
          <a:p>
            <a:pPr marL="514350" indent="-514350" algn="just">
              <a:buFont typeface="+mj-lt"/>
              <a:buAutoNum type="arabicPeriod" startAt="5"/>
            </a:pPr>
            <a:r>
              <a:rPr lang="id-ID" dirty="0">
                <a:latin typeface="Comic Sans MS" panose="030F0702030302020204" pitchFamily="66" charset="0"/>
              </a:rPr>
              <a:t>disamping tujuan utama mengurangi moisture didalam isolasi kertas, juga mengurangi gas2 yang terdapat dalam minyak dan benda2 (kotoran yang terapung) dalam minyak.</a:t>
            </a:r>
          </a:p>
          <a:p>
            <a:pPr marL="514350" indent="-514350" algn="just">
              <a:buFont typeface="+mj-lt"/>
              <a:buAutoNum type="arabicPeriod" startAt="5"/>
            </a:pPr>
            <a:r>
              <a:rPr lang="id-ID" dirty="0">
                <a:latin typeface="Comic Sans MS" panose="030F0702030302020204" pitchFamily="66" charset="0"/>
              </a:rPr>
              <a:t>perlu diketahui purifikasi </a:t>
            </a:r>
            <a:r>
              <a:rPr lang="id-ID" b="1" dirty="0">
                <a:solidFill>
                  <a:srgbClr val="0070C0"/>
                </a:solidFill>
                <a:latin typeface="Comic Sans MS" panose="030F0702030302020204" pitchFamily="66" charset="0"/>
              </a:rPr>
              <a:t>tidak bisa menghilangkan gas2 </a:t>
            </a:r>
            <a:r>
              <a:rPr lang="id-ID" dirty="0">
                <a:latin typeface="Comic Sans MS" panose="030F0702030302020204" pitchFamily="66" charset="0"/>
              </a:rPr>
              <a:t>(DGA). karena gas2 (DGA) itu terjadi karena adanya gangguan didalam transformator tersebut. </a:t>
            </a:r>
            <a:r>
              <a:rPr lang="en-US" dirty="0">
                <a:latin typeface="Comic Sans MS" panose="030F0702030302020204" pitchFamily="66" charset="0"/>
              </a:rPr>
              <a:t>J</a:t>
            </a:r>
            <a:r>
              <a:rPr lang="id-ID" dirty="0">
                <a:latin typeface="Comic Sans MS" panose="030F0702030302020204" pitchFamily="66" charset="0"/>
              </a:rPr>
              <a:t>adi selama gangguan tidak diselesaikan/diatasi maka gas2 (DGA) tersebut akan muncul  dan muncul terus. </a:t>
            </a:r>
          </a:p>
          <a:p>
            <a:pPr marL="514350" indent="-514350" algn="just">
              <a:buFont typeface="+mj-lt"/>
              <a:buAutoNum type="arabicPeriod" startAt="5"/>
            </a:pPr>
            <a:r>
              <a:rPr lang="id-ID" dirty="0">
                <a:latin typeface="Comic Sans MS" panose="030F0702030302020204" pitchFamily="66" charset="0"/>
              </a:rPr>
              <a:t>purifikasi juga </a:t>
            </a:r>
            <a:r>
              <a:rPr lang="id-ID" b="1" dirty="0">
                <a:solidFill>
                  <a:srgbClr val="0070C0"/>
                </a:solidFill>
                <a:latin typeface="Comic Sans MS" panose="030F0702030302020204" pitchFamily="66" charset="0"/>
              </a:rPr>
              <a:t>tidak bisa memperbaiki warna, acid, ift</a:t>
            </a:r>
            <a:r>
              <a:rPr lang="id-ID" dirty="0">
                <a:latin typeface="Comic Sans MS" panose="030F0702030302020204" pitchFamily="66" charset="0"/>
              </a:rPr>
              <a:t> dan lain2 yang terjadi pada minyak.</a:t>
            </a:r>
          </a:p>
          <a:p>
            <a:pPr marL="514350" indent="-514350" algn="just">
              <a:buFont typeface="+mj-lt"/>
              <a:buAutoNum type="arabicPeriod" startAt="5"/>
            </a:pPr>
            <a:r>
              <a:rPr lang="id-ID" dirty="0">
                <a:latin typeface="Comic Sans MS" panose="030F0702030302020204" pitchFamily="66" charset="0"/>
              </a:rPr>
              <a:t>untuk diketahui perbandingan jumlah m</a:t>
            </a:r>
            <a:r>
              <a:rPr lang="en-US" dirty="0" err="1">
                <a:latin typeface="Comic Sans MS" panose="030F0702030302020204" pitchFamily="66" charset="0"/>
              </a:rPr>
              <a:t>oisture</a:t>
            </a:r>
            <a:r>
              <a:rPr lang="id-ID" dirty="0">
                <a:latin typeface="Comic Sans MS" panose="030F0702030302020204" pitchFamily="66" charset="0"/>
              </a:rPr>
              <a:t> didalam minyak dibanding dalam isolasi kertas sekitar 1 : 1.000</a:t>
            </a:r>
          </a:p>
          <a:p>
            <a:pPr marL="514350" indent="-514350">
              <a:buFont typeface="+mj-lt"/>
              <a:buAutoNum type="arabicPeriod" startAt="5"/>
            </a:pPr>
            <a:endParaRPr lang="id-ID" dirty="0">
              <a:latin typeface="Comic Sans MS" panose="030F0702030302020204" pitchFamily="66" charset="0"/>
            </a:endParaRPr>
          </a:p>
        </p:txBody>
      </p:sp>
    </p:spTree>
    <p:extLst>
      <p:ext uri="{BB962C8B-B14F-4D97-AF65-F5344CB8AC3E}">
        <p14:creationId xmlns:p14="http://schemas.microsoft.com/office/powerpoint/2010/main" val="3696959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b="1" dirty="0">
                <a:latin typeface="Comic Sans MS" panose="030F0702030302020204" pitchFamily="66" charset="0"/>
              </a:rPr>
              <a:t>contoh diagram purifikasi</a:t>
            </a:r>
          </a:p>
        </p:txBody>
      </p:sp>
      <p:pic>
        <p:nvPicPr>
          <p:cNvPr id="4" name="Picture 5" descr="Purifying Scree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4930" y="1825625"/>
            <a:ext cx="696214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246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b="1" dirty="0">
                <a:latin typeface="Comic Sans MS" panose="030F0702030302020204" pitchFamily="66" charset="0"/>
              </a:rPr>
              <a:t>gambaran hasil purifikasi</a:t>
            </a:r>
          </a:p>
        </p:txBody>
      </p:sp>
      <p:sp>
        <p:nvSpPr>
          <p:cNvPr id="4" name="Rectangle 2"/>
          <p:cNvSpPr>
            <a:spLocks noChangeArrowheads="1"/>
          </p:cNvSpPr>
          <p:nvPr/>
        </p:nvSpPr>
        <p:spPr bwMode="auto">
          <a:xfrm>
            <a:off x="1725769" y="1690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id-ID"/>
          </a:p>
        </p:txBody>
      </p:sp>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l="4472" t="25829" r="3610" b="9164"/>
          <a:stretch>
            <a:fillRect/>
          </a:stretch>
        </p:blipFill>
        <p:spPr bwMode="auto">
          <a:xfrm>
            <a:off x="3116687" y="2334631"/>
            <a:ext cx="7058236" cy="3744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367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563" y="0"/>
            <a:ext cx="10515600" cy="1017431"/>
          </a:xfrm>
        </p:spPr>
        <p:txBody>
          <a:bodyPr>
            <a:normAutofit/>
          </a:bodyPr>
          <a:lstStyle/>
          <a:p>
            <a:pPr algn="ctr"/>
            <a:r>
              <a:rPr lang="id-ID" sz="3600" b="1" dirty="0">
                <a:latin typeface="Comic Sans MS" panose="030F0702030302020204" pitchFamily="66" charset="0"/>
              </a:rPr>
              <a:t>tatacara purifikasi</a:t>
            </a:r>
            <a:endParaRPr lang="id-ID" sz="3600" b="1" dirty="0"/>
          </a:p>
        </p:txBody>
      </p:sp>
      <p:sp>
        <p:nvSpPr>
          <p:cNvPr id="3" name="Content Placeholder 2"/>
          <p:cNvSpPr>
            <a:spLocks noGrp="1"/>
          </p:cNvSpPr>
          <p:nvPr>
            <p:ph idx="1"/>
          </p:nvPr>
        </p:nvSpPr>
        <p:spPr>
          <a:xfrm>
            <a:off x="545206" y="799040"/>
            <a:ext cx="11178862" cy="5405862"/>
          </a:xfrm>
        </p:spPr>
        <p:txBody>
          <a:bodyPr>
            <a:normAutofit/>
          </a:bodyPr>
          <a:lstStyle/>
          <a:p>
            <a:pPr marL="514350" indent="-514350">
              <a:buFont typeface="+mj-lt"/>
              <a:buAutoNum type="arabicPeriod"/>
            </a:pPr>
            <a:r>
              <a:rPr lang="id-ID" dirty="0">
                <a:latin typeface="Comic Sans MS" panose="030F0702030302020204" pitchFamily="66" charset="0"/>
              </a:rPr>
              <a:t>bilakah transformator harus dipurifikasi ?</a:t>
            </a:r>
          </a:p>
          <a:p>
            <a:pPr marL="971550" lvl="1" indent="-514350">
              <a:lnSpc>
                <a:spcPct val="100000"/>
              </a:lnSpc>
              <a:spcBef>
                <a:spcPts val="0"/>
              </a:spcBef>
              <a:buFont typeface="+mj-lt"/>
              <a:buAutoNum type="alphaLcPeriod"/>
            </a:pPr>
            <a:r>
              <a:rPr lang="id-ID" dirty="0">
                <a:latin typeface="Comic Sans MS" panose="030F0702030302020204" pitchFamily="66" charset="0"/>
              </a:rPr>
              <a:t>bila moisture dalam minyak sudah melebihi ambang yang diijinkan</a:t>
            </a:r>
          </a:p>
          <a:p>
            <a:pPr marL="971550" lvl="1" indent="-514350">
              <a:lnSpc>
                <a:spcPct val="100000"/>
              </a:lnSpc>
              <a:spcBef>
                <a:spcPts val="0"/>
              </a:spcBef>
              <a:buFont typeface="+mj-lt"/>
              <a:buAutoNum type="alphaLcPeriod"/>
            </a:pPr>
            <a:r>
              <a:rPr lang="id-ID" dirty="0">
                <a:latin typeface="Comic Sans MS" panose="030F0702030302020204" pitchFamily="66" charset="0"/>
              </a:rPr>
              <a:t>tegangan tembus dalam minyak sudah melebihi ambang yang diijinkan</a:t>
            </a:r>
          </a:p>
          <a:p>
            <a:pPr marL="971550" lvl="1" indent="-514350">
              <a:lnSpc>
                <a:spcPct val="100000"/>
              </a:lnSpc>
              <a:spcBef>
                <a:spcPts val="0"/>
              </a:spcBef>
              <a:buFont typeface="+mj-lt"/>
              <a:buAutoNum type="alphaLcPeriod"/>
            </a:pPr>
            <a:r>
              <a:rPr lang="id-ID" dirty="0">
                <a:latin typeface="Comic Sans MS" panose="030F0702030302020204" pitchFamily="66" charset="0"/>
              </a:rPr>
              <a:t>lpf pada temp 25</a:t>
            </a:r>
            <a:r>
              <a:rPr lang="id-ID" baseline="30000" dirty="0">
                <a:latin typeface="Comic Sans MS" panose="030F0702030302020204" pitchFamily="66" charset="0"/>
              </a:rPr>
              <a:t>0</a:t>
            </a:r>
            <a:r>
              <a:rPr lang="id-ID" dirty="0">
                <a:latin typeface="Comic Sans MS" panose="030F0702030302020204" pitchFamily="66" charset="0"/>
              </a:rPr>
              <a:t>C sudah melebihi ambang yang diijinkan</a:t>
            </a:r>
          </a:p>
          <a:p>
            <a:pPr marL="971550" lvl="1" indent="-514350">
              <a:lnSpc>
                <a:spcPct val="100000"/>
              </a:lnSpc>
              <a:spcBef>
                <a:spcPts val="0"/>
              </a:spcBef>
              <a:buFont typeface="+mj-lt"/>
              <a:buAutoNum type="alphaLcPeriod"/>
            </a:pPr>
            <a:r>
              <a:rPr lang="id-ID" dirty="0">
                <a:latin typeface="Comic Sans MS" panose="030F0702030302020204" pitchFamily="66" charset="0"/>
              </a:rPr>
              <a:t>.</a:t>
            </a:r>
          </a:p>
          <a:p>
            <a:pPr marL="971550" lvl="1" indent="-514350">
              <a:lnSpc>
                <a:spcPct val="100000"/>
              </a:lnSpc>
              <a:spcBef>
                <a:spcPts val="0"/>
              </a:spcBef>
              <a:buFont typeface="+mj-lt"/>
              <a:buAutoNum type="alphaLcPeriod"/>
            </a:pPr>
            <a:endParaRPr lang="id-ID" dirty="0">
              <a:latin typeface="Comic Sans MS" panose="030F0702030302020204" pitchFamily="66" charset="0"/>
            </a:endParaRPr>
          </a:p>
          <a:p>
            <a:pPr marL="0" indent="0">
              <a:lnSpc>
                <a:spcPct val="100000"/>
              </a:lnSpc>
              <a:spcBef>
                <a:spcPts val="0"/>
              </a:spcBef>
              <a:buNone/>
            </a:pPr>
            <a:endParaRPr lang="id-ID" dirty="0">
              <a:latin typeface="Comic Sans MS" panose="030F0702030302020204" pitchFamily="66" charset="0"/>
            </a:endParaRPr>
          </a:p>
        </p:txBody>
      </p:sp>
      <p:pic>
        <p:nvPicPr>
          <p:cNvPr id="4" name="Picture 3"/>
          <p:cNvPicPr>
            <a:picLocks noChangeAspect="1"/>
          </p:cNvPicPr>
          <p:nvPr/>
        </p:nvPicPr>
        <p:blipFill>
          <a:blip r:embed="rId2"/>
          <a:stretch>
            <a:fillRect/>
          </a:stretch>
        </p:blipFill>
        <p:spPr>
          <a:xfrm>
            <a:off x="1542657" y="2355097"/>
            <a:ext cx="9640460" cy="1650233"/>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228135094"/>
              </p:ext>
            </p:extLst>
          </p:nvPr>
        </p:nvGraphicFramePr>
        <p:xfrm>
          <a:off x="1535270" y="3941996"/>
          <a:ext cx="9643590" cy="2677323"/>
        </p:xfrm>
        <a:graphic>
          <a:graphicData uri="http://schemas.openxmlformats.org/drawingml/2006/table">
            <a:tbl>
              <a:tblPr>
                <a:tableStyleId>{5C22544A-7EE6-4342-B048-85BDC9FD1C3A}</a:tableStyleId>
              </a:tblPr>
              <a:tblGrid>
                <a:gridCol w="1076060">
                  <a:extLst>
                    <a:ext uri="{9D8B030D-6E8A-4147-A177-3AD203B41FA5}">
                      <a16:colId xmlns:a16="http://schemas.microsoft.com/office/drawing/2014/main" val="20000"/>
                    </a:ext>
                  </a:extLst>
                </a:gridCol>
                <a:gridCol w="350811">
                  <a:extLst>
                    <a:ext uri="{9D8B030D-6E8A-4147-A177-3AD203B41FA5}">
                      <a16:colId xmlns:a16="http://schemas.microsoft.com/office/drawing/2014/main" val="20001"/>
                    </a:ext>
                  </a:extLst>
                </a:gridCol>
                <a:gridCol w="1795459">
                  <a:extLst>
                    <a:ext uri="{9D8B030D-6E8A-4147-A177-3AD203B41FA5}">
                      <a16:colId xmlns:a16="http://schemas.microsoft.com/office/drawing/2014/main" val="20002"/>
                    </a:ext>
                  </a:extLst>
                </a:gridCol>
                <a:gridCol w="1070210">
                  <a:extLst>
                    <a:ext uri="{9D8B030D-6E8A-4147-A177-3AD203B41FA5}">
                      <a16:colId xmlns:a16="http://schemas.microsoft.com/office/drawing/2014/main" val="20003"/>
                    </a:ext>
                  </a:extLst>
                </a:gridCol>
                <a:gridCol w="1070210">
                  <a:extLst>
                    <a:ext uri="{9D8B030D-6E8A-4147-A177-3AD203B41FA5}">
                      <a16:colId xmlns:a16="http://schemas.microsoft.com/office/drawing/2014/main" val="20004"/>
                    </a:ext>
                  </a:extLst>
                </a:gridCol>
                <a:gridCol w="1070210">
                  <a:extLst>
                    <a:ext uri="{9D8B030D-6E8A-4147-A177-3AD203B41FA5}">
                      <a16:colId xmlns:a16="http://schemas.microsoft.com/office/drawing/2014/main" val="20005"/>
                    </a:ext>
                  </a:extLst>
                </a:gridCol>
                <a:gridCol w="1070210">
                  <a:extLst>
                    <a:ext uri="{9D8B030D-6E8A-4147-A177-3AD203B41FA5}">
                      <a16:colId xmlns:a16="http://schemas.microsoft.com/office/drawing/2014/main" val="20006"/>
                    </a:ext>
                  </a:extLst>
                </a:gridCol>
                <a:gridCol w="1070210">
                  <a:extLst>
                    <a:ext uri="{9D8B030D-6E8A-4147-A177-3AD203B41FA5}">
                      <a16:colId xmlns:a16="http://schemas.microsoft.com/office/drawing/2014/main" val="20007"/>
                    </a:ext>
                  </a:extLst>
                </a:gridCol>
                <a:gridCol w="1070210">
                  <a:extLst>
                    <a:ext uri="{9D8B030D-6E8A-4147-A177-3AD203B41FA5}">
                      <a16:colId xmlns:a16="http://schemas.microsoft.com/office/drawing/2014/main" val="20008"/>
                    </a:ext>
                  </a:extLst>
                </a:gridCol>
              </a:tblGrid>
              <a:tr h="425430">
                <a:tc gridSpan="2">
                  <a:txBody>
                    <a:bodyPr/>
                    <a:lstStyle/>
                    <a:p>
                      <a:pPr algn="ctr" fontAlgn="b"/>
                      <a:r>
                        <a:rPr lang="id-ID" sz="2800" u="none" strike="noStrike" dirty="0">
                          <a:effectLst/>
                          <a:latin typeface="Comic Sans MS" panose="030F0702030302020204" pitchFamily="66" charset="0"/>
                        </a:rPr>
                        <a:t>Tingkat</a:t>
                      </a:r>
                      <a:endParaRPr lang="id-ID" sz="2800" b="0" i="0" u="none" strike="noStrike" dirty="0">
                        <a:solidFill>
                          <a:srgbClr val="000000"/>
                        </a:solidFill>
                        <a:effectLst/>
                        <a:latin typeface="Comic Sans MS" panose="030F0702030302020204" pitchFamily="66" charset="0"/>
                      </a:endParaRPr>
                    </a:p>
                  </a:txBody>
                  <a:tcPr marL="9525" marR="9525" marT="9525" marB="0" anchor="b"/>
                </a:tc>
                <a:tc hMerge="1">
                  <a:txBody>
                    <a:bodyPr/>
                    <a:lstStyle/>
                    <a:p>
                      <a:endParaRPr lang="id-ID"/>
                    </a:p>
                  </a:txBody>
                  <a:tcPr/>
                </a:tc>
                <a:tc gridSpan="7">
                  <a:txBody>
                    <a:bodyPr/>
                    <a:lstStyle/>
                    <a:p>
                      <a:pPr algn="ctr" fontAlgn="t"/>
                      <a:r>
                        <a:rPr lang="id-ID" sz="2800" u="none" strike="noStrike" dirty="0">
                          <a:effectLst/>
                          <a:latin typeface="Comic Sans MS" panose="030F0702030302020204" pitchFamily="66" charset="0"/>
                        </a:rPr>
                        <a:t>Uraian</a:t>
                      </a:r>
                      <a:endParaRPr lang="id-ID" sz="2800" b="0" i="0" u="none" strike="noStrike" dirty="0">
                        <a:solidFill>
                          <a:srgbClr val="000000"/>
                        </a:solidFill>
                        <a:effectLst/>
                        <a:latin typeface="Comic Sans MS" panose="030F0702030302020204" pitchFamily="66" charset="0"/>
                      </a:endParaRPr>
                    </a:p>
                  </a:txBody>
                  <a:tcPr marL="9525" marR="9525" marT="9525" marB="0"/>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0"/>
                  </a:ext>
                </a:extLst>
              </a:tr>
              <a:tr h="364653">
                <a:tc gridSpan="2">
                  <a:txBody>
                    <a:bodyPr/>
                    <a:lstStyle/>
                    <a:p>
                      <a:pPr algn="ctr" fontAlgn="b"/>
                      <a:r>
                        <a:rPr lang="id-ID" sz="2400" b="1" u="none" strike="noStrike" dirty="0">
                          <a:solidFill>
                            <a:srgbClr val="00B050"/>
                          </a:solidFill>
                          <a:effectLst/>
                          <a:latin typeface="Comic Sans MS" panose="030F0702030302020204" pitchFamily="66" charset="0"/>
                        </a:rPr>
                        <a:t>A</a:t>
                      </a:r>
                      <a:endParaRPr lang="id-ID" sz="2400" b="1" i="0" u="none" strike="noStrike" dirty="0">
                        <a:solidFill>
                          <a:srgbClr val="00B050"/>
                        </a:solidFill>
                        <a:effectLst/>
                        <a:latin typeface="Comic Sans MS" panose="030F0702030302020204" pitchFamily="66" charset="0"/>
                      </a:endParaRPr>
                    </a:p>
                  </a:txBody>
                  <a:tcPr marL="9525" marR="9525" marT="9525" marB="0" anchor="b"/>
                </a:tc>
                <a:tc hMerge="1">
                  <a:txBody>
                    <a:bodyPr/>
                    <a:lstStyle/>
                    <a:p>
                      <a:endParaRPr lang="id-ID"/>
                    </a:p>
                  </a:txBody>
                  <a:tcPr/>
                </a:tc>
                <a:tc gridSpan="7">
                  <a:txBody>
                    <a:bodyPr/>
                    <a:lstStyle/>
                    <a:p>
                      <a:pPr algn="l" fontAlgn="t"/>
                      <a:r>
                        <a:rPr lang="it-IT" sz="2400" b="1" u="none" strike="noStrike" dirty="0">
                          <a:solidFill>
                            <a:srgbClr val="00B050"/>
                          </a:solidFill>
                          <a:effectLst/>
                          <a:latin typeface="Comic Sans MS" panose="030F0702030302020204" pitchFamily="66" charset="0"/>
                        </a:rPr>
                        <a:t>Dapat diterima untuk operasi, operasi normal </a:t>
                      </a:r>
                      <a:endParaRPr lang="it-IT" sz="2400" b="1" i="0" u="none" strike="noStrike" dirty="0">
                        <a:solidFill>
                          <a:srgbClr val="00B050"/>
                        </a:solidFill>
                        <a:effectLst/>
                        <a:latin typeface="Comic Sans MS" panose="030F0702030302020204" pitchFamily="66" charset="0"/>
                      </a:endParaRPr>
                    </a:p>
                  </a:txBody>
                  <a:tcPr marL="9525" marR="9525" marT="9525" marB="0"/>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1"/>
                  </a:ext>
                </a:extLst>
              </a:tr>
              <a:tr h="364653">
                <a:tc gridSpan="2">
                  <a:txBody>
                    <a:bodyPr/>
                    <a:lstStyle/>
                    <a:p>
                      <a:pPr algn="ctr" fontAlgn="b"/>
                      <a:r>
                        <a:rPr lang="id-ID" sz="2400" b="1" u="none" strike="noStrike" dirty="0">
                          <a:solidFill>
                            <a:srgbClr val="00B050"/>
                          </a:solidFill>
                          <a:effectLst/>
                          <a:latin typeface="Comic Sans MS" panose="030F0702030302020204" pitchFamily="66" charset="0"/>
                        </a:rPr>
                        <a:t>B</a:t>
                      </a:r>
                      <a:endParaRPr lang="id-ID" sz="2400" b="1" i="0" u="none" strike="noStrike" dirty="0">
                        <a:solidFill>
                          <a:srgbClr val="00B050"/>
                        </a:solidFill>
                        <a:effectLst/>
                        <a:latin typeface="Comic Sans MS" panose="030F0702030302020204" pitchFamily="66" charset="0"/>
                      </a:endParaRPr>
                    </a:p>
                  </a:txBody>
                  <a:tcPr marL="9525" marR="9525" marT="9525" marB="0" anchor="b"/>
                </a:tc>
                <a:tc hMerge="1">
                  <a:txBody>
                    <a:bodyPr/>
                    <a:lstStyle/>
                    <a:p>
                      <a:endParaRPr lang="id-ID"/>
                    </a:p>
                  </a:txBody>
                  <a:tcPr/>
                </a:tc>
                <a:tc gridSpan="7">
                  <a:txBody>
                    <a:bodyPr/>
                    <a:lstStyle/>
                    <a:p>
                      <a:pPr algn="l" fontAlgn="t"/>
                      <a:r>
                        <a:rPr lang="id-ID" sz="2400" b="1" u="none" strike="noStrike" dirty="0">
                          <a:solidFill>
                            <a:srgbClr val="00B050"/>
                          </a:solidFill>
                          <a:effectLst/>
                          <a:latin typeface="Comic Sans MS" panose="030F0702030302020204" pitchFamily="66" charset="0"/>
                        </a:rPr>
                        <a:t>Waktu terbaik untuk menghilangkan kelebihan moisture</a:t>
                      </a:r>
                      <a:endParaRPr lang="id-ID" sz="2400" b="1" i="0" u="none" strike="noStrike" dirty="0">
                        <a:solidFill>
                          <a:srgbClr val="00B050"/>
                        </a:solidFill>
                        <a:effectLst/>
                        <a:latin typeface="Comic Sans MS" panose="030F0702030302020204" pitchFamily="66" charset="0"/>
                      </a:endParaRPr>
                    </a:p>
                  </a:txBody>
                  <a:tcPr marL="9525" marR="9525" marT="9525" marB="0"/>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2"/>
                  </a:ext>
                </a:extLst>
              </a:tr>
              <a:tr h="364653">
                <a:tc gridSpan="2">
                  <a:txBody>
                    <a:bodyPr/>
                    <a:lstStyle/>
                    <a:p>
                      <a:pPr algn="ctr" fontAlgn="b"/>
                      <a:r>
                        <a:rPr lang="id-ID" sz="2400" b="1" u="none" strike="noStrike" dirty="0">
                          <a:solidFill>
                            <a:srgbClr val="FF0000"/>
                          </a:solidFill>
                          <a:effectLst/>
                          <a:latin typeface="Comic Sans MS" panose="030F0702030302020204" pitchFamily="66" charset="0"/>
                        </a:rPr>
                        <a:t>C</a:t>
                      </a:r>
                      <a:endParaRPr lang="id-ID" sz="2400" b="1" i="0" u="none" strike="noStrike" dirty="0">
                        <a:solidFill>
                          <a:srgbClr val="FF0000"/>
                        </a:solidFill>
                        <a:effectLst/>
                        <a:latin typeface="Comic Sans MS" panose="030F0702030302020204" pitchFamily="66" charset="0"/>
                      </a:endParaRPr>
                    </a:p>
                  </a:txBody>
                  <a:tcPr marL="9525" marR="9525" marT="9525" marB="0" anchor="b"/>
                </a:tc>
                <a:tc hMerge="1">
                  <a:txBody>
                    <a:bodyPr/>
                    <a:lstStyle/>
                    <a:p>
                      <a:endParaRPr lang="id-ID"/>
                    </a:p>
                  </a:txBody>
                  <a:tcPr/>
                </a:tc>
                <a:tc gridSpan="6">
                  <a:txBody>
                    <a:bodyPr/>
                    <a:lstStyle/>
                    <a:p>
                      <a:pPr algn="l" fontAlgn="b"/>
                      <a:r>
                        <a:rPr lang="es-ES" sz="2400" b="1" u="none" strike="noStrike" dirty="0" err="1">
                          <a:solidFill>
                            <a:srgbClr val="FF0000"/>
                          </a:solidFill>
                          <a:effectLst/>
                          <a:latin typeface="Comic Sans MS" panose="030F0702030302020204" pitchFamily="66" charset="0"/>
                        </a:rPr>
                        <a:t>Basah</a:t>
                      </a:r>
                      <a:r>
                        <a:rPr lang="es-ES" sz="2400" b="1" u="none" strike="noStrike" dirty="0">
                          <a:solidFill>
                            <a:srgbClr val="FF0000"/>
                          </a:solidFill>
                          <a:effectLst/>
                          <a:latin typeface="Comic Sans MS" panose="030F0702030302020204" pitchFamily="66" charset="0"/>
                        </a:rPr>
                        <a:t> dan </a:t>
                      </a:r>
                      <a:r>
                        <a:rPr lang="es-ES" sz="2400" b="1" u="none" strike="noStrike" dirty="0" err="1">
                          <a:solidFill>
                            <a:srgbClr val="FF0000"/>
                          </a:solidFill>
                          <a:effectLst/>
                          <a:latin typeface="Comic Sans MS" panose="030F0702030302020204" pitchFamily="66" charset="0"/>
                        </a:rPr>
                        <a:t>masalahnya</a:t>
                      </a:r>
                      <a:r>
                        <a:rPr lang="es-ES" sz="2400" b="1" u="none" strike="noStrike" dirty="0">
                          <a:solidFill>
                            <a:srgbClr val="FF0000"/>
                          </a:solidFill>
                          <a:effectLst/>
                          <a:latin typeface="Comic Sans MS" panose="030F0702030302020204" pitchFamily="66" charset="0"/>
                        </a:rPr>
                        <a:t> </a:t>
                      </a:r>
                      <a:r>
                        <a:rPr lang="es-ES" sz="2400" b="1" u="none" strike="noStrike" dirty="0" err="1">
                          <a:solidFill>
                            <a:srgbClr val="FF0000"/>
                          </a:solidFill>
                          <a:effectLst/>
                          <a:latin typeface="Comic Sans MS" panose="030F0702030302020204" pitchFamily="66" charset="0"/>
                        </a:rPr>
                        <a:t>harus</a:t>
                      </a:r>
                      <a:r>
                        <a:rPr lang="es-ES" sz="2400" b="1" u="none" strike="noStrike" dirty="0">
                          <a:solidFill>
                            <a:srgbClr val="FF0000"/>
                          </a:solidFill>
                          <a:effectLst/>
                          <a:latin typeface="Comic Sans MS" panose="030F0702030302020204" pitchFamily="66" charset="0"/>
                        </a:rPr>
                        <a:t> </a:t>
                      </a:r>
                      <a:r>
                        <a:rPr lang="es-ES" sz="2400" b="1" u="none" strike="noStrike" dirty="0" err="1">
                          <a:solidFill>
                            <a:srgbClr val="FF0000"/>
                          </a:solidFill>
                          <a:effectLst/>
                          <a:latin typeface="Comic Sans MS" panose="030F0702030302020204" pitchFamily="66" charset="0"/>
                        </a:rPr>
                        <a:t>diatasi</a:t>
                      </a:r>
                      <a:endParaRPr lang="es-ES" sz="2400" b="1" i="0" u="none" strike="noStrike" dirty="0">
                        <a:solidFill>
                          <a:srgbClr val="FF0000"/>
                        </a:solidFill>
                        <a:effectLst/>
                        <a:latin typeface="Comic Sans MS" panose="030F0702030302020204" pitchFamily="66" charset="0"/>
                      </a:endParaRPr>
                    </a:p>
                  </a:txBody>
                  <a:tcPr marL="9525" marR="9525" marT="9525" marB="0" anchor="b"/>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a:txBody>
                    <a:bodyPr/>
                    <a:lstStyle/>
                    <a:p>
                      <a:pPr algn="l" fontAlgn="b"/>
                      <a:endParaRPr lang="id-ID" sz="1100" b="0" i="0" u="none" strike="noStrike">
                        <a:solidFill>
                          <a:srgbClr val="000000"/>
                        </a:solidFill>
                        <a:effectLst/>
                        <a:latin typeface="Comic Sans MS" panose="030F0702030302020204" pitchFamily="66" charset="0"/>
                      </a:endParaRPr>
                    </a:p>
                  </a:txBody>
                  <a:tcPr marL="9525" marR="9525" marT="9525" marB="0" anchor="b"/>
                </a:tc>
                <a:extLst>
                  <a:ext uri="{0D108BD9-81ED-4DB2-BD59-A6C34878D82A}">
                    <a16:rowId xmlns:a16="http://schemas.microsoft.com/office/drawing/2014/main" val="10003"/>
                  </a:ext>
                </a:extLst>
              </a:tr>
              <a:tr h="364653">
                <a:tc gridSpan="2">
                  <a:txBody>
                    <a:bodyPr/>
                    <a:lstStyle/>
                    <a:p>
                      <a:pPr algn="ctr" fontAlgn="t"/>
                      <a:r>
                        <a:rPr lang="id-ID" sz="2400" b="1" u="none" strike="noStrike">
                          <a:solidFill>
                            <a:srgbClr val="FF0000"/>
                          </a:solidFill>
                          <a:effectLst/>
                          <a:latin typeface="Comic Sans MS" panose="030F0702030302020204" pitchFamily="66" charset="0"/>
                        </a:rPr>
                        <a:t>D</a:t>
                      </a:r>
                      <a:endParaRPr lang="id-ID" sz="2400" b="1" i="0" u="none" strike="noStrike">
                        <a:solidFill>
                          <a:srgbClr val="FF0000"/>
                        </a:solidFill>
                        <a:effectLst/>
                        <a:latin typeface="Comic Sans MS" panose="030F0702030302020204" pitchFamily="66" charset="0"/>
                      </a:endParaRPr>
                    </a:p>
                  </a:txBody>
                  <a:tcPr marL="9525" marR="9525" marT="9525" marB="0"/>
                </a:tc>
                <a:tc hMerge="1">
                  <a:txBody>
                    <a:bodyPr/>
                    <a:lstStyle/>
                    <a:p>
                      <a:endParaRPr lang="id-ID"/>
                    </a:p>
                  </a:txBody>
                  <a:tcPr/>
                </a:tc>
                <a:tc gridSpan="7">
                  <a:txBody>
                    <a:bodyPr/>
                    <a:lstStyle/>
                    <a:p>
                      <a:pPr algn="l" fontAlgn="b"/>
                      <a:r>
                        <a:rPr lang="id-ID" sz="2400" b="1" u="none" strike="noStrike" dirty="0">
                          <a:solidFill>
                            <a:srgbClr val="FF0000"/>
                          </a:solidFill>
                          <a:effectLst/>
                          <a:latin typeface="Comic Sans MS" panose="030F0702030302020204" pitchFamily="66" charset="0"/>
                        </a:rPr>
                        <a:t>Kesempatan terakhir dan  mungkin sudah terlambat</a:t>
                      </a:r>
                      <a:endParaRPr lang="id-ID" sz="2400" b="1" i="0" u="none" strike="noStrike" dirty="0">
                        <a:solidFill>
                          <a:srgbClr val="FF0000"/>
                        </a:solidFill>
                        <a:effectLst/>
                        <a:latin typeface="Comic Sans MS" panose="030F0702030302020204" pitchFamily="66" charset="0"/>
                      </a:endParaRPr>
                    </a:p>
                  </a:txBody>
                  <a:tcPr marL="9525" marR="9525" marT="9525" marB="0" anchor="b"/>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4"/>
                  </a:ext>
                </a:extLst>
              </a:tr>
              <a:tr h="364653">
                <a:tc gridSpan="2">
                  <a:txBody>
                    <a:bodyPr/>
                    <a:lstStyle/>
                    <a:p>
                      <a:pPr algn="ctr" fontAlgn="t"/>
                      <a:r>
                        <a:rPr lang="id-ID" sz="2400" b="1" u="none" strike="noStrike">
                          <a:solidFill>
                            <a:srgbClr val="FF0000"/>
                          </a:solidFill>
                          <a:effectLst/>
                          <a:latin typeface="Comic Sans MS" panose="030F0702030302020204" pitchFamily="66" charset="0"/>
                        </a:rPr>
                        <a:t>E</a:t>
                      </a:r>
                      <a:endParaRPr lang="id-ID" sz="2400" b="1" i="0" u="none" strike="noStrike">
                        <a:solidFill>
                          <a:srgbClr val="FF0000"/>
                        </a:solidFill>
                        <a:effectLst/>
                        <a:latin typeface="Comic Sans MS" panose="030F0702030302020204" pitchFamily="66" charset="0"/>
                      </a:endParaRPr>
                    </a:p>
                  </a:txBody>
                  <a:tcPr marL="9525" marR="9525" marT="9525" marB="0"/>
                </a:tc>
                <a:tc hMerge="1">
                  <a:txBody>
                    <a:bodyPr/>
                    <a:lstStyle/>
                    <a:p>
                      <a:endParaRPr lang="id-ID"/>
                    </a:p>
                  </a:txBody>
                  <a:tcPr/>
                </a:tc>
                <a:tc gridSpan="6">
                  <a:txBody>
                    <a:bodyPr/>
                    <a:lstStyle/>
                    <a:p>
                      <a:pPr algn="l" fontAlgn="b"/>
                      <a:r>
                        <a:rPr lang="id-ID" sz="2400" b="1" u="none" strike="noStrike" dirty="0">
                          <a:solidFill>
                            <a:srgbClr val="FF0000"/>
                          </a:solidFill>
                          <a:effectLst/>
                          <a:latin typeface="Comic Sans MS" panose="030F0702030302020204" pitchFamily="66" charset="0"/>
                        </a:rPr>
                        <a:t>Tinggal tunggu bencana yang akan terjadi</a:t>
                      </a:r>
                      <a:endParaRPr lang="id-ID" sz="2400" b="1" i="0" u="none" strike="noStrike" dirty="0">
                        <a:solidFill>
                          <a:srgbClr val="FF0000"/>
                        </a:solidFill>
                        <a:effectLst/>
                        <a:latin typeface="Comic Sans MS" panose="030F0702030302020204" pitchFamily="66" charset="0"/>
                      </a:endParaRPr>
                    </a:p>
                  </a:txBody>
                  <a:tcPr marL="9525" marR="9525" marT="9525" marB="0" anchor="b"/>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a:txBody>
                    <a:bodyPr/>
                    <a:lstStyle/>
                    <a:p>
                      <a:pPr algn="l" fontAlgn="b"/>
                      <a:endParaRPr lang="id-ID"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364653">
                <a:tc>
                  <a:txBody>
                    <a:bodyPr/>
                    <a:lstStyle/>
                    <a:p>
                      <a:pPr algn="l" fontAlgn="t"/>
                      <a:endParaRPr lang="id-ID" sz="1100" b="1" i="0" u="none" strike="noStrike">
                        <a:solidFill>
                          <a:srgbClr val="000000"/>
                        </a:solidFill>
                        <a:effectLst/>
                        <a:latin typeface="Comic Sans MS" panose="030F0702030302020204" pitchFamily="66" charset="0"/>
                      </a:endParaRPr>
                    </a:p>
                  </a:txBody>
                  <a:tcPr marL="9525" marR="9525" marT="9525" marB="0"/>
                </a:tc>
                <a:tc>
                  <a:txBody>
                    <a:bodyPr/>
                    <a:lstStyle/>
                    <a:p>
                      <a:pPr algn="l" fontAlgn="t"/>
                      <a:endParaRPr lang="id-ID" sz="1100" b="1" i="0" u="none" strike="noStrike">
                        <a:solidFill>
                          <a:srgbClr val="000000"/>
                        </a:solidFill>
                        <a:effectLst/>
                        <a:latin typeface="Comic Sans MS" panose="030F0702030302020204" pitchFamily="66" charset="0"/>
                      </a:endParaRPr>
                    </a:p>
                  </a:txBody>
                  <a:tcPr marL="9525" marR="9525" marT="9525" marB="0"/>
                </a:tc>
                <a:tc>
                  <a:txBody>
                    <a:bodyPr/>
                    <a:lstStyle/>
                    <a:p>
                      <a:pPr algn="l" fontAlgn="b"/>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id-ID"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id-ID"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id-ID"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57184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564" y="0"/>
            <a:ext cx="10515600" cy="1325563"/>
          </a:xfrm>
        </p:spPr>
        <p:txBody>
          <a:bodyPr/>
          <a:lstStyle/>
          <a:p>
            <a:pPr algn="ctr"/>
            <a:r>
              <a:rPr lang="id-ID" b="1" dirty="0">
                <a:latin typeface="Comic Sans MS" panose="030F0702030302020204" pitchFamily="66" charset="0"/>
              </a:rPr>
              <a:t>tatacara purifikasi</a:t>
            </a:r>
            <a:endParaRPr lang="id-ID" dirty="0"/>
          </a:p>
        </p:txBody>
      </p:sp>
      <p:sp>
        <p:nvSpPr>
          <p:cNvPr id="3" name="Content Placeholder 2"/>
          <p:cNvSpPr>
            <a:spLocks noGrp="1"/>
          </p:cNvSpPr>
          <p:nvPr>
            <p:ph idx="1"/>
          </p:nvPr>
        </p:nvSpPr>
        <p:spPr>
          <a:xfrm>
            <a:off x="851079" y="1052893"/>
            <a:ext cx="10515600" cy="4351338"/>
          </a:xfrm>
        </p:spPr>
        <p:txBody>
          <a:bodyPr/>
          <a:lstStyle/>
          <a:p>
            <a:pPr marL="514350" indent="-514350">
              <a:buFont typeface="+mj-lt"/>
              <a:buAutoNum type="alphaLcPeriod" startAt="5"/>
            </a:pPr>
            <a:r>
              <a:rPr lang="id-ID" dirty="0">
                <a:latin typeface="Comic Sans MS" panose="030F0702030302020204" pitchFamily="66" charset="0"/>
              </a:rPr>
              <a:t>dari manakah didapat “huruf2” a,b c dstnya ?</a:t>
            </a:r>
          </a:p>
          <a:p>
            <a:pPr marL="514350" indent="-514350">
              <a:buFont typeface="+mj-lt"/>
              <a:buAutoNum type="alphaLcPeriod" startAt="5"/>
            </a:pPr>
            <a:endParaRPr lang="id-ID" dirty="0">
              <a:latin typeface="Comic Sans MS" panose="030F0702030302020204" pitchFamily="66" charset="0"/>
            </a:endParaRPr>
          </a:p>
        </p:txBody>
      </p:sp>
      <p:pic>
        <p:nvPicPr>
          <p:cNvPr id="4" name="Picture 3"/>
          <p:cNvPicPr>
            <a:picLocks noChangeAspect="1"/>
          </p:cNvPicPr>
          <p:nvPr/>
        </p:nvPicPr>
        <p:blipFill>
          <a:blip r:embed="rId2"/>
          <a:stretch>
            <a:fillRect/>
          </a:stretch>
        </p:blipFill>
        <p:spPr>
          <a:xfrm>
            <a:off x="1718089" y="1523072"/>
            <a:ext cx="6782534" cy="4723181"/>
          </a:xfrm>
          <a:prstGeom prst="rect">
            <a:avLst/>
          </a:prstGeom>
        </p:spPr>
      </p:pic>
      <p:sp>
        <p:nvSpPr>
          <p:cNvPr id="5" name="Text Box 6"/>
          <p:cNvSpPr txBox="1">
            <a:spLocks noChangeArrowheads="1"/>
          </p:cNvSpPr>
          <p:nvPr/>
        </p:nvSpPr>
        <p:spPr bwMode="auto">
          <a:xfrm>
            <a:off x="5293217" y="2189409"/>
            <a:ext cx="3078051" cy="4082602"/>
          </a:xfrm>
          <a:prstGeom prst="rect">
            <a:avLst/>
          </a:prstGeom>
          <a:solidFill>
            <a:sysClr val="window" lastClr="FFFFFF"/>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sz="1000" b="0" i="0" u="none" strike="noStrike" kern="0" cap="none" spc="0" normalizeH="0" baseline="0" noProof="0" dirty="0">
                <a:ln>
                  <a:noFill/>
                </a:ln>
                <a:solidFill>
                  <a:sysClr val="windowText" lastClr="000000"/>
                </a:solidFill>
                <a:effectLst/>
                <a:uLnTx/>
                <a:uFillTx/>
                <a:latin typeface="Comic Sans MS" pitchFamily="66" charset="0"/>
              </a:rPr>
              <a:t>              </a:t>
            </a:r>
            <a:r>
              <a:rPr kumimoji="0" lang="en-US" sz="1000" b="0" i="0" u="sng" strike="noStrike" kern="0" cap="none" spc="0" normalizeH="0" baseline="0" noProof="0" dirty="0">
                <a:ln>
                  <a:noFill/>
                </a:ln>
                <a:solidFill>
                  <a:sysClr val="windowText" lastClr="000000"/>
                </a:solidFill>
                <a:effectLst/>
                <a:uLnTx/>
                <a:uFillTx/>
                <a:latin typeface="Comic Sans MS" pitchFamily="66" charset="0"/>
              </a:rPr>
              <a:t>Myers Multiplier Table</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10°C  -  0.273        38°C  -  0.060</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12°C  -  0.250        </a:t>
            </a:r>
            <a:r>
              <a:rPr kumimoji="0" lang="en-US" sz="1200" b="1" i="0" u="none" strike="noStrike" kern="0" cap="none" spc="0" normalizeH="0" baseline="0" noProof="0" dirty="0">
                <a:ln>
                  <a:noFill/>
                </a:ln>
                <a:solidFill>
                  <a:srgbClr val="00B0F0"/>
                </a:solidFill>
                <a:effectLst/>
                <a:uLnTx/>
                <a:uFillTx/>
                <a:latin typeface="Comic Sans MS" pitchFamily="66" charset="0"/>
              </a:rPr>
              <a:t>40°C - 0.053</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14°C  -  0.228        42°C  -  0.048</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16°C  -  0.205        44°C  -  0.043</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18°C  -  0.188        46°C  -  0.038</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dirty="0">
                <a:ln>
                  <a:noFill/>
                </a:ln>
                <a:solidFill>
                  <a:srgbClr val="00B050"/>
                </a:solidFill>
                <a:effectLst/>
                <a:uLnTx/>
                <a:uFillTx/>
                <a:latin typeface="Comic Sans MS" pitchFamily="66" charset="0"/>
              </a:rPr>
              <a:t> 20°C - 0.170   </a:t>
            </a:r>
            <a:r>
              <a:rPr kumimoji="0" lang="id-ID" sz="1200" b="1" i="0" u="none" strike="noStrike" kern="0" cap="none" spc="0" normalizeH="0" baseline="0" noProof="0" dirty="0">
                <a:ln>
                  <a:noFill/>
                </a:ln>
                <a:solidFill>
                  <a:srgbClr val="00B050"/>
                </a:solidFill>
                <a:effectLst/>
                <a:uLnTx/>
                <a:uFillTx/>
                <a:latin typeface="Comic Sans MS" pitchFamily="66" charset="0"/>
              </a:rPr>
              <a:t> </a:t>
            </a:r>
            <a:r>
              <a:rPr kumimoji="0" lang="en-US" sz="1200" b="1" i="0" u="none" strike="noStrike" kern="0" cap="none" spc="0" normalizeH="0" baseline="0" noProof="0" dirty="0">
                <a:ln>
                  <a:noFill/>
                </a:ln>
                <a:solidFill>
                  <a:srgbClr val="00B050"/>
                </a:solidFill>
                <a:effectLst/>
                <a:uLnTx/>
                <a:uFillTx/>
                <a:latin typeface="Comic Sans MS" pitchFamily="66" charset="0"/>
              </a:rPr>
              <a:t> </a:t>
            </a: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48°C  -  0.034</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22°C  -  0.153        50°C  -  0.031</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24°C  -  0.138        52°C  -  0.028</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26°C  -  0.124        54°C  -  0.026</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28°C  -  0.112         56°C  -  0.024</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30°C  -  0.100        58°C  -  0.023</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32°C  -  0.089       </a:t>
            </a:r>
            <a:r>
              <a:rPr kumimoji="0" lang="en-US" sz="1200" b="1" i="0" u="none" strike="noStrike" kern="0" cap="none" spc="0" normalizeH="0" baseline="0" noProof="0" dirty="0">
                <a:ln>
                  <a:noFill/>
                </a:ln>
                <a:solidFill>
                  <a:srgbClr val="0070C0"/>
                </a:solidFill>
                <a:effectLst/>
                <a:uLnTx/>
                <a:uFillTx/>
                <a:latin typeface="Comic Sans MS" pitchFamily="66" charset="0"/>
              </a:rPr>
              <a:t>60°C - 0.022</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34°C  -  0.077        62°C  -  0.021</a:t>
            </a:r>
          </a:p>
          <a:p>
            <a:pPr marL="0" marR="0" lvl="0" indent="0" defTabSz="914400" eaLnBrk="1" fontAlgn="auto" latinLnBrk="0" hangingPunct="1">
              <a:lnSpc>
                <a:spcPct val="100000"/>
              </a:lnSpc>
              <a:spcBef>
                <a:spcPct val="500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Comic Sans MS" pitchFamily="66" charset="0"/>
              </a:rPr>
              <a:t>  36°C  -  0.068        64°C  -  0.020</a:t>
            </a:r>
          </a:p>
        </p:txBody>
      </p:sp>
    </p:spTree>
    <p:extLst>
      <p:ext uri="{BB962C8B-B14F-4D97-AF65-F5344CB8AC3E}">
        <p14:creationId xmlns:p14="http://schemas.microsoft.com/office/powerpoint/2010/main" val="2665524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id-ID" b="1" dirty="0">
                <a:latin typeface="Comic Sans MS" panose="030F0702030302020204" pitchFamily="66" charset="0"/>
              </a:rPr>
              <a:t>tatacara purifikasi</a:t>
            </a:r>
            <a:endParaRPr lang="id-ID" dirty="0"/>
          </a:p>
        </p:txBody>
      </p:sp>
      <p:sp>
        <p:nvSpPr>
          <p:cNvPr id="3" name="Content Placeholder 2"/>
          <p:cNvSpPr>
            <a:spLocks noGrp="1"/>
          </p:cNvSpPr>
          <p:nvPr>
            <p:ph idx="1"/>
          </p:nvPr>
        </p:nvSpPr>
        <p:spPr/>
        <p:txBody>
          <a:bodyPr/>
          <a:lstStyle/>
          <a:p>
            <a:pPr marL="514350" indent="-514350">
              <a:buFont typeface="+mj-lt"/>
              <a:buAutoNum type="arabicPeriod" startAt="2"/>
            </a:pPr>
            <a:r>
              <a:rPr lang="id-ID" dirty="0">
                <a:latin typeface="Comic Sans MS" panose="030F0702030302020204" pitchFamily="66" charset="0"/>
              </a:rPr>
              <a:t>purifikasi dapat dilakukan dengan </a:t>
            </a:r>
          </a:p>
          <a:p>
            <a:pPr marL="971550" lvl="1" indent="-514350">
              <a:lnSpc>
                <a:spcPct val="100000"/>
              </a:lnSpc>
              <a:spcBef>
                <a:spcPts val="0"/>
              </a:spcBef>
              <a:buFont typeface="+mj-lt"/>
              <a:buAutoNum type="alphaLcPeriod"/>
            </a:pPr>
            <a:r>
              <a:rPr lang="id-ID" dirty="0">
                <a:latin typeface="Comic Sans MS" panose="030F0702030302020204" pitchFamily="66" charset="0"/>
              </a:rPr>
              <a:t>offline ataupun </a:t>
            </a:r>
          </a:p>
          <a:p>
            <a:pPr marL="971550" lvl="1" indent="-514350">
              <a:lnSpc>
                <a:spcPct val="100000"/>
              </a:lnSpc>
              <a:spcBef>
                <a:spcPts val="0"/>
              </a:spcBef>
              <a:buFont typeface="+mj-lt"/>
              <a:buAutoNum type="alphaLcPeriod"/>
            </a:pPr>
            <a:r>
              <a:rPr lang="id-ID" dirty="0">
                <a:latin typeface="Comic Sans MS" panose="030F0702030302020204" pitchFamily="66" charset="0"/>
              </a:rPr>
              <a:t>online</a:t>
            </a:r>
          </a:p>
          <a:p>
            <a:pPr marL="514350" indent="-514350">
              <a:buFont typeface="+mj-lt"/>
              <a:buAutoNum type="arabicPeriod" startAt="2"/>
            </a:pPr>
            <a:r>
              <a:rPr lang="id-ID" dirty="0">
                <a:latin typeface="Comic Sans MS" panose="030F0702030302020204" pitchFamily="66" charset="0"/>
              </a:rPr>
              <a:t>mengapa harus </a:t>
            </a:r>
            <a:r>
              <a:rPr lang="id-ID" b="1" dirty="0">
                <a:solidFill>
                  <a:srgbClr val="00B050"/>
                </a:solidFill>
                <a:latin typeface="Comic Sans MS" panose="030F0702030302020204" pitchFamily="66" charset="0"/>
              </a:rPr>
              <a:t>offline</a:t>
            </a:r>
            <a:r>
              <a:rPr lang="id-ID" dirty="0">
                <a:latin typeface="Comic Sans MS" panose="030F0702030302020204" pitchFamily="66" charset="0"/>
              </a:rPr>
              <a:t> :</a:t>
            </a:r>
          </a:p>
          <a:p>
            <a:pPr marL="914400" lvl="1" indent="-457200">
              <a:lnSpc>
                <a:spcPct val="100000"/>
              </a:lnSpc>
              <a:spcBef>
                <a:spcPts val="0"/>
              </a:spcBef>
              <a:buFont typeface="+mj-lt"/>
              <a:buAutoNum type="alphaLcPeriod"/>
            </a:pPr>
            <a:r>
              <a:rPr lang="id-ID" dirty="0">
                <a:latin typeface="Comic Sans MS" panose="030F0702030302020204" pitchFamily="66" charset="0"/>
              </a:rPr>
              <a:t>transformator tidak mempunyai konservator.</a:t>
            </a:r>
          </a:p>
          <a:p>
            <a:pPr lvl="2">
              <a:lnSpc>
                <a:spcPct val="100000"/>
              </a:lnSpc>
              <a:spcBef>
                <a:spcPts val="0"/>
              </a:spcBef>
              <a:buFont typeface="Wingdings" panose="05000000000000000000" pitchFamily="2" charset="2"/>
              <a:buChar char="ü"/>
            </a:pPr>
            <a:r>
              <a:rPr lang="id-ID" b="1" i="1" dirty="0">
                <a:solidFill>
                  <a:srgbClr val="00B050"/>
                </a:solidFill>
                <a:latin typeface="Comic Sans MS" panose="030F0702030302020204" pitchFamily="66" charset="0"/>
              </a:rPr>
              <a:t>untuk menghindari terjadinya penurunan minyak didalam transformator. Karena kesulitan melihat level minyaknya</a:t>
            </a:r>
            <a:r>
              <a:rPr lang="id-ID" dirty="0">
                <a:latin typeface="Comic Sans MS" panose="030F0702030302020204" pitchFamily="66" charset="0"/>
              </a:rPr>
              <a:t>.</a:t>
            </a:r>
          </a:p>
          <a:p>
            <a:pPr marL="914400" lvl="1" indent="-457200">
              <a:lnSpc>
                <a:spcPct val="100000"/>
              </a:lnSpc>
              <a:spcBef>
                <a:spcPts val="0"/>
              </a:spcBef>
              <a:buFont typeface="+mj-lt"/>
              <a:buAutoNum type="alphaLcPeriod"/>
            </a:pPr>
            <a:r>
              <a:rPr lang="id-ID" dirty="0">
                <a:latin typeface="Comic Sans MS" panose="030F0702030302020204" pitchFamily="66" charset="0"/>
              </a:rPr>
              <a:t>sesuai petunjuk PT PLN Pusat, bila moisture diatas 40 ppm.</a:t>
            </a:r>
          </a:p>
          <a:p>
            <a:pPr marL="914400" lvl="1" indent="-457200">
              <a:lnSpc>
                <a:spcPct val="100000"/>
              </a:lnSpc>
              <a:spcBef>
                <a:spcPts val="0"/>
              </a:spcBef>
              <a:buFont typeface="+mj-lt"/>
              <a:buAutoNum type="alphaLcPeriod"/>
            </a:pPr>
            <a:r>
              <a:rPr lang="id-ID" dirty="0">
                <a:latin typeface="Comic Sans MS" panose="030F0702030302020204" pitchFamily="66" charset="0"/>
              </a:rPr>
              <a:t>bilamana alat purifikasi tak punya “air trap &amp; blocking valve”.</a:t>
            </a:r>
          </a:p>
          <a:p>
            <a:pPr lvl="2">
              <a:lnSpc>
                <a:spcPct val="100000"/>
              </a:lnSpc>
              <a:spcBef>
                <a:spcPts val="0"/>
              </a:spcBef>
              <a:buFont typeface="Wingdings" panose="05000000000000000000" pitchFamily="2" charset="2"/>
              <a:buChar char="ü"/>
            </a:pPr>
            <a:r>
              <a:rPr lang="id-ID" b="1" i="1" dirty="0">
                <a:solidFill>
                  <a:srgbClr val="00B050"/>
                </a:solidFill>
                <a:latin typeface="Comic Sans MS" panose="030F0702030302020204" pitchFamily="66" charset="0"/>
              </a:rPr>
              <a:t>n</a:t>
            </a:r>
            <a:r>
              <a:rPr lang="en-US" b="1" i="1" dirty="0" err="1">
                <a:solidFill>
                  <a:srgbClr val="00B050"/>
                </a:solidFill>
                <a:latin typeface="Comic Sans MS" panose="030F0702030302020204" pitchFamily="66" charset="0"/>
              </a:rPr>
              <a:t>ote</a:t>
            </a:r>
            <a:r>
              <a:rPr lang="en-US" b="1" i="1" dirty="0">
                <a:solidFill>
                  <a:srgbClr val="00B050"/>
                </a:solidFill>
                <a:latin typeface="Comic Sans MS" panose="030F0702030302020204" pitchFamily="66" charset="0"/>
              </a:rPr>
              <a:t>: </a:t>
            </a:r>
            <a:r>
              <a:rPr lang="id-ID" b="1" i="1" dirty="0">
                <a:solidFill>
                  <a:srgbClr val="00B050"/>
                </a:solidFill>
                <a:latin typeface="Comic Sans MS" panose="030F0702030302020204" pitchFamily="66" charset="0"/>
              </a:rPr>
              <a:t>e</a:t>
            </a:r>
            <a:r>
              <a:rPr lang="en-US" b="1" i="1" dirty="0" err="1">
                <a:solidFill>
                  <a:srgbClr val="00B050"/>
                </a:solidFill>
                <a:latin typeface="Comic Sans MS" panose="030F0702030302020204" pitchFamily="66" charset="0"/>
              </a:rPr>
              <a:t>nergisied</a:t>
            </a:r>
            <a:r>
              <a:rPr lang="en-US" b="1" i="1" dirty="0">
                <a:solidFill>
                  <a:srgbClr val="00B050"/>
                </a:solidFill>
                <a:latin typeface="Comic Sans MS" panose="030F0702030302020204" pitchFamily="66" charset="0"/>
              </a:rPr>
              <a:t> purification should not be attempted on an oil that contains water in excess of 50 ppm</a:t>
            </a:r>
            <a:r>
              <a:rPr lang="id-ID" b="1" i="1" dirty="0">
                <a:solidFill>
                  <a:srgbClr val="00B050"/>
                </a:solidFill>
                <a:latin typeface="Comic Sans MS" panose="030F0702030302020204" pitchFamily="66" charset="0"/>
              </a:rPr>
              <a:t> </a:t>
            </a:r>
            <a:r>
              <a:rPr lang="en-US" b="1" i="1" dirty="0">
                <a:solidFill>
                  <a:srgbClr val="00B050"/>
                </a:solidFill>
                <a:latin typeface="Comic Sans MS" panose="030F0702030302020204" pitchFamily="66" charset="0"/>
              </a:rPr>
              <a:t>and an </a:t>
            </a:r>
            <a:r>
              <a:rPr lang="id-ID" b="1" i="1" dirty="0">
                <a:solidFill>
                  <a:srgbClr val="00B050"/>
                </a:solidFill>
                <a:latin typeface="Comic Sans MS" panose="030F0702030302020204" pitchFamily="66" charset="0"/>
              </a:rPr>
              <a:t>die</a:t>
            </a:r>
            <a:r>
              <a:rPr lang="en-US" b="1" i="1" dirty="0" err="1">
                <a:solidFill>
                  <a:srgbClr val="00B050"/>
                </a:solidFill>
                <a:latin typeface="Comic Sans MS" panose="030F0702030302020204" pitchFamily="66" charset="0"/>
              </a:rPr>
              <a:t>lectric</a:t>
            </a:r>
            <a:r>
              <a:rPr lang="en-US" b="1" i="1" dirty="0">
                <a:solidFill>
                  <a:srgbClr val="00B050"/>
                </a:solidFill>
                <a:latin typeface="Comic Sans MS" panose="030F0702030302020204" pitchFamily="66" charset="0"/>
              </a:rPr>
              <a:t> </a:t>
            </a:r>
            <a:r>
              <a:rPr lang="id-ID" b="1" i="1" dirty="0">
                <a:solidFill>
                  <a:srgbClr val="00B050"/>
                </a:solidFill>
                <a:latin typeface="Comic Sans MS" panose="030F0702030302020204" pitchFamily="66" charset="0"/>
              </a:rPr>
              <a:t>s</a:t>
            </a:r>
            <a:r>
              <a:rPr lang="en-US" b="1" i="1" dirty="0" err="1">
                <a:solidFill>
                  <a:srgbClr val="00B050"/>
                </a:solidFill>
                <a:latin typeface="Comic Sans MS" panose="030F0702030302020204" pitchFamily="66" charset="0"/>
              </a:rPr>
              <a:t>trength</a:t>
            </a:r>
            <a:r>
              <a:rPr lang="en-US" b="1" i="1" dirty="0">
                <a:solidFill>
                  <a:srgbClr val="00B050"/>
                </a:solidFill>
                <a:latin typeface="Comic Sans MS" panose="030F0702030302020204" pitchFamily="66" charset="0"/>
              </a:rPr>
              <a:t> of less than 24 kV. </a:t>
            </a:r>
            <a:endParaRPr lang="id-ID" i="1" dirty="0">
              <a:solidFill>
                <a:srgbClr val="00B050"/>
              </a:solidFill>
              <a:latin typeface="Comic Sans MS" panose="030F0702030302020204" pitchFamily="66" charset="0"/>
            </a:endParaRPr>
          </a:p>
          <a:p>
            <a:endParaRPr lang="id-ID" dirty="0"/>
          </a:p>
        </p:txBody>
      </p:sp>
    </p:spTree>
    <p:extLst>
      <p:ext uri="{BB962C8B-B14F-4D97-AF65-F5344CB8AC3E}">
        <p14:creationId xmlns:p14="http://schemas.microsoft.com/office/powerpoint/2010/main" val="2114393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b="1" dirty="0">
                <a:latin typeface="Comic Sans MS" panose="030F0702030302020204" pitchFamily="66" charset="0"/>
              </a:rPr>
              <a:t>tatacara purifikasi</a:t>
            </a:r>
            <a:endParaRPr lang="id-ID" sz="3600" b="1" dirty="0"/>
          </a:p>
        </p:txBody>
      </p:sp>
      <p:sp>
        <p:nvSpPr>
          <p:cNvPr id="3" name="Content Placeholder 2"/>
          <p:cNvSpPr>
            <a:spLocks noGrp="1"/>
          </p:cNvSpPr>
          <p:nvPr>
            <p:ph idx="1"/>
          </p:nvPr>
        </p:nvSpPr>
        <p:spPr>
          <a:xfrm>
            <a:off x="838200" y="1400622"/>
            <a:ext cx="10515600" cy="4910026"/>
          </a:xfrm>
        </p:spPr>
        <p:txBody>
          <a:bodyPr>
            <a:normAutofit fontScale="92500"/>
          </a:bodyPr>
          <a:lstStyle/>
          <a:p>
            <a:pPr marL="514350" indent="-514350">
              <a:buFont typeface="+mj-lt"/>
              <a:buAutoNum type="arabicPeriod" startAt="4"/>
            </a:pPr>
            <a:r>
              <a:rPr lang="id-ID" sz="3000" dirty="0">
                <a:latin typeface="Comic Sans MS" panose="030F0702030302020204" pitchFamily="66" charset="0"/>
              </a:rPr>
              <a:t>mengapa bisa </a:t>
            </a:r>
            <a:r>
              <a:rPr lang="id-ID" sz="3000" b="1" dirty="0">
                <a:solidFill>
                  <a:srgbClr val="00B050"/>
                </a:solidFill>
                <a:latin typeface="Comic Sans MS" panose="030F0702030302020204" pitchFamily="66" charset="0"/>
              </a:rPr>
              <a:t>online</a:t>
            </a:r>
            <a:r>
              <a:rPr lang="id-ID" sz="3000" dirty="0">
                <a:latin typeface="Comic Sans MS" panose="030F0702030302020204" pitchFamily="66" charset="0"/>
              </a:rPr>
              <a:t>, ada beberapa keuntungan kalau dilakukan pada saat beroperasi/berbeban :</a:t>
            </a:r>
          </a:p>
          <a:p>
            <a:pPr marL="914400" lvl="1" indent="-457200" algn="just">
              <a:buFont typeface="+mj-lt"/>
              <a:buAutoNum type="alphaLcPeriod"/>
            </a:pPr>
            <a:r>
              <a:rPr lang="id-ID" dirty="0">
                <a:latin typeface="Comic Sans MS" panose="030F0702030302020204" pitchFamily="66" charset="0"/>
              </a:rPr>
              <a:t>lilitan transformator sudah panas, sehingga moisture didalam lilitan cenderung mengalir ke minyak (hingga jenuh)</a:t>
            </a:r>
          </a:p>
          <a:p>
            <a:pPr marL="914400" lvl="1" indent="-457200" algn="just">
              <a:buFont typeface="+mj-lt"/>
              <a:buAutoNum type="alphaLcPeriod"/>
            </a:pPr>
            <a:r>
              <a:rPr lang="id-ID" dirty="0">
                <a:latin typeface="Comic Sans MS" panose="030F0702030302020204" pitchFamily="66" charset="0"/>
              </a:rPr>
              <a:t>lilitan transformator bergetar, sehingga aliran minyak bisa melewati celah2 lilitan</a:t>
            </a:r>
          </a:p>
          <a:p>
            <a:pPr marL="914400" lvl="1" indent="-457200" algn="just">
              <a:buFont typeface="+mj-lt"/>
              <a:buAutoNum type="alphaLcPeriod"/>
            </a:pPr>
            <a:r>
              <a:rPr lang="id-ID" dirty="0">
                <a:latin typeface="Comic Sans MS" panose="030F0702030302020204" pitchFamily="66" charset="0"/>
              </a:rPr>
              <a:t>pada saat semua “panas” (lilitan maupun minyak) “sludge” (moisture, kotoran dll) akan mudah terkikis dan atau terbawa aliran minyak.</a:t>
            </a:r>
          </a:p>
          <a:p>
            <a:pPr marL="914400" lvl="1" indent="-457200" algn="just">
              <a:buFont typeface="+mj-lt"/>
              <a:buAutoNum type="alphaLcPeriod"/>
            </a:pPr>
            <a:r>
              <a:rPr lang="id-ID" dirty="0">
                <a:latin typeface="Comic Sans MS" panose="030F0702030302020204" pitchFamily="66" charset="0"/>
              </a:rPr>
              <a:t>alat purifikasi harus punya “air trap &amp; blocking valve”. </a:t>
            </a:r>
          </a:p>
          <a:p>
            <a:pPr lvl="2" algn="just">
              <a:buFont typeface="Wingdings" panose="05000000000000000000" pitchFamily="2" charset="2"/>
              <a:buChar char="Ø"/>
            </a:pPr>
            <a:r>
              <a:rPr lang="id-ID" sz="2200" dirty="0">
                <a:latin typeface="Comic Sans MS" panose="030F0702030302020204" pitchFamily="66" charset="0"/>
              </a:rPr>
              <a:t> sehingga bila ada “gelembung”, gelembung tersebut tak masuk ke dalam</a:t>
            </a:r>
            <a:r>
              <a:rPr lang="en-US" sz="2200" dirty="0">
                <a:latin typeface="Comic Sans MS" panose="030F0702030302020204" pitchFamily="66" charset="0"/>
              </a:rPr>
              <a:t> </a:t>
            </a:r>
            <a:r>
              <a:rPr lang="id-ID" sz="2200" dirty="0">
                <a:latin typeface="Comic Sans MS" panose="030F0702030302020204" pitchFamily="66" charset="0"/>
              </a:rPr>
              <a:t>    </a:t>
            </a:r>
            <a:r>
              <a:rPr lang="en-US" sz="2200" dirty="0">
                <a:latin typeface="Comic Sans MS" panose="030F0702030302020204" pitchFamily="66" charset="0"/>
              </a:rPr>
              <a:t>   </a:t>
            </a:r>
            <a:r>
              <a:rPr lang="id-ID" sz="2200" dirty="0">
                <a:latin typeface="Comic Sans MS" panose="030F0702030302020204" pitchFamily="66" charset="0"/>
              </a:rPr>
              <a:t>transformator (kemungkinan melekat pada isolasi kertas).</a:t>
            </a:r>
          </a:p>
          <a:p>
            <a:pPr lvl="2" algn="just">
              <a:buFont typeface="Wingdings" panose="05000000000000000000" pitchFamily="2" charset="2"/>
              <a:buChar char="Ø"/>
            </a:pPr>
            <a:r>
              <a:rPr lang="id-ID" sz="2200" dirty="0">
                <a:latin typeface="Comic Sans MS" panose="030F0702030302020204" pitchFamily="66" charset="0"/>
              </a:rPr>
              <a:t> bila ada slang yang “bocor” antara transformator dan unit purifikasi, blocking</a:t>
            </a:r>
          </a:p>
          <a:p>
            <a:pPr marL="914400" lvl="2" indent="0" algn="just">
              <a:buNone/>
            </a:pPr>
            <a:r>
              <a:rPr lang="id-ID" sz="2200" dirty="0">
                <a:latin typeface="Comic Sans MS" panose="030F0702030302020204" pitchFamily="66" charset="0"/>
              </a:rPr>
              <a:t>    valve bisa memblok aliran minyak dan minyak dalam transformator tidak</a:t>
            </a:r>
            <a:r>
              <a:rPr lang="en-US" sz="2200" dirty="0">
                <a:latin typeface="Comic Sans MS" panose="030F0702030302020204" pitchFamily="66" charset="0"/>
              </a:rPr>
              <a:t> </a:t>
            </a:r>
            <a:r>
              <a:rPr lang="id-ID" sz="2200" dirty="0">
                <a:latin typeface="Comic Sans MS" panose="030F0702030302020204" pitchFamily="66" charset="0"/>
              </a:rPr>
              <a:t>    </a:t>
            </a:r>
            <a:r>
              <a:rPr lang="en-US" sz="2200" dirty="0">
                <a:latin typeface="Comic Sans MS" panose="030F0702030302020204" pitchFamily="66" charset="0"/>
              </a:rPr>
              <a:t> </a:t>
            </a:r>
            <a:r>
              <a:rPr lang="id-ID" sz="2200" dirty="0">
                <a:latin typeface="Comic Sans MS" panose="030F0702030302020204" pitchFamily="66" charset="0"/>
              </a:rPr>
              <a:t>berkurang.</a:t>
            </a:r>
          </a:p>
        </p:txBody>
      </p:sp>
    </p:spTree>
    <p:extLst>
      <p:ext uri="{BB962C8B-B14F-4D97-AF65-F5344CB8AC3E}">
        <p14:creationId xmlns:p14="http://schemas.microsoft.com/office/powerpoint/2010/main" val="2475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id-ID" b="1" dirty="0">
                <a:latin typeface="Comic Sans MS" panose="030F0702030302020204" pitchFamily="66" charset="0"/>
              </a:rPr>
              <a:t>tatacara purifikasi</a:t>
            </a:r>
            <a:endParaRPr lang="id-ID" dirty="0"/>
          </a:p>
        </p:txBody>
      </p:sp>
      <p:sp>
        <p:nvSpPr>
          <p:cNvPr id="3" name="Content Placeholder 2"/>
          <p:cNvSpPr>
            <a:spLocks noGrp="1"/>
          </p:cNvSpPr>
          <p:nvPr>
            <p:ph idx="1"/>
          </p:nvPr>
        </p:nvSpPr>
        <p:spPr>
          <a:xfrm>
            <a:off x="913615" y="1391992"/>
            <a:ext cx="10515600" cy="4351338"/>
          </a:xfrm>
        </p:spPr>
        <p:txBody>
          <a:bodyPr>
            <a:normAutofit fontScale="92500" lnSpcReduction="10000"/>
          </a:bodyPr>
          <a:lstStyle/>
          <a:p>
            <a:pPr marL="514350" indent="-514350">
              <a:buFont typeface="+mj-lt"/>
              <a:buAutoNum type="arabicPeriod" startAt="5"/>
            </a:pPr>
            <a:r>
              <a:rPr lang="id-ID" dirty="0">
                <a:latin typeface="Comic Sans MS" panose="030F0702030302020204" pitchFamily="66" charset="0"/>
              </a:rPr>
              <a:t>bagaimana seharusnya aliran saat purifikasi ?</a:t>
            </a:r>
          </a:p>
          <a:p>
            <a:pPr marL="971550" lvl="1" indent="-514350" algn="just">
              <a:buFont typeface="+mj-lt"/>
              <a:buAutoNum type="alphaLcPeriod"/>
            </a:pPr>
            <a:r>
              <a:rPr lang="id-ID" dirty="0">
                <a:latin typeface="Comic Sans MS" panose="030F0702030302020204" pitchFamily="66" charset="0"/>
              </a:rPr>
              <a:t>aliran minyak didalam transformator </a:t>
            </a:r>
            <a:r>
              <a:rPr lang="id-ID" b="1" dirty="0">
                <a:solidFill>
                  <a:srgbClr val="0070C0"/>
                </a:solidFill>
                <a:latin typeface="Comic Sans MS" panose="030F0702030302020204" pitchFamily="66" charset="0"/>
              </a:rPr>
              <a:t>harus sesuai</a:t>
            </a:r>
            <a:r>
              <a:rPr lang="id-ID" dirty="0">
                <a:latin typeface="Comic Sans MS" panose="030F0702030302020204" pitchFamily="66" charset="0"/>
              </a:rPr>
              <a:t> dengan aliran minyak saat operasi.  Ini untuk mencegah terjadinya arus turbulensi (karena “tabrakan” aliran minyak) didalam transformator.</a:t>
            </a:r>
          </a:p>
          <a:p>
            <a:pPr marL="971550" lvl="1" indent="-514350" algn="just">
              <a:buFont typeface="+mj-lt"/>
              <a:buAutoNum type="alphaLcPeriod"/>
            </a:pPr>
            <a:r>
              <a:rPr lang="id-ID" dirty="0">
                <a:latin typeface="Comic Sans MS" panose="030F0702030302020204" pitchFamily="66" charset="0"/>
              </a:rPr>
              <a:t>minyak yang panas dari unit purifikasi akan bertemu dengan minyak panas dari transformator, sehingga </a:t>
            </a:r>
            <a:r>
              <a:rPr lang="id-ID" b="1" dirty="0">
                <a:solidFill>
                  <a:srgbClr val="0070C0"/>
                </a:solidFill>
                <a:latin typeface="Comic Sans MS" panose="030F0702030302020204" pitchFamily="66" charset="0"/>
              </a:rPr>
              <a:t>tak terjadi  “gelembung2” </a:t>
            </a:r>
            <a:r>
              <a:rPr lang="id-ID" dirty="0">
                <a:latin typeface="Comic Sans MS" panose="030F0702030302020204" pitchFamily="66" charset="0"/>
              </a:rPr>
              <a:t>didalam minyak saat “panas ketemu panas”.</a:t>
            </a:r>
            <a:endParaRPr lang="en-US" dirty="0">
              <a:latin typeface="Comic Sans MS" panose="030F0702030302020204" pitchFamily="66" charset="0"/>
            </a:endParaRPr>
          </a:p>
          <a:p>
            <a:pPr marL="971550" lvl="1" indent="-514350" algn="just">
              <a:buFont typeface="+mj-lt"/>
              <a:buAutoNum type="alphaLcPeriod"/>
            </a:pPr>
            <a:r>
              <a:rPr lang="en-US" dirty="0">
                <a:latin typeface="Comic Sans MS" panose="030F0702030302020204" pitchFamily="66" charset="0"/>
              </a:rPr>
              <a:t>Karena </a:t>
            </a:r>
            <a:r>
              <a:rPr lang="en-US" dirty="0" err="1">
                <a:latin typeface="Comic Sans MS" panose="030F0702030302020204" pitchFamily="66" charset="0"/>
              </a:rPr>
              <a:t>tujuannya</a:t>
            </a:r>
            <a:r>
              <a:rPr lang="en-US" dirty="0">
                <a:latin typeface="Comic Sans MS" panose="030F0702030302020204" pitchFamily="66" charset="0"/>
              </a:rPr>
              <a:t> </a:t>
            </a:r>
            <a:r>
              <a:rPr lang="en-US" dirty="0" err="1">
                <a:latin typeface="Comic Sans MS" panose="030F0702030302020204" pitchFamily="66" charset="0"/>
              </a:rPr>
              <a:t>mengeluarkan</a:t>
            </a:r>
            <a:r>
              <a:rPr lang="en-US" dirty="0">
                <a:latin typeface="Comic Sans MS" panose="030F0702030302020204" pitchFamily="66" charset="0"/>
              </a:rPr>
              <a:t> moisture </a:t>
            </a:r>
            <a:r>
              <a:rPr lang="en-US" dirty="0" err="1">
                <a:latin typeface="Comic Sans MS" panose="030F0702030302020204" pitchFamily="66" charset="0"/>
              </a:rPr>
              <a:t>dari</a:t>
            </a:r>
            <a:r>
              <a:rPr lang="en-US" dirty="0">
                <a:latin typeface="Comic Sans MS" panose="030F0702030302020204" pitchFamily="66" charset="0"/>
              </a:rPr>
              <a:t> </a:t>
            </a:r>
            <a:r>
              <a:rPr lang="en-US" dirty="0" err="1">
                <a:latin typeface="Comic Sans MS" panose="030F0702030302020204" pitchFamily="66" charset="0"/>
              </a:rPr>
              <a:t>isolasi</a:t>
            </a:r>
            <a:r>
              <a:rPr lang="en-US" dirty="0">
                <a:latin typeface="Comic Sans MS" panose="030F0702030302020204" pitchFamily="66" charset="0"/>
              </a:rPr>
              <a:t>, </a:t>
            </a:r>
            <a:r>
              <a:rPr lang="en-US" dirty="0" err="1">
                <a:latin typeface="Comic Sans MS" panose="030F0702030302020204" pitchFamily="66" charset="0"/>
              </a:rPr>
              <a:t>maka</a:t>
            </a:r>
            <a:r>
              <a:rPr lang="en-US" dirty="0">
                <a:latin typeface="Comic Sans MS" panose="030F0702030302020204" pitchFamily="66" charset="0"/>
              </a:rPr>
              <a:t> </a:t>
            </a:r>
            <a:r>
              <a:rPr lang="en-US" dirty="0" err="1">
                <a:latin typeface="Comic Sans MS" panose="030F0702030302020204" pitchFamily="66" charset="0"/>
              </a:rPr>
              <a:t>panas</a:t>
            </a:r>
            <a:r>
              <a:rPr lang="en-US" dirty="0">
                <a:latin typeface="Comic Sans MS" panose="030F0702030302020204" pitchFamily="66" charset="0"/>
              </a:rPr>
              <a:t>/</a:t>
            </a:r>
            <a:r>
              <a:rPr lang="en-US" dirty="0" err="1">
                <a:latin typeface="Comic Sans MS" panose="030F0702030302020204" pitchFamily="66" charset="0"/>
              </a:rPr>
              <a:t>suhu</a:t>
            </a:r>
            <a:r>
              <a:rPr lang="en-US" dirty="0">
                <a:latin typeface="Comic Sans MS" panose="030F0702030302020204" pitchFamily="66" charset="0"/>
              </a:rPr>
              <a:t> </a:t>
            </a:r>
            <a:r>
              <a:rPr lang="en-US" dirty="0" err="1">
                <a:latin typeface="Comic Sans MS" panose="030F0702030302020204" pitchFamily="66" charset="0"/>
              </a:rPr>
              <a:t>minyak</a:t>
            </a:r>
            <a:r>
              <a:rPr lang="en-US" dirty="0">
                <a:latin typeface="Comic Sans MS" panose="030F0702030302020204" pitchFamily="66" charset="0"/>
              </a:rPr>
              <a:t> yang </a:t>
            </a:r>
            <a:r>
              <a:rPr lang="en-US" dirty="0" err="1">
                <a:latin typeface="Comic Sans MS" panose="030F0702030302020204" pitchFamily="66" charset="0"/>
              </a:rPr>
              <a:t>masuk</a:t>
            </a:r>
            <a:r>
              <a:rPr lang="en-US" dirty="0">
                <a:latin typeface="Comic Sans MS" panose="030F0702030302020204" pitchFamily="66" charset="0"/>
              </a:rPr>
              <a:t> </a:t>
            </a:r>
            <a:r>
              <a:rPr lang="en-US" dirty="0" err="1">
                <a:latin typeface="Comic Sans MS" panose="030F0702030302020204" pitchFamily="66" charset="0"/>
              </a:rPr>
              <a:t>ke</a:t>
            </a:r>
            <a:r>
              <a:rPr lang="en-US" dirty="0">
                <a:latin typeface="Comic Sans MS" panose="030F0702030302020204" pitchFamily="66" charset="0"/>
              </a:rPr>
              <a:t> </a:t>
            </a:r>
            <a:r>
              <a:rPr lang="en-US" dirty="0" err="1">
                <a:latin typeface="Comic Sans MS" panose="030F0702030302020204" pitchFamily="66" charset="0"/>
              </a:rPr>
              <a:t>transformator</a:t>
            </a:r>
            <a:r>
              <a:rPr lang="en-US" dirty="0">
                <a:latin typeface="Comic Sans MS" panose="030F0702030302020204" pitchFamily="66" charset="0"/>
              </a:rPr>
              <a:t> </a:t>
            </a:r>
            <a:r>
              <a:rPr lang="en-US" dirty="0" err="1">
                <a:latin typeface="Comic Sans MS" panose="030F0702030302020204" pitchFamily="66" charset="0"/>
              </a:rPr>
              <a:t>haruslah</a:t>
            </a:r>
            <a:r>
              <a:rPr lang="en-US" dirty="0">
                <a:latin typeface="Comic Sans MS" panose="030F0702030302020204" pitchFamily="66" charset="0"/>
              </a:rPr>
              <a:t> </a:t>
            </a:r>
            <a:r>
              <a:rPr lang="en-US" dirty="0" err="1">
                <a:latin typeface="Comic Sans MS" panose="030F0702030302020204" pitchFamily="66" charset="0"/>
              </a:rPr>
              <a:t>cukup</a:t>
            </a:r>
            <a:r>
              <a:rPr lang="en-US" dirty="0">
                <a:latin typeface="Comic Sans MS" panose="030F0702030302020204" pitchFamily="66" charset="0"/>
              </a:rPr>
              <a:t> </a:t>
            </a:r>
            <a:r>
              <a:rPr lang="en-US" dirty="0" err="1">
                <a:latin typeface="Comic Sans MS" panose="030F0702030302020204" pitchFamily="66" charset="0"/>
              </a:rPr>
              <a:t>panas</a:t>
            </a:r>
            <a:r>
              <a:rPr lang="en-US" dirty="0">
                <a:latin typeface="Comic Sans MS" panose="030F0702030302020204" pitchFamily="66" charset="0"/>
              </a:rPr>
              <a:t>. </a:t>
            </a:r>
            <a:r>
              <a:rPr lang="en-US" dirty="0" err="1">
                <a:latin typeface="Comic Sans MS" panose="030F0702030302020204" pitchFamily="66" charset="0"/>
              </a:rPr>
              <a:t>Sekitar</a:t>
            </a:r>
            <a:r>
              <a:rPr lang="en-US" dirty="0">
                <a:latin typeface="Comic Sans MS" panose="030F0702030302020204" pitchFamily="66" charset="0"/>
              </a:rPr>
              <a:t> 60</a:t>
            </a:r>
            <a:r>
              <a:rPr lang="en-US" baseline="30000" dirty="0">
                <a:latin typeface="Comic Sans MS" panose="030F0702030302020204" pitchFamily="66" charset="0"/>
              </a:rPr>
              <a:t>0</a:t>
            </a:r>
            <a:r>
              <a:rPr lang="en-US" dirty="0">
                <a:latin typeface="Comic Sans MS" panose="030F0702030302020204" pitchFamily="66" charset="0"/>
              </a:rPr>
              <a:t>C – 80</a:t>
            </a:r>
            <a:r>
              <a:rPr lang="en-US" baseline="30000" dirty="0">
                <a:latin typeface="Comic Sans MS" panose="030F0702030302020204" pitchFamily="66" charset="0"/>
              </a:rPr>
              <a:t>0</a:t>
            </a:r>
            <a:r>
              <a:rPr lang="en-US" dirty="0">
                <a:latin typeface="Comic Sans MS" panose="030F0702030302020204" pitchFamily="66" charset="0"/>
              </a:rPr>
              <a:t>C</a:t>
            </a:r>
            <a:endParaRPr lang="id-ID" dirty="0">
              <a:latin typeface="Comic Sans MS" panose="030F0702030302020204" pitchFamily="66" charset="0"/>
            </a:endParaRPr>
          </a:p>
          <a:p>
            <a:pPr marL="971550" lvl="1" indent="-514350" algn="just">
              <a:buFont typeface="+mj-lt"/>
              <a:buAutoNum type="alphaLcPeriod"/>
            </a:pPr>
            <a:r>
              <a:rPr lang="id-ID" dirty="0">
                <a:latin typeface="Comic Sans MS" panose="030F0702030302020204" pitchFamily="66" charset="0"/>
              </a:rPr>
              <a:t>sebaiknya minyak “hasil” purifikasi masuk ke konservator, sehingga minyak dalam konservator juga ikut “bersih”.</a:t>
            </a:r>
          </a:p>
          <a:p>
            <a:pPr marL="971550" lvl="1" indent="-514350" algn="just">
              <a:buFont typeface="+mj-lt"/>
              <a:buAutoNum type="alphaLcPeriod"/>
            </a:pPr>
            <a:r>
              <a:rPr lang="id-ID" dirty="0">
                <a:latin typeface="Comic Sans MS" panose="030F0702030302020204" pitchFamily="66" charset="0"/>
              </a:rPr>
              <a:t>schema aliran seperti terlihat dalam gambar dibawah ini.</a:t>
            </a:r>
          </a:p>
          <a:p>
            <a:pPr marL="971550" lvl="1" indent="-514350" algn="just">
              <a:buFont typeface="+mj-lt"/>
              <a:buAutoNum type="alphaLcPeriod"/>
            </a:pPr>
            <a:endParaRPr lang="id-ID" dirty="0">
              <a:latin typeface="Comic Sans MS" panose="030F0702030302020204" pitchFamily="66" charset="0"/>
            </a:endParaRPr>
          </a:p>
        </p:txBody>
      </p:sp>
    </p:spTree>
    <p:extLst>
      <p:ext uri="{BB962C8B-B14F-4D97-AF65-F5344CB8AC3E}">
        <p14:creationId xmlns:p14="http://schemas.microsoft.com/office/powerpoint/2010/main" val="3782383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6"/>
            <a:ext cx="12191999" cy="1064430"/>
          </a:xfrm>
        </p:spPr>
        <p:txBody>
          <a:bodyPr>
            <a:noAutofit/>
          </a:bodyPr>
          <a:lstStyle/>
          <a:p>
            <a:pPr algn="ctr"/>
            <a:r>
              <a:rPr lang="id-ID" sz="4000" b="1" dirty="0">
                <a:latin typeface="Comic Sans MS" panose="030F0702030302020204" pitchFamily="66" charset="0"/>
              </a:rPr>
              <a:t>gambaran aliran minyak dalam transformator </a:t>
            </a:r>
            <a:br>
              <a:rPr lang="id-ID" sz="4000" b="1" dirty="0">
                <a:latin typeface="Comic Sans MS" panose="030F0702030302020204" pitchFamily="66" charset="0"/>
              </a:rPr>
            </a:br>
            <a:r>
              <a:rPr lang="id-ID" sz="4000" b="1" dirty="0">
                <a:latin typeface="Comic Sans MS" panose="030F0702030302020204" pitchFamily="66" charset="0"/>
              </a:rPr>
              <a:t>saat operasi maupun purifikasi</a:t>
            </a:r>
            <a:endParaRPr lang="id-ID" sz="4000" b="1" dirty="0"/>
          </a:p>
        </p:txBody>
      </p:sp>
      <p:pic>
        <p:nvPicPr>
          <p:cNvPr id="4" name="Content Placeholder 3" descr="oil flow.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3043" y="1513208"/>
            <a:ext cx="8706118" cy="5352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6460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b="1" dirty="0">
                <a:latin typeface="Comic Sans MS" panose="030F0702030302020204" pitchFamily="66" charset="0"/>
              </a:rPr>
              <a:t>contoh hubungan purifikasi</a:t>
            </a:r>
            <a:endParaRPr lang="id-ID" sz="3600" b="1" dirty="0"/>
          </a:p>
        </p:txBody>
      </p:sp>
      <p:pic>
        <p:nvPicPr>
          <p:cNvPr id="4" name="Content Placeholder 3" descr="C:\Users\Soetjahjono\AppData\Local\Temp\TOR to Transformer with Airbag.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5556" y="1825625"/>
            <a:ext cx="8180888"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5433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sz="3600" b="1" dirty="0">
                <a:latin typeface="Comic Sans MS" panose="030F0702030302020204" pitchFamily="66" charset="0"/>
              </a:rPr>
              <a:t>contoh hubungan purifikasi</a:t>
            </a:r>
            <a:endParaRPr lang="id-ID" sz="3600" b="1" dirty="0"/>
          </a:p>
        </p:txBody>
      </p:sp>
      <p:pic>
        <p:nvPicPr>
          <p:cNvPr id="6" name="Picture 3" descr="C:\Users\Soetjahjono\AppData\Local\Temp\TOR to Transformer wo Airbag.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5556" y="1825625"/>
            <a:ext cx="8180888"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0324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5546" y="1"/>
            <a:ext cx="10458254" cy="1112362"/>
          </a:xfrm>
        </p:spPr>
        <p:txBody>
          <a:bodyPr/>
          <a:lstStyle/>
          <a:p>
            <a:pPr algn="ctr"/>
            <a:r>
              <a:rPr lang="id-ID" b="1" dirty="0">
                <a:latin typeface="Comic Sans MS" panose="030F0702030302020204" pitchFamily="66" charset="0"/>
              </a:rPr>
              <a:t>tatacara pelaksanaan purifikasi</a:t>
            </a:r>
          </a:p>
        </p:txBody>
      </p:sp>
      <p:sp>
        <p:nvSpPr>
          <p:cNvPr id="3" name="Content Placeholder 2"/>
          <p:cNvSpPr>
            <a:spLocks noGrp="1"/>
          </p:cNvSpPr>
          <p:nvPr>
            <p:ph idx="1"/>
          </p:nvPr>
        </p:nvSpPr>
        <p:spPr>
          <a:xfrm>
            <a:off x="541681" y="1112363"/>
            <a:ext cx="11165983" cy="5415565"/>
          </a:xfrm>
        </p:spPr>
        <p:txBody>
          <a:bodyPr>
            <a:normAutofit fontScale="92500"/>
          </a:bodyPr>
          <a:lstStyle/>
          <a:p>
            <a:pPr marL="0" indent="0" algn="just">
              <a:buNone/>
            </a:pPr>
            <a:r>
              <a:rPr lang="id-ID" dirty="0">
                <a:latin typeface="Comic Sans MS" panose="030F0702030302020204" pitchFamily="66" charset="0"/>
              </a:rPr>
              <a:t>sebelum memulai pekerjaan periksa semua kondisi unit purifikasi harus dalam kondisi siap operasi </a:t>
            </a:r>
            <a:r>
              <a:rPr lang="id-ID" sz="3600" dirty="0">
                <a:latin typeface="Comic Sans MS" panose="030F0702030302020204" pitchFamily="66" charset="0"/>
              </a:rPr>
              <a:t>:</a:t>
            </a:r>
          </a:p>
          <a:p>
            <a:pPr>
              <a:buFont typeface="Wingdings" panose="05000000000000000000" pitchFamily="2" charset="2"/>
              <a:buChar char="Ø"/>
            </a:pPr>
            <a:r>
              <a:rPr lang="id-ID" sz="3600" b="1" dirty="0">
                <a:solidFill>
                  <a:srgbClr val="0070C0"/>
                </a:solidFill>
                <a:latin typeface="Comic Sans MS" panose="030F0702030302020204" pitchFamily="66" charset="0"/>
              </a:rPr>
              <a:t> </a:t>
            </a:r>
            <a:r>
              <a:rPr lang="id-ID" sz="3200" b="1" dirty="0">
                <a:solidFill>
                  <a:srgbClr val="0070C0"/>
                </a:solidFill>
                <a:latin typeface="Comic Sans MS" panose="030F0702030302020204" pitchFamily="66" charset="0"/>
              </a:rPr>
              <a:t>ikuti peraturan unit setempat</a:t>
            </a:r>
            <a:endParaRPr lang="id-ID" sz="3200" dirty="0">
              <a:latin typeface="Comic Sans MS" panose="030F0702030302020204" pitchFamily="66" charset="0"/>
            </a:endParaRPr>
          </a:p>
          <a:p>
            <a:pPr algn="just">
              <a:buFont typeface="Wingdings" panose="05000000000000000000" pitchFamily="2" charset="2"/>
              <a:buChar char="Ø"/>
            </a:pPr>
            <a:r>
              <a:rPr lang="id-ID" dirty="0">
                <a:latin typeface="Comic Sans MS" panose="030F0702030302020204" pitchFamily="66" charset="0"/>
              </a:rPr>
              <a:t> sebelum melaksanakan penyambungan ketransformator, pastikan “slang” </a:t>
            </a:r>
            <a:r>
              <a:rPr lang="en-US" dirty="0" err="1">
                <a:latin typeface="Comic Sans MS" panose="030F0702030302020204" pitchFamily="66" charset="0"/>
              </a:rPr>
              <a:t>dan</a:t>
            </a:r>
            <a:r>
              <a:rPr lang="en-US" dirty="0">
                <a:latin typeface="Comic Sans MS" panose="030F0702030302020204" pitchFamily="66" charset="0"/>
              </a:rPr>
              <a:t> </a:t>
            </a:r>
            <a:r>
              <a:rPr lang="id-ID" dirty="0">
                <a:latin typeface="Comic Sans MS" panose="030F0702030302020204" pitchFamily="66" charset="0"/>
              </a:rPr>
              <a:t>di dalam “tangki” unit purifikasi dalam kondisi </a:t>
            </a:r>
            <a:r>
              <a:rPr lang="id-ID" i="1" dirty="0">
                <a:solidFill>
                  <a:srgbClr val="00B0F0"/>
                </a:solidFill>
                <a:latin typeface="Comic Sans MS" panose="030F0702030302020204" pitchFamily="66" charset="0"/>
              </a:rPr>
              <a:t>terisi penuh minyak yang sesuai dengan minyak dalam transformator</a:t>
            </a:r>
            <a:r>
              <a:rPr lang="id-ID" dirty="0">
                <a:latin typeface="Comic Sans MS" panose="030F0702030302020204" pitchFamily="66" charset="0"/>
              </a:rPr>
              <a:t>.</a:t>
            </a:r>
            <a:endParaRPr lang="id-ID" sz="3600" dirty="0">
              <a:latin typeface="Comic Sans MS" panose="030F0702030302020204" pitchFamily="66" charset="0"/>
            </a:endParaRPr>
          </a:p>
          <a:p>
            <a:pPr algn="just">
              <a:buFont typeface="Wingdings" panose="05000000000000000000" pitchFamily="2" charset="2"/>
              <a:buChar char="Ø"/>
            </a:pPr>
            <a:r>
              <a:rPr lang="id-ID" sz="3600" dirty="0">
                <a:latin typeface="Comic Sans MS" panose="030F0702030302020204" pitchFamily="66" charset="0"/>
              </a:rPr>
              <a:t> </a:t>
            </a:r>
            <a:r>
              <a:rPr lang="id-ID" b="1" dirty="0">
                <a:solidFill>
                  <a:srgbClr val="0070C0"/>
                </a:solidFill>
                <a:latin typeface="Comic Sans MS" panose="030F0702030302020204" pitchFamily="66" charset="0"/>
              </a:rPr>
              <a:t>hasil purifikasi bukanlah banyaknya cylce yang dilakukan tetapi hasil akhir dari pekerjaan</a:t>
            </a:r>
            <a:r>
              <a:rPr lang="id-ID" sz="3200" b="1" dirty="0">
                <a:solidFill>
                  <a:srgbClr val="0070C0"/>
                </a:solidFill>
                <a:latin typeface="Comic Sans MS" panose="030F0702030302020204" pitchFamily="66" charset="0"/>
              </a:rPr>
              <a:t>.</a:t>
            </a:r>
            <a:r>
              <a:rPr lang="en-US" sz="3000" b="1" i="1" u="sng" dirty="0" err="1">
                <a:solidFill>
                  <a:srgbClr val="00B050"/>
                </a:solidFill>
                <a:latin typeface="Comic Sans MS" panose="030F0702030302020204" pitchFamily="66" charset="0"/>
              </a:rPr>
              <a:t>usahakan</a:t>
            </a:r>
            <a:r>
              <a:rPr lang="en-US" sz="3000" b="1" i="1" u="sng" dirty="0">
                <a:solidFill>
                  <a:srgbClr val="00B050"/>
                </a:solidFill>
                <a:latin typeface="Comic Sans MS" panose="030F0702030302020204" pitchFamily="66" charset="0"/>
              </a:rPr>
              <a:t> minimum </a:t>
            </a:r>
            <a:r>
              <a:rPr lang="en-US" sz="3000" b="1" i="1" u="sng" dirty="0" err="1">
                <a:solidFill>
                  <a:srgbClr val="00B050"/>
                </a:solidFill>
                <a:latin typeface="Comic Sans MS" panose="030F0702030302020204" pitchFamily="66" charset="0"/>
              </a:rPr>
              <a:t>mencapai</a:t>
            </a:r>
            <a:r>
              <a:rPr lang="en-US" sz="3000" b="1" i="1" u="sng" dirty="0">
                <a:solidFill>
                  <a:srgbClr val="00B050"/>
                </a:solidFill>
                <a:latin typeface="Comic Sans MS" panose="030F0702030302020204" pitchFamily="66" charset="0"/>
              </a:rPr>
              <a:t> grade B</a:t>
            </a:r>
            <a:endParaRPr lang="id-ID" sz="3000" b="1" i="1" u="sng" dirty="0">
              <a:solidFill>
                <a:srgbClr val="00B050"/>
              </a:solidFill>
              <a:latin typeface="Comic Sans MS" panose="030F0702030302020204" pitchFamily="66" charset="0"/>
            </a:endParaRPr>
          </a:p>
          <a:p>
            <a:pPr lvl="1" algn="just">
              <a:buFont typeface="Wingdings" panose="05000000000000000000" pitchFamily="2" charset="2"/>
              <a:buChar char="ü"/>
            </a:pPr>
            <a:r>
              <a:rPr lang="id-ID" b="1" i="1" dirty="0">
                <a:solidFill>
                  <a:srgbClr val="00B050"/>
                </a:solidFill>
                <a:latin typeface="Comic Sans MS" panose="030F0702030302020204" pitchFamily="66" charset="0"/>
              </a:rPr>
              <a:t>n</a:t>
            </a:r>
            <a:r>
              <a:rPr lang="en-US" b="1" i="1" dirty="0" err="1">
                <a:solidFill>
                  <a:srgbClr val="00B050"/>
                </a:solidFill>
                <a:latin typeface="Comic Sans MS" panose="030F0702030302020204" pitchFamily="66" charset="0"/>
              </a:rPr>
              <a:t>ote</a:t>
            </a:r>
            <a:r>
              <a:rPr lang="en-US" b="1" i="1" dirty="0">
                <a:solidFill>
                  <a:srgbClr val="00B050"/>
                </a:solidFill>
                <a:latin typeface="Comic Sans MS" panose="030F0702030302020204" pitchFamily="66" charset="0"/>
              </a:rPr>
              <a:t>: </a:t>
            </a:r>
            <a:r>
              <a:rPr lang="id-ID" b="1" i="1" dirty="0">
                <a:solidFill>
                  <a:srgbClr val="00B050"/>
                </a:solidFill>
                <a:latin typeface="Comic Sans MS" panose="030F0702030302020204" pitchFamily="66" charset="0"/>
              </a:rPr>
              <a:t>t</a:t>
            </a:r>
            <a:r>
              <a:rPr lang="en-US" b="1" i="1" dirty="0">
                <a:solidFill>
                  <a:srgbClr val="00B050"/>
                </a:solidFill>
                <a:latin typeface="Comic Sans MS" panose="030F0702030302020204" pitchFamily="66" charset="0"/>
              </a:rPr>
              <a:t>he </a:t>
            </a:r>
            <a:r>
              <a:rPr lang="id-ID" b="1" i="1" dirty="0">
                <a:solidFill>
                  <a:srgbClr val="00B050"/>
                </a:solidFill>
                <a:latin typeface="Comic Sans MS" panose="030F0702030302020204" pitchFamily="66" charset="0"/>
              </a:rPr>
              <a:t>result </a:t>
            </a:r>
            <a:r>
              <a:rPr lang="en-US" b="1" i="1" dirty="0">
                <a:solidFill>
                  <a:srgbClr val="00B050"/>
                </a:solidFill>
                <a:latin typeface="Comic Sans MS" panose="030F0702030302020204" pitchFamily="66" charset="0"/>
              </a:rPr>
              <a:t>sample must be drawn from </a:t>
            </a:r>
            <a:r>
              <a:rPr lang="en-US" b="1" i="1" u="sng" dirty="0">
                <a:solidFill>
                  <a:srgbClr val="00B050"/>
                </a:solidFill>
                <a:latin typeface="Comic Sans MS" panose="030F0702030302020204" pitchFamily="66" charset="0"/>
              </a:rPr>
              <a:t>inlet of the purification </a:t>
            </a:r>
            <a:r>
              <a:rPr lang="en-US" b="1" i="1" dirty="0">
                <a:solidFill>
                  <a:srgbClr val="00B050"/>
                </a:solidFill>
                <a:latin typeface="Comic Sans MS" panose="030F0702030302020204" pitchFamily="66" charset="0"/>
              </a:rPr>
              <a:t>process i.e. condition of oil from the transformer. </a:t>
            </a:r>
            <a:r>
              <a:rPr lang="id-ID" b="1" i="1" dirty="0">
                <a:solidFill>
                  <a:srgbClr val="00B050"/>
                </a:solidFill>
                <a:latin typeface="Comic Sans MS" panose="030F0702030302020204" pitchFamily="66" charset="0"/>
              </a:rPr>
              <a:t>i</a:t>
            </a:r>
            <a:r>
              <a:rPr lang="en-US" b="1" i="1" dirty="0">
                <a:solidFill>
                  <a:srgbClr val="00B050"/>
                </a:solidFill>
                <a:latin typeface="Comic Sans MS" panose="030F0702030302020204" pitchFamily="66" charset="0"/>
              </a:rPr>
              <a:t>f the sample is drawn from the outlet, this just indicates the efficiency of the purification plant. </a:t>
            </a:r>
            <a:endParaRPr lang="id-ID" b="1" i="1" dirty="0">
              <a:solidFill>
                <a:srgbClr val="00B050"/>
              </a:solidFill>
              <a:latin typeface="Comic Sans MS" panose="030F0702030302020204" pitchFamily="66" charset="0"/>
            </a:endParaRPr>
          </a:p>
        </p:txBody>
      </p:sp>
    </p:spTree>
    <p:extLst>
      <p:ext uri="{BB962C8B-B14F-4D97-AF65-F5344CB8AC3E}">
        <p14:creationId xmlns:p14="http://schemas.microsoft.com/office/powerpoint/2010/main" val="569963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1CFD-0D0B-491C-8BF2-54E355BF1F38}"/>
              </a:ext>
            </a:extLst>
          </p:cNvPr>
          <p:cNvSpPr>
            <a:spLocks noGrp="1"/>
          </p:cNvSpPr>
          <p:nvPr>
            <p:ph type="title"/>
          </p:nvPr>
        </p:nvSpPr>
        <p:spPr>
          <a:xfrm>
            <a:off x="937260" y="261257"/>
            <a:ext cx="10317480" cy="985294"/>
          </a:xfrm>
        </p:spPr>
        <p:txBody>
          <a:bodyPr/>
          <a:lstStyle/>
          <a:p>
            <a:pPr algn="ctr"/>
            <a:r>
              <a:rPr lang="id-ID" b="1" dirty="0">
                <a:latin typeface="Comic Sans MS" panose="030F0702030302020204" pitchFamily="66" charset="0"/>
              </a:rPr>
              <a:t>tatacara pelaksanaan purifikasi</a:t>
            </a:r>
            <a:endParaRPr lang="en-US" dirty="0"/>
          </a:p>
        </p:txBody>
      </p:sp>
      <p:sp>
        <p:nvSpPr>
          <p:cNvPr id="3" name="Content Placeholder 2">
            <a:extLst>
              <a:ext uri="{FF2B5EF4-FFF2-40B4-BE49-F238E27FC236}">
                <a16:creationId xmlns:a16="http://schemas.microsoft.com/office/drawing/2014/main" id="{F3450B0B-79C7-4169-90C7-676F855F1685}"/>
              </a:ext>
            </a:extLst>
          </p:cNvPr>
          <p:cNvSpPr>
            <a:spLocks noGrp="1"/>
          </p:cNvSpPr>
          <p:nvPr>
            <p:ph idx="1"/>
          </p:nvPr>
        </p:nvSpPr>
        <p:spPr>
          <a:xfrm>
            <a:off x="838200" y="1246550"/>
            <a:ext cx="10515600" cy="4901701"/>
          </a:xfrm>
        </p:spPr>
        <p:txBody>
          <a:bodyPr>
            <a:normAutofit fontScale="92500" lnSpcReduction="10000"/>
          </a:bodyPr>
          <a:lstStyle/>
          <a:p>
            <a:pPr marL="0" indent="0">
              <a:buNone/>
            </a:pPr>
            <a:r>
              <a:rPr lang="en-US" dirty="0" err="1">
                <a:latin typeface="Comic Sans MS" panose="030F0702030302020204" pitchFamily="66" charset="0"/>
              </a:rPr>
              <a:t>Bagaimana</a:t>
            </a:r>
            <a:r>
              <a:rPr lang="en-US" dirty="0">
                <a:latin typeface="Comic Sans MS" panose="030F0702030302020204" pitchFamily="66" charset="0"/>
              </a:rPr>
              <a:t> agar </a:t>
            </a:r>
            <a:r>
              <a:rPr lang="en-US" dirty="0" err="1">
                <a:latin typeface="Comic Sans MS" panose="030F0702030302020204" pitchFamily="66" charset="0"/>
              </a:rPr>
              <a:t>bisa</a:t>
            </a:r>
            <a:r>
              <a:rPr lang="en-US" dirty="0">
                <a:latin typeface="Comic Sans MS" panose="030F0702030302020204" pitchFamily="66" charset="0"/>
              </a:rPr>
              <a:t> </a:t>
            </a:r>
            <a:r>
              <a:rPr lang="en-US" dirty="0" err="1">
                <a:latin typeface="Comic Sans MS" panose="030F0702030302020204" pitchFamily="66" charset="0"/>
              </a:rPr>
              <a:t>mendapatkan</a:t>
            </a:r>
            <a:r>
              <a:rPr lang="en-US" dirty="0">
                <a:latin typeface="Comic Sans MS" panose="030F0702030302020204" pitchFamily="66" charset="0"/>
              </a:rPr>
              <a:t> </a:t>
            </a:r>
            <a:r>
              <a:rPr lang="en-US" dirty="0" err="1">
                <a:latin typeface="Comic Sans MS" panose="030F0702030302020204" pitchFamily="66" charset="0"/>
              </a:rPr>
              <a:t>hasil</a:t>
            </a:r>
            <a:r>
              <a:rPr lang="en-US" dirty="0">
                <a:latin typeface="Comic Sans MS" panose="030F0702030302020204" pitchFamily="66" charset="0"/>
              </a:rPr>
              <a:t> </a:t>
            </a:r>
            <a:r>
              <a:rPr lang="en-US" dirty="0" err="1">
                <a:latin typeface="Comic Sans MS" panose="030F0702030302020204" pitchFamily="66" charset="0"/>
              </a:rPr>
              <a:t>purifikasi</a:t>
            </a:r>
            <a:r>
              <a:rPr lang="en-US" dirty="0">
                <a:latin typeface="Comic Sans MS" panose="030F0702030302020204" pitchFamily="66" charset="0"/>
              </a:rPr>
              <a:t> yang </a:t>
            </a:r>
            <a:r>
              <a:rPr lang="en-US" dirty="0" err="1">
                <a:latin typeface="Comic Sans MS" panose="030F0702030302020204" pitchFamily="66" charset="0"/>
              </a:rPr>
              <a:t>baik</a:t>
            </a:r>
            <a:endParaRPr lang="en-US" dirty="0">
              <a:latin typeface="Comic Sans MS" panose="030F0702030302020204" pitchFamily="66" charset="0"/>
            </a:endParaRPr>
          </a:p>
          <a:p>
            <a:pPr>
              <a:spcAft>
                <a:spcPts val="1200"/>
              </a:spcAft>
            </a:pPr>
            <a:r>
              <a:rPr lang="en-US" sz="2600" b="1" dirty="0" err="1">
                <a:solidFill>
                  <a:srgbClr val="0070C0"/>
                </a:solidFill>
                <a:latin typeface="Comic Sans MS" panose="030F0702030302020204" pitchFamily="66" charset="0"/>
              </a:rPr>
              <a:t>Saat</a:t>
            </a:r>
            <a:r>
              <a:rPr lang="en-US" sz="2600" b="1" dirty="0">
                <a:solidFill>
                  <a:srgbClr val="0070C0"/>
                </a:solidFill>
                <a:latin typeface="Comic Sans MS" panose="030F0702030302020204" pitchFamily="66" charset="0"/>
              </a:rPr>
              <a:t> online :</a:t>
            </a:r>
          </a:p>
          <a:p>
            <a:pPr lvl="1">
              <a:spcAft>
                <a:spcPts val="600"/>
              </a:spcAft>
              <a:buFont typeface="Wingdings" panose="05000000000000000000" pitchFamily="2" charset="2"/>
              <a:buChar char="Ø"/>
            </a:pPr>
            <a:r>
              <a:rPr lang="en-US" dirty="0" err="1">
                <a:solidFill>
                  <a:srgbClr val="00B050"/>
                </a:solidFill>
                <a:latin typeface="Comic Sans MS" panose="030F0702030302020204" pitchFamily="66" charset="0"/>
              </a:rPr>
              <a:t>Lakukanlah</a:t>
            </a:r>
            <a:r>
              <a:rPr lang="en-US" dirty="0">
                <a:solidFill>
                  <a:srgbClr val="00B050"/>
                </a:solidFill>
                <a:latin typeface="Comic Sans MS" panose="030F0702030302020204" pitchFamily="66" charset="0"/>
              </a:rPr>
              <a:t> </a:t>
            </a:r>
            <a:r>
              <a:rPr lang="en-US" dirty="0" err="1">
                <a:solidFill>
                  <a:srgbClr val="00B050"/>
                </a:solidFill>
                <a:latin typeface="Comic Sans MS" panose="030F0702030302020204" pitchFamily="66" charset="0"/>
              </a:rPr>
              <a:t>dengan</a:t>
            </a:r>
            <a:r>
              <a:rPr lang="en-US" dirty="0">
                <a:solidFill>
                  <a:srgbClr val="00B050"/>
                </a:solidFill>
                <a:latin typeface="Comic Sans MS" panose="030F0702030302020204" pitchFamily="66" charset="0"/>
              </a:rPr>
              <a:t> temperature </a:t>
            </a:r>
            <a:r>
              <a:rPr lang="en-US" dirty="0" err="1">
                <a:solidFill>
                  <a:srgbClr val="00B050"/>
                </a:solidFill>
                <a:latin typeface="Comic Sans MS" panose="030F0702030302020204" pitchFamily="66" charset="0"/>
              </a:rPr>
              <a:t>diatas</a:t>
            </a:r>
            <a:r>
              <a:rPr lang="en-US" dirty="0">
                <a:solidFill>
                  <a:srgbClr val="00B050"/>
                </a:solidFill>
                <a:latin typeface="Comic Sans MS" panose="030F0702030302020204" pitchFamily="66" charset="0"/>
              </a:rPr>
              <a:t> temperature </a:t>
            </a:r>
            <a:r>
              <a:rPr lang="en-US" dirty="0" err="1">
                <a:solidFill>
                  <a:srgbClr val="00B050"/>
                </a:solidFill>
                <a:latin typeface="Comic Sans MS" panose="030F0702030302020204" pitchFamily="66" charset="0"/>
              </a:rPr>
              <a:t>minyak</a:t>
            </a:r>
            <a:r>
              <a:rPr lang="en-US" dirty="0">
                <a:solidFill>
                  <a:srgbClr val="00B050"/>
                </a:solidFill>
                <a:latin typeface="Comic Sans MS" panose="030F0702030302020204" pitchFamily="66" charset="0"/>
              </a:rPr>
              <a:t> </a:t>
            </a:r>
            <a:r>
              <a:rPr lang="en-US" dirty="0" err="1">
                <a:solidFill>
                  <a:srgbClr val="00B050"/>
                </a:solidFill>
                <a:latin typeface="Comic Sans MS" panose="030F0702030302020204" pitchFamily="66" charset="0"/>
              </a:rPr>
              <a:t>dalam</a:t>
            </a:r>
            <a:r>
              <a:rPr lang="en-US" dirty="0">
                <a:solidFill>
                  <a:srgbClr val="00B050"/>
                </a:solidFill>
                <a:latin typeface="Comic Sans MS" panose="030F0702030302020204" pitchFamily="66" charset="0"/>
              </a:rPr>
              <a:t> </a:t>
            </a:r>
            <a:r>
              <a:rPr lang="en-US" dirty="0" err="1">
                <a:solidFill>
                  <a:srgbClr val="00B050"/>
                </a:solidFill>
                <a:latin typeface="Comic Sans MS" panose="030F0702030302020204" pitchFamily="66" charset="0"/>
              </a:rPr>
              <a:t>trafo</a:t>
            </a:r>
            <a:r>
              <a:rPr lang="en-US" dirty="0">
                <a:latin typeface="Comic Sans MS" panose="030F0702030302020204" pitchFamily="66" charset="0"/>
              </a:rPr>
              <a:t>. </a:t>
            </a:r>
          </a:p>
          <a:p>
            <a:pPr lvl="1">
              <a:spcAft>
                <a:spcPts val="600"/>
              </a:spcAft>
              <a:buFont typeface="Wingdings" panose="05000000000000000000" pitchFamily="2" charset="2"/>
              <a:buChar char="Ø"/>
            </a:pPr>
            <a:r>
              <a:rPr lang="en-US" dirty="0">
                <a:latin typeface="Comic Sans MS" panose="030F0702030302020204" pitchFamily="66" charset="0"/>
              </a:rPr>
              <a:t>Jaga agar </a:t>
            </a:r>
            <a:r>
              <a:rPr lang="en-US" dirty="0" err="1">
                <a:latin typeface="Comic Sans MS" panose="030F0702030302020204" pitchFamily="66" charset="0"/>
              </a:rPr>
              <a:t>vaccum</a:t>
            </a:r>
            <a:r>
              <a:rPr lang="en-US" dirty="0">
                <a:latin typeface="Comic Sans MS" panose="030F0702030302020204" pitchFamily="66" charset="0"/>
              </a:rPr>
              <a:t> </a:t>
            </a:r>
            <a:r>
              <a:rPr lang="en-US" dirty="0" err="1">
                <a:latin typeface="Comic Sans MS" panose="030F0702030302020204" pitchFamily="66" charset="0"/>
              </a:rPr>
              <a:t>didalam</a:t>
            </a:r>
            <a:r>
              <a:rPr lang="en-US" dirty="0">
                <a:latin typeface="Comic Sans MS" panose="030F0702030302020204" pitchFamily="66" charset="0"/>
              </a:rPr>
              <a:t> </a:t>
            </a:r>
            <a:r>
              <a:rPr lang="en-US" dirty="0" err="1">
                <a:latin typeface="Comic Sans MS" panose="030F0702030302020204" pitchFamily="66" charset="0"/>
              </a:rPr>
              <a:t>vaccum</a:t>
            </a:r>
            <a:r>
              <a:rPr lang="en-US" dirty="0">
                <a:latin typeface="Comic Sans MS" panose="030F0702030302020204" pitchFamily="66" charset="0"/>
              </a:rPr>
              <a:t> chamber </a:t>
            </a:r>
            <a:r>
              <a:rPr lang="en-US" dirty="0" err="1">
                <a:latin typeface="Comic Sans MS" panose="030F0702030302020204" pitchFamily="66" charset="0"/>
              </a:rPr>
              <a:t>diatas</a:t>
            </a:r>
            <a:r>
              <a:rPr lang="en-US" dirty="0">
                <a:latin typeface="Comic Sans MS" panose="030F0702030302020204" pitchFamily="66" charset="0"/>
              </a:rPr>
              <a:t> 70 </a:t>
            </a:r>
            <a:r>
              <a:rPr lang="en-US" dirty="0" err="1">
                <a:latin typeface="Comic Sans MS" panose="030F0702030302020204" pitchFamily="66" charset="0"/>
              </a:rPr>
              <a:t>cmHg</a:t>
            </a:r>
            <a:r>
              <a:rPr lang="en-US" dirty="0">
                <a:latin typeface="Comic Sans MS" panose="030F0702030302020204" pitchFamily="66" charset="0"/>
              </a:rPr>
              <a:t>. </a:t>
            </a:r>
          </a:p>
          <a:p>
            <a:pPr lvl="1">
              <a:spcAft>
                <a:spcPts val="600"/>
              </a:spcAft>
              <a:buFont typeface="Wingdings" panose="05000000000000000000" pitchFamily="2" charset="2"/>
              <a:buChar char="Ø"/>
            </a:pPr>
            <a:r>
              <a:rPr lang="en-US" dirty="0">
                <a:latin typeface="Comic Sans MS" panose="030F0702030302020204" pitchFamily="66" charset="0"/>
              </a:rPr>
              <a:t>Jaga agar level </a:t>
            </a:r>
            <a:r>
              <a:rPr lang="en-US" dirty="0" err="1">
                <a:latin typeface="Comic Sans MS" panose="030F0702030302020204" pitchFamily="66" charset="0"/>
              </a:rPr>
              <a:t>dalam</a:t>
            </a:r>
            <a:r>
              <a:rPr lang="en-US" dirty="0">
                <a:latin typeface="Comic Sans MS" panose="030F0702030302020204" pitchFamily="66" charset="0"/>
              </a:rPr>
              <a:t> </a:t>
            </a:r>
            <a:r>
              <a:rPr lang="en-US" dirty="0" err="1">
                <a:latin typeface="Comic Sans MS" panose="030F0702030302020204" pitchFamily="66" charset="0"/>
              </a:rPr>
              <a:t>vaccum</a:t>
            </a:r>
            <a:r>
              <a:rPr lang="en-US" dirty="0">
                <a:latin typeface="Comic Sans MS" panose="030F0702030302020204" pitchFamily="66" charset="0"/>
              </a:rPr>
              <a:t> chamber </a:t>
            </a:r>
            <a:r>
              <a:rPr lang="en-US" dirty="0" err="1">
                <a:latin typeface="Comic Sans MS" panose="030F0702030302020204" pitchFamily="66" charset="0"/>
              </a:rPr>
              <a:t>tetap</a:t>
            </a:r>
            <a:r>
              <a:rPr lang="en-US" dirty="0">
                <a:latin typeface="Comic Sans MS" panose="030F0702030302020204" pitchFamily="66" charset="0"/>
              </a:rPr>
              <a:t> </a:t>
            </a:r>
            <a:r>
              <a:rPr lang="en-US" dirty="0" err="1">
                <a:latin typeface="Comic Sans MS" panose="030F0702030302020204" pitchFamily="66" charset="0"/>
              </a:rPr>
              <a:t>dibawah</a:t>
            </a:r>
            <a:r>
              <a:rPr lang="en-US" dirty="0">
                <a:latin typeface="Comic Sans MS" panose="030F0702030302020204" pitchFamily="66" charset="0"/>
              </a:rPr>
              <a:t> </a:t>
            </a:r>
            <a:r>
              <a:rPr lang="en-US" dirty="0" err="1">
                <a:latin typeface="Comic Sans MS" panose="030F0702030302020204" pitchFamily="66" charset="0"/>
              </a:rPr>
              <a:t>batas</a:t>
            </a:r>
            <a:r>
              <a:rPr lang="en-US" dirty="0">
                <a:latin typeface="Comic Sans MS" panose="030F0702030302020204" pitchFamily="66" charset="0"/>
              </a:rPr>
              <a:t> normal</a:t>
            </a:r>
          </a:p>
          <a:p>
            <a:pPr lvl="1">
              <a:spcAft>
                <a:spcPts val="600"/>
              </a:spcAft>
              <a:buFont typeface="Wingdings" panose="05000000000000000000" pitchFamily="2" charset="2"/>
              <a:buChar char="Ø"/>
            </a:pPr>
            <a:r>
              <a:rPr lang="en-US" dirty="0">
                <a:latin typeface="Comic Sans MS" panose="030F0702030302020204" pitchFamily="66" charset="0"/>
              </a:rPr>
              <a:t>Jaga agar </a:t>
            </a:r>
            <a:r>
              <a:rPr lang="en-US" dirty="0" err="1">
                <a:latin typeface="Comic Sans MS" panose="030F0702030302020204" pitchFamily="66" charset="0"/>
              </a:rPr>
              <a:t>tak</a:t>
            </a:r>
            <a:r>
              <a:rPr lang="en-US" dirty="0">
                <a:latin typeface="Comic Sans MS" panose="030F0702030302020204" pitchFamily="66" charset="0"/>
              </a:rPr>
              <a:t> </a:t>
            </a:r>
            <a:r>
              <a:rPr lang="en-US" dirty="0" err="1">
                <a:latin typeface="Comic Sans MS" panose="030F0702030302020204" pitchFamily="66" charset="0"/>
              </a:rPr>
              <a:t>terdapat</a:t>
            </a:r>
            <a:r>
              <a:rPr lang="en-US" dirty="0">
                <a:latin typeface="Comic Sans MS" panose="030F0702030302020204" pitchFamily="66" charset="0"/>
              </a:rPr>
              <a:t> “</a:t>
            </a:r>
            <a:r>
              <a:rPr lang="en-US" dirty="0" err="1">
                <a:latin typeface="Comic Sans MS" panose="030F0702030302020204" pitchFamily="66" charset="0"/>
              </a:rPr>
              <a:t>buih</a:t>
            </a:r>
            <a:r>
              <a:rPr lang="en-US" dirty="0">
                <a:latin typeface="Comic Sans MS" panose="030F0702030302020204" pitchFamily="66" charset="0"/>
              </a:rPr>
              <a:t>” </a:t>
            </a:r>
            <a:r>
              <a:rPr lang="en-US" dirty="0" err="1">
                <a:latin typeface="Comic Sans MS" panose="030F0702030302020204" pitchFamily="66" charset="0"/>
              </a:rPr>
              <a:t>diatas</a:t>
            </a:r>
            <a:r>
              <a:rPr lang="en-US" dirty="0">
                <a:latin typeface="Comic Sans MS" panose="030F0702030302020204" pitchFamily="66" charset="0"/>
              </a:rPr>
              <a:t> </a:t>
            </a:r>
            <a:r>
              <a:rPr lang="en-US" dirty="0" err="1">
                <a:latin typeface="Comic Sans MS" panose="030F0702030302020204" pitchFamily="66" charset="0"/>
              </a:rPr>
              <a:t>minyak</a:t>
            </a:r>
            <a:r>
              <a:rPr lang="en-US" dirty="0">
                <a:latin typeface="Comic Sans MS" panose="030F0702030302020204" pitchFamily="66" charset="0"/>
              </a:rPr>
              <a:t> </a:t>
            </a:r>
            <a:r>
              <a:rPr lang="en-US" dirty="0" err="1">
                <a:latin typeface="Comic Sans MS" panose="030F0702030302020204" pitchFamily="66" charset="0"/>
              </a:rPr>
              <a:t>dalam</a:t>
            </a:r>
            <a:r>
              <a:rPr lang="en-US" dirty="0">
                <a:latin typeface="Comic Sans MS" panose="030F0702030302020204" pitchFamily="66" charset="0"/>
              </a:rPr>
              <a:t> </a:t>
            </a:r>
            <a:r>
              <a:rPr lang="en-US" dirty="0" err="1">
                <a:latin typeface="Comic Sans MS" panose="030F0702030302020204" pitchFamily="66" charset="0"/>
              </a:rPr>
              <a:t>vaccum</a:t>
            </a:r>
            <a:r>
              <a:rPr lang="en-US" dirty="0">
                <a:latin typeface="Comic Sans MS" panose="030F0702030302020204" pitchFamily="66" charset="0"/>
              </a:rPr>
              <a:t> chamber</a:t>
            </a:r>
          </a:p>
          <a:p>
            <a:pPr lvl="1">
              <a:spcAft>
                <a:spcPts val="600"/>
              </a:spcAft>
              <a:buFont typeface="Wingdings" panose="05000000000000000000" pitchFamily="2" charset="2"/>
              <a:buChar char="Ø"/>
            </a:pPr>
            <a:r>
              <a:rPr lang="en-US" dirty="0" err="1">
                <a:latin typeface="Comic Sans MS" panose="030F0702030302020204" pitchFamily="66" charset="0"/>
              </a:rPr>
              <a:t>Jangan</a:t>
            </a:r>
            <a:r>
              <a:rPr lang="en-US" dirty="0">
                <a:latin typeface="Comic Sans MS" panose="030F0702030302020204" pitchFamily="66" charset="0"/>
              </a:rPr>
              <a:t> </a:t>
            </a:r>
            <a:r>
              <a:rPr lang="en-US" dirty="0" err="1">
                <a:latin typeface="Comic Sans MS" panose="030F0702030302020204" pitchFamily="66" charset="0"/>
              </a:rPr>
              <a:t>tergantung</a:t>
            </a:r>
            <a:r>
              <a:rPr lang="en-US" dirty="0">
                <a:latin typeface="Comic Sans MS" panose="030F0702030302020204" pitchFamily="66" charset="0"/>
              </a:rPr>
              <a:t> cycle, </a:t>
            </a:r>
            <a:r>
              <a:rPr lang="en-US" dirty="0" err="1">
                <a:latin typeface="Comic Sans MS" panose="030F0702030302020204" pitchFamily="66" charset="0"/>
              </a:rPr>
              <a:t>tetapi</a:t>
            </a:r>
            <a:r>
              <a:rPr lang="en-US" dirty="0">
                <a:latin typeface="Comic Sans MS" panose="030F0702030302020204" pitchFamily="66" charset="0"/>
              </a:rPr>
              <a:t> </a:t>
            </a:r>
            <a:r>
              <a:rPr lang="en-US" dirty="0" err="1">
                <a:latin typeface="Comic Sans MS" panose="030F0702030302020204" pitchFamily="66" charset="0"/>
              </a:rPr>
              <a:t>hasil</a:t>
            </a:r>
            <a:r>
              <a:rPr lang="en-US" dirty="0">
                <a:latin typeface="Comic Sans MS" panose="030F0702030302020204" pitchFamily="66" charset="0"/>
              </a:rPr>
              <a:t> </a:t>
            </a:r>
            <a:r>
              <a:rPr lang="en-US" dirty="0" err="1">
                <a:latin typeface="Comic Sans MS" panose="030F0702030302020204" pitchFamily="66" charset="0"/>
              </a:rPr>
              <a:t>purifikasi</a:t>
            </a:r>
            <a:endParaRPr lang="en-US" dirty="0">
              <a:latin typeface="Comic Sans MS" panose="030F0702030302020204" pitchFamily="66" charset="0"/>
            </a:endParaRPr>
          </a:p>
          <a:p>
            <a:pPr lvl="1">
              <a:spcAft>
                <a:spcPts val="600"/>
              </a:spcAft>
              <a:buFont typeface="Wingdings" panose="05000000000000000000" pitchFamily="2" charset="2"/>
              <a:buChar char="Ø"/>
            </a:pPr>
            <a:r>
              <a:rPr lang="en-US" dirty="0" err="1">
                <a:solidFill>
                  <a:srgbClr val="0070C0"/>
                </a:solidFill>
                <a:latin typeface="Comic Sans MS" panose="030F0702030302020204" pitchFamily="66" charset="0"/>
              </a:rPr>
              <a:t>Pengambilan</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contoh</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untuk</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ditest</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ambilah</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dari</a:t>
            </a:r>
            <a:r>
              <a:rPr lang="en-US" dirty="0">
                <a:solidFill>
                  <a:srgbClr val="0070C0"/>
                </a:solidFill>
                <a:latin typeface="Comic Sans MS" panose="030F0702030302020204" pitchFamily="66" charset="0"/>
              </a:rPr>
              <a:t> pot </a:t>
            </a:r>
            <a:r>
              <a:rPr lang="en-US" dirty="0" err="1">
                <a:solidFill>
                  <a:srgbClr val="0070C0"/>
                </a:solidFill>
                <a:latin typeface="Comic Sans MS" panose="030F0702030302020204" pitchFamily="66" charset="0"/>
              </a:rPr>
              <a:t>trafo</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bagian</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bawah</a:t>
            </a:r>
            <a:endParaRPr lang="en-US" dirty="0">
              <a:solidFill>
                <a:srgbClr val="0070C0"/>
              </a:solidFill>
              <a:latin typeface="Comic Sans MS" panose="030F0702030302020204" pitchFamily="66" charset="0"/>
            </a:endParaRPr>
          </a:p>
          <a:p>
            <a:pPr>
              <a:spcAft>
                <a:spcPts val="600"/>
              </a:spcAft>
              <a:buFont typeface="Wingdings" panose="05000000000000000000" pitchFamily="2" charset="2"/>
              <a:buChar char="ü"/>
            </a:pPr>
            <a:r>
              <a:rPr lang="en-US" dirty="0" err="1">
                <a:solidFill>
                  <a:srgbClr val="0070C0"/>
                </a:solidFill>
                <a:latin typeface="Comic Sans MS" panose="030F0702030302020204" pitchFamily="66" charset="0"/>
              </a:rPr>
              <a:t>Catatan</a:t>
            </a:r>
            <a:r>
              <a:rPr lang="en-US" dirty="0">
                <a:solidFill>
                  <a:srgbClr val="0070C0"/>
                </a:solidFill>
                <a:latin typeface="Comic Sans MS" panose="030F0702030302020204" pitchFamily="66" charset="0"/>
              </a:rPr>
              <a:t> : </a:t>
            </a:r>
            <a:r>
              <a:rPr lang="en-US" dirty="0" err="1">
                <a:solidFill>
                  <a:srgbClr val="0070C0"/>
                </a:solidFill>
                <a:latin typeface="Comic Sans MS" panose="030F0702030302020204" pitchFamily="66" charset="0"/>
              </a:rPr>
              <a:t>Kalau</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saat</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mulai</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purifikasi</a:t>
            </a:r>
            <a:r>
              <a:rPr lang="en-US" dirty="0">
                <a:solidFill>
                  <a:srgbClr val="0070C0"/>
                </a:solidFill>
                <a:latin typeface="Comic Sans MS" panose="030F0702030302020204" pitchFamily="66" charset="0"/>
              </a:rPr>
              <a:t> moisture </a:t>
            </a:r>
            <a:r>
              <a:rPr lang="en-US" dirty="0" err="1">
                <a:solidFill>
                  <a:srgbClr val="0070C0"/>
                </a:solidFill>
                <a:latin typeface="Comic Sans MS" panose="030F0702030302020204" pitchFamily="66" charset="0"/>
              </a:rPr>
              <a:t>sudah</a:t>
            </a:r>
            <a:r>
              <a:rPr lang="en-US" dirty="0">
                <a:solidFill>
                  <a:srgbClr val="0070C0"/>
                </a:solidFill>
                <a:latin typeface="Comic Sans MS" panose="030F0702030302020204" pitchFamily="66" charset="0"/>
              </a:rPr>
              <a:t> di “grade D”, </a:t>
            </a:r>
            <a:r>
              <a:rPr lang="en-US" dirty="0" err="1">
                <a:solidFill>
                  <a:srgbClr val="0070C0"/>
                </a:solidFill>
                <a:latin typeface="Comic Sans MS" panose="030F0702030302020204" pitchFamily="66" charset="0"/>
              </a:rPr>
              <a:t>jangan</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terlalu</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berharap</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satu</a:t>
            </a:r>
            <a:r>
              <a:rPr lang="en-US" dirty="0">
                <a:solidFill>
                  <a:srgbClr val="0070C0"/>
                </a:solidFill>
                <a:latin typeface="Comic Sans MS" panose="030F0702030302020204" pitchFamily="66" charset="0"/>
              </a:rPr>
              <a:t> kali </a:t>
            </a:r>
            <a:r>
              <a:rPr lang="en-US" dirty="0" err="1">
                <a:solidFill>
                  <a:srgbClr val="0070C0"/>
                </a:solidFill>
                <a:latin typeface="Comic Sans MS" panose="030F0702030302020204" pitchFamily="66" charset="0"/>
              </a:rPr>
              <a:t>purifikasi</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akan</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bisa</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mencapai</a:t>
            </a:r>
            <a:r>
              <a:rPr lang="en-US" dirty="0">
                <a:solidFill>
                  <a:srgbClr val="0070C0"/>
                </a:solidFill>
                <a:latin typeface="Comic Sans MS" panose="030F0702030302020204" pitchFamily="66" charset="0"/>
              </a:rPr>
              <a:t> “grade B”</a:t>
            </a:r>
          </a:p>
          <a:p>
            <a:pPr>
              <a:buFont typeface="Wingdings" panose="05000000000000000000" pitchFamily="2" charset="2"/>
              <a:buChar char="Ø"/>
            </a:pPr>
            <a:endParaRPr lang="en-US" dirty="0">
              <a:solidFill>
                <a:srgbClr val="0070C0"/>
              </a:solidFill>
              <a:latin typeface="Comic Sans MS" panose="030F0702030302020204" pitchFamily="66" charset="0"/>
            </a:endParaRPr>
          </a:p>
        </p:txBody>
      </p:sp>
    </p:spTree>
    <p:extLst>
      <p:ext uri="{BB962C8B-B14F-4D97-AF65-F5344CB8AC3E}">
        <p14:creationId xmlns:p14="http://schemas.microsoft.com/office/powerpoint/2010/main" val="347204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1CFD-0D0B-491C-8BF2-54E355BF1F38}"/>
              </a:ext>
            </a:extLst>
          </p:cNvPr>
          <p:cNvSpPr>
            <a:spLocks noGrp="1"/>
          </p:cNvSpPr>
          <p:nvPr>
            <p:ph type="title"/>
          </p:nvPr>
        </p:nvSpPr>
        <p:spPr>
          <a:xfrm>
            <a:off x="937260" y="261257"/>
            <a:ext cx="10317480" cy="985294"/>
          </a:xfrm>
        </p:spPr>
        <p:txBody>
          <a:bodyPr/>
          <a:lstStyle/>
          <a:p>
            <a:pPr algn="ctr"/>
            <a:r>
              <a:rPr lang="id-ID" b="1" dirty="0">
                <a:latin typeface="Comic Sans MS" panose="030F0702030302020204" pitchFamily="66" charset="0"/>
              </a:rPr>
              <a:t>tatacara pelaksanaan purifikasi</a:t>
            </a:r>
            <a:endParaRPr lang="en-US" dirty="0"/>
          </a:p>
        </p:txBody>
      </p:sp>
      <p:sp>
        <p:nvSpPr>
          <p:cNvPr id="3" name="Content Placeholder 2">
            <a:extLst>
              <a:ext uri="{FF2B5EF4-FFF2-40B4-BE49-F238E27FC236}">
                <a16:creationId xmlns:a16="http://schemas.microsoft.com/office/drawing/2014/main" id="{F3450B0B-79C7-4169-90C7-676F855F1685}"/>
              </a:ext>
            </a:extLst>
          </p:cNvPr>
          <p:cNvSpPr>
            <a:spLocks noGrp="1"/>
          </p:cNvSpPr>
          <p:nvPr>
            <p:ph idx="1"/>
          </p:nvPr>
        </p:nvSpPr>
        <p:spPr>
          <a:xfrm>
            <a:off x="838200" y="1246551"/>
            <a:ext cx="10515600" cy="5162958"/>
          </a:xfrm>
        </p:spPr>
        <p:txBody>
          <a:bodyPr>
            <a:normAutofit lnSpcReduction="10000"/>
          </a:bodyPr>
          <a:lstStyle/>
          <a:p>
            <a:pPr marL="0" indent="0">
              <a:buNone/>
            </a:pPr>
            <a:r>
              <a:rPr lang="en-US" dirty="0" err="1">
                <a:latin typeface="Comic Sans MS" panose="030F0702030302020204" pitchFamily="66" charset="0"/>
              </a:rPr>
              <a:t>Bagaimana</a:t>
            </a:r>
            <a:r>
              <a:rPr lang="en-US" dirty="0">
                <a:latin typeface="Comic Sans MS" panose="030F0702030302020204" pitchFamily="66" charset="0"/>
              </a:rPr>
              <a:t> agar </a:t>
            </a:r>
            <a:r>
              <a:rPr lang="en-US" dirty="0" err="1">
                <a:latin typeface="Comic Sans MS" panose="030F0702030302020204" pitchFamily="66" charset="0"/>
              </a:rPr>
              <a:t>bisa</a:t>
            </a:r>
            <a:r>
              <a:rPr lang="en-US" dirty="0">
                <a:latin typeface="Comic Sans MS" panose="030F0702030302020204" pitchFamily="66" charset="0"/>
              </a:rPr>
              <a:t> </a:t>
            </a:r>
            <a:r>
              <a:rPr lang="en-US" dirty="0" err="1">
                <a:latin typeface="Comic Sans MS" panose="030F0702030302020204" pitchFamily="66" charset="0"/>
              </a:rPr>
              <a:t>mendapatkan</a:t>
            </a:r>
            <a:r>
              <a:rPr lang="en-US" dirty="0">
                <a:latin typeface="Comic Sans MS" panose="030F0702030302020204" pitchFamily="66" charset="0"/>
              </a:rPr>
              <a:t> </a:t>
            </a:r>
            <a:r>
              <a:rPr lang="en-US" dirty="0" err="1">
                <a:latin typeface="Comic Sans MS" panose="030F0702030302020204" pitchFamily="66" charset="0"/>
              </a:rPr>
              <a:t>hasil</a:t>
            </a:r>
            <a:r>
              <a:rPr lang="en-US" dirty="0">
                <a:latin typeface="Comic Sans MS" panose="030F0702030302020204" pitchFamily="66" charset="0"/>
              </a:rPr>
              <a:t> </a:t>
            </a:r>
            <a:r>
              <a:rPr lang="en-US" dirty="0" err="1">
                <a:latin typeface="Comic Sans MS" panose="030F0702030302020204" pitchFamily="66" charset="0"/>
              </a:rPr>
              <a:t>purifikasi</a:t>
            </a:r>
            <a:r>
              <a:rPr lang="en-US" dirty="0">
                <a:latin typeface="Comic Sans MS" panose="030F0702030302020204" pitchFamily="66" charset="0"/>
              </a:rPr>
              <a:t> yang </a:t>
            </a:r>
            <a:r>
              <a:rPr lang="en-US" dirty="0" err="1">
                <a:latin typeface="Comic Sans MS" panose="030F0702030302020204" pitchFamily="66" charset="0"/>
              </a:rPr>
              <a:t>baik</a:t>
            </a:r>
            <a:endParaRPr lang="en-US" dirty="0">
              <a:latin typeface="Comic Sans MS" panose="030F0702030302020204" pitchFamily="66" charset="0"/>
            </a:endParaRPr>
          </a:p>
          <a:p>
            <a:pPr>
              <a:spcAft>
                <a:spcPts val="1200"/>
              </a:spcAft>
            </a:pPr>
            <a:r>
              <a:rPr lang="en-US" sz="2600" b="1" dirty="0" err="1">
                <a:solidFill>
                  <a:srgbClr val="0070C0"/>
                </a:solidFill>
                <a:latin typeface="Comic Sans MS" panose="030F0702030302020204" pitchFamily="66" charset="0"/>
              </a:rPr>
              <a:t>Saat</a:t>
            </a:r>
            <a:r>
              <a:rPr lang="en-US" sz="2600" b="1" dirty="0">
                <a:solidFill>
                  <a:srgbClr val="0070C0"/>
                </a:solidFill>
                <a:latin typeface="Comic Sans MS" panose="030F0702030302020204" pitchFamily="66" charset="0"/>
              </a:rPr>
              <a:t> offline </a:t>
            </a:r>
            <a:r>
              <a:rPr lang="en-US" sz="2600" dirty="0">
                <a:latin typeface="Comic Sans MS" panose="030F0702030302020204" pitchFamily="66" charset="0"/>
              </a:rPr>
              <a:t>:</a:t>
            </a:r>
          </a:p>
          <a:p>
            <a:pPr lvl="1">
              <a:spcAft>
                <a:spcPts val="600"/>
              </a:spcAft>
              <a:buFont typeface="Wingdings" panose="05000000000000000000" pitchFamily="2" charset="2"/>
              <a:buChar char="Ø"/>
            </a:pPr>
            <a:r>
              <a:rPr lang="en-US" dirty="0" err="1">
                <a:solidFill>
                  <a:srgbClr val="00B050"/>
                </a:solidFill>
                <a:latin typeface="Comic Sans MS" panose="030F0702030302020204" pitchFamily="66" charset="0"/>
              </a:rPr>
              <a:t>Lakukanlah</a:t>
            </a:r>
            <a:r>
              <a:rPr lang="en-US" dirty="0">
                <a:solidFill>
                  <a:srgbClr val="00B050"/>
                </a:solidFill>
                <a:latin typeface="Comic Sans MS" panose="030F0702030302020204" pitchFamily="66" charset="0"/>
              </a:rPr>
              <a:t> </a:t>
            </a:r>
            <a:r>
              <a:rPr lang="en-US" dirty="0" err="1">
                <a:solidFill>
                  <a:srgbClr val="00B050"/>
                </a:solidFill>
                <a:latin typeface="Comic Sans MS" panose="030F0702030302020204" pitchFamily="66" charset="0"/>
              </a:rPr>
              <a:t>dengan</a:t>
            </a:r>
            <a:r>
              <a:rPr lang="en-US" dirty="0">
                <a:solidFill>
                  <a:srgbClr val="00B050"/>
                </a:solidFill>
                <a:latin typeface="Comic Sans MS" panose="030F0702030302020204" pitchFamily="66" charset="0"/>
              </a:rPr>
              <a:t> temperature </a:t>
            </a:r>
            <a:r>
              <a:rPr lang="en-US" dirty="0" err="1">
                <a:solidFill>
                  <a:srgbClr val="00B050"/>
                </a:solidFill>
                <a:latin typeface="Comic Sans MS" panose="030F0702030302020204" pitchFamily="66" charset="0"/>
              </a:rPr>
              <a:t>diatas</a:t>
            </a:r>
            <a:r>
              <a:rPr lang="en-US" dirty="0">
                <a:solidFill>
                  <a:srgbClr val="00B050"/>
                </a:solidFill>
                <a:latin typeface="Comic Sans MS" panose="030F0702030302020204" pitchFamily="66" charset="0"/>
              </a:rPr>
              <a:t> temperature minimal 60</a:t>
            </a:r>
            <a:r>
              <a:rPr lang="en-US" baseline="30000" dirty="0">
                <a:solidFill>
                  <a:srgbClr val="00B050"/>
                </a:solidFill>
                <a:latin typeface="Comic Sans MS" panose="030F0702030302020204" pitchFamily="66" charset="0"/>
              </a:rPr>
              <a:t>0</a:t>
            </a:r>
            <a:r>
              <a:rPr lang="en-US" dirty="0">
                <a:solidFill>
                  <a:srgbClr val="00B050"/>
                </a:solidFill>
                <a:latin typeface="Comic Sans MS" panose="030F0702030302020204" pitchFamily="66" charset="0"/>
              </a:rPr>
              <a:t>C</a:t>
            </a:r>
          </a:p>
          <a:p>
            <a:pPr lvl="1">
              <a:spcAft>
                <a:spcPts val="600"/>
              </a:spcAft>
              <a:buFont typeface="Wingdings" panose="05000000000000000000" pitchFamily="2" charset="2"/>
              <a:buChar char="Ø"/>
            </a:pPr>
            <a:r>
              <a:rPr lang="en-US" dirty="0">
                <a:latin typeface="Comic Sans MS" panose="030F0702030302020204" pitchFamily="66" charset="0"/>
              </a:rPr>
              <a:t>Jaga agar </a:t>
            </a:r>
            <a:r>
              <a:rPr lang="en-US" dirty="0" err="1">
                <a:latin typeface="Comic Sans MS" panose="030F0702030302020204" pitchFamily="66" charset="0"/>
              </a:rPr>
              <a:t>vaccum</a:t>
            </a:r>
            <a:r>
              <a:rPr lang="en-US" dirty="0">
                <a:latin typeface="Comic Sans MS" panose="030F0702030302020204" pitchFamily="66" charset="0"/>
              </a:rPr>
              <a:t> </a:t>
            </a:r>
            <a:r>
              <a:rPr lang="en-US" dirty="0" err="1">
                <a:latin typeface="Comic Sans MS" panose="030F0702030302020204" pitchFamily="66" charset="0"/>
              </a:rPr>
              <a:t>didalam</a:t>
            </a:r>
            <a:r>
              <a:rPr lang="en-US" dirty="0">
                <a:latin typeface="Comic Sans MS" panose="030F0702030302020204" pitchFamily="66" charset="0"/>
              </a:rPr>
              <a:t> </a:t>
            </a:r>
            <a:r>
              <a:rPr lang="en-US" dirty="0" err="1">
                <a:latin typeface="Comic Sans MS" panose="030F0702030302020204" pitchFamily="66" charset="0"/>
              </a:rPr>
              <a:t>vaccum</a:t>
            </a:r>
            <a:r>
              <a:rPr lang="en-US" dirty="0">
                <a:latin typeface="Comic Sans MS" panose="030F0702030302020204" pitchFamily="66" charset="0"/>
              </a:rPr>
              <a:t> chamber </a:t>
            </a:r>
            <a:r>
              <a:rPr lang="en-US" dirty="0" err="1">
                <a:latin typeface="Comic Sans MS" panose="030F0702030302020204" pitchFamily="66" charset="0"/>
              </a:rPr>
              <a:t>diatas</a:t>
            </a:r>
            <a:r>
              <a:rPr lang="en-US" dirty="0">
                <a:latin typeface="Comic Sans MS" panose="030F0702030302020204" pitchFamily="66" charset="0"/>
              </a:rPr>
              <a:t> 72 </a:t>
            </a:r>
            <a:r>
              <a:rPr lang="en-US" dirty="0" err="1">
                <a:latin typeface="Comic Sans MS" panose="030F0702030302020204" pitchFamily="66" charset="0"/>
              </a:rPr>
              <a:t>cmHg</a:t>
            </a:r>
            <a:r>
              <a:rPr lang="en-US" dirty="0">
                <a:latin typeface="Comic Sans MS" panose="030F0702030302020204" pitchFamily="66" charset="0"/>
              </a:rPr>
              <a:t>. </a:t>
            </a:r>
          </a:p>
          <a:p>
            <a:pPr lvl="1">
              <a:spcAft>
                <a:spcPts val="600"/>
              </a:spcAft>
              <a:buFont typeface="Wingdings" panose="05000000000000000000" pitchFamily="2" charset="2"/>
              <a:buChar char="Ø"/>
            </a:pPr>
            <a:r>
              <a:rPr lang="en-US" dirty="0">
                <a:latin typeface="Comic Sans MS" panose="030F0702030302020204" pitchFamily="66" charset="0"/>
              </a:rPr>
              <a:t>Jaga agar level </a:t>
            </a:r>
            <a:r>
              <a:rPr lang="en-US" dirty="0" err="1">
                <a:latin typeface="Comic Sans MS" panose="030F0702030302020204" pitchFamily="66" charset="0"/>
              </a:rPr>
              <a:t>dalam</a:t>
            </a:r>
            <a:r>
              <a:rPr lang="en-US" dirty="0">
                <a:latin typeface="Comic Sans MS" panose="030F0702030302020204" pitchFamily="66" charset="0"/>
              </a:rPr>
              <a:t> </a:t>
            </a:r>
            <a:r>
              <a:rPr lang="en-US" dirty="0" err="1">
                <a:latin typeface="Comic Sans MS" panose="030F0702030302020204" pitchFamily="66" charset="0"/>
              </a:rPr>
              <a:t>vaccum</a:t>
            </a:r>
            <a:r>
              <a:rPr lang="en-US" dirty="0">
                <a:latin typeface="Comic Sans MS" panose="030F0702030302020204" pitchFamily="66" charset="0"/>
              </a:rPr>
              <a:t> chamber </a:t>
            </a:r>
            <a:r>
              <a:rPr lang="en-US" dirty="0" err="1">
                <a:latin typeface="Comic Sans MS" panose="030F0702030302020204" pitchFamily="66" charset="0"/>
              </a:rPr>
              <a:t>tetap</a:t>
            </a:r>
            <a:r>
              <a:rPr lang="en-US" dirty="0">
                <a:latin typeface="Comic Sans MS" panose="030F0702030302020204" pitchFamily="66" charset="0"/>
              </a:rPr>
              <a:t> </a:t>
            </a:r>
            <a:r>
              <a:rPr lang="en-US" dirty="0" err="1">
                <a:latin typeface="Comic Sans MS" panose="030F0702030302020204" pitchFamily="66" charset="0"/>
              </a:rPr>
              <a:t>dibawah</a:t>
            </a:r>
            <a:r>
              <a:rPr lang="en-US" dirty="0">
                <a:latin typeface="Comic Sans MS" panose="030F0702030302020204" pitchFamily="66" charset="0"/>
              </a:rPr>
              <a:t> </a:t>
            </a:r>
            <a:r>
              <a:rPr lang="en-US" dirty="0" err="1">
                <a:latin typeface="Comic Sans MS" panose="030F0702030302020204" pitchFamily="66" charset="0"/>
              </a:rPr>
              <a:t>batas</a:t>
            </a:r>
            <a:r>
              <a:rPr lang="en-US" dirty="0">
                <a:latin typeface="Comic Sans MS" panose="030F0702030302020204" pitchFamily="66" charset="0"/>
              </a:rPr>
              <a:t> normal</a:t>
            </a:r>
          </a:p>
          <a:p>
            <a:pPr lvl="1">
              <a:spcAft>
                <a:spcPts val="600"/>
              </a:spcAft>
              <a:buFont typeface="Wingdings" panose="05000000000000000000" pitchFamily="2" charset="2"/>
              <a:buChar char="Ø"/>
            </a:pPr>
            <a:r>
              <a:rPr lang="en-US" dirty="0">
                <a:latin typeface="Comic Sans MS" panose="030F0702030302020204" pitchFamily="66" charset="0"/>
              </a:rPr>
              <a:t>Jaga agar </a:t>
            </a:r>
            <a:r>
              <a:rPr lang="en-US" dirty="0" err="1">
                <a:latin typeface="Comic Sans MS" panose="030F0702030302020204" pitchFamily="66" charset="0"/>
              </a:rPr>
              <a:t>tak</a:t>
            </a:r>
            <a:r>
              <a:rPr lang="en-US" dirty="0">
                <a:latin typeface="Comic Sans MS" panose="030F0702030302020204" pitchFamily="66" charset="0"/>
              </a:rPr>
              <a:t> </a:t>
            </a:r>
            <a:r>
              <a:rPr lang="en-US" dirty="0" err="1">
                <a:latin typeface="Comic Sans MS" panose="030F0702030302020204" pitchFamily="66" charset="0"/>
              </a:rPr>
              <a:t>terdapat</a:t>
            </a:r>
            <a:r>
              <a:rPr lang="en-US" dirty="0">
                <a:latin typeface="Comic Sans MS" panose="030F0702030302020204" pitchFamily="66" charset="0"/>
              </a:rPr>
              <a:t> “</a:t>
            </a:r>
            <a:r>
              <a:rPr lang="en-US" dirty="0" err="1">
                <a:latin typeface="Comic Sans MS" panose="030F0702030302020204" pitchFamily="66" charset="0"/>
              </a:rPr>
              <a:t>buih</a:t>
            </a:r>
            <a:r>
              <a:rPr lang="en-US" dirty="0">
                <a:latin typeface="Comic Sans MS" panose="030F0702030302020204" pitchFamily="66" charset="0"/>
              </a:rPr>
              <a:t>” </a:t>
            </a:r>
            <a:r>
              <a:rPr lang="en-US" dirty="0" err="1">
                <a:latin typeface="Comic Sans MS" panose="030F0702030302020204" pitchFamily="66" charset="0"/>
              </a:rPr>
              <a:t>diatas</a:t>
            </a:r>
            <a:r>
              <a:rPr lang="en-US" dirty="0">
                <a:latin typeface="Comic Sans MS" panose="030F0702030302020204" pitchFamily="66" charset="0"/>
              </a:rPr>
              <a:t> </a:t>
            </a:r>
            <a:r>
              <a:rPr lang="en-US" dirty="0" err="1">
                <a:latin typeface="Comic Sans MS" panose="030F0702030302020204" pitchFamily="66" charset="0"/>
              </a:rPr>
              <a:t>minyak</a:t>
            </a:r>
            <a:r>
              <a:rPr lang="en-US" dirty="0">
                <a:latin typeface="Comic Sans MS" panose="030F0702030302020204" pitchFamily="66" charset="0"/>
              </a:rPr>
              <a:t> </a:t>
            </a:r>
            <a:r>
              <a:rPr lang="en-US" dirty="0" err="1">
                <a:latin typeface="Comic Sans MS" panose="030F0702030302020204" pitchFamily="66" charset="0"/>
              </a:rPr>
              <a:t>dalam</a:t>
            </a:r>
            <a:r>
              <a:rPr lang="en-US" dirty="0">
                <a:latin typeface="Comic Sans MS" panose="030F0702030302020204" pitchFamily="66" charset="0"/>
              </a:rPr>
              <a:t> </a:t>
            </a:r>
            <a:r>
              <a:rPr lang="en-US" dirty="0" err="1">
                <a:latin typeface="Comic Sans MS" panose="030F0702030302020204" pitchFamily="66" charset="0"/>
              </a:rPr>
              <a:t>vaccum</a:t>
            </a:r>
            <a:r>
              <a:rPr lang="en-US" dirty="0">
                <a:latin typeface="Comic Sans MS" panose="030F0702030302020204" pitchFamily="66" charset="0"/>
              </a:rPr>
              <a:t> chamber</a:t>
            </a:r>
          </a:p>
          <a:p>
            <a:pPr lvl="1">
              <a:spcAft>
                <a:spcPts val="600"/>
              </a:spcAft>
              <a:buFont typeface="Wingdings" panose="05000000000000000000" pitchFamily="2" charset="2"/>
              <a:buChar char="Ø"/>
            </a:pPr>
            <a:r>
              <a:rPr lang="en-US" dirty="0" err="1">
                <a:latin typeface="Comic Sans MS" panose="030F0702030302020204" pitchFamily="66" charset="0"/>
              </a:rPr>
              <a:t>Jangan</a:t>
            </a:r>
            <a:r>
              <a:rPr lang="en-US" dirty="0">
                <a:latin typeface="Comic Sans MS" panose="030F0702030302020204" pitchFamily="66" charset="0"/>
              </a:rPr>
              <a:t> </a:t>
            </a:r>
            <a:r>
              <a:rPr lang="en-US" dirty="0" err="1">
                <a:latin typeface="Comic Sans MS" panose="030F0702030302020204" pitchFamily="66" charset="0"/>
              </a:rPr>
              <a:t>tergantung</a:t>
            </a:r>
            <a:r>
              <a:rPr lang="en-US" dirty="0">
                <a:latin typeface="Comic Sans MS" panose="030F0702030302020204" pitchFamily="66" charset="0"/>
              </a:rPr>
              <a:t> cycle, </a:t>
            </a:r>
            <a:r>
              <a:rPr lang="en-US" dirty="0" err="1">
                <a:latin typeface="Comic Sans MS" panose="030F0702030302020204" pitchFamily="66" charset="0"/>
              </a:rPr>
              <a:t>tetapi</a:t>
            </a:r>
            <a:r>
              <a:rPr lang="en-US" dirty="0">
                <a:latin typeface="Comic Sans MS" panose="030F0702030302020204" pitchFamily="66" charset="0"/>
              </a:rPr>
              <a:t> </a:t>
            </a:r>
            <a:r>
              <a:rPr lang="en-US" dirty="0" err="1">
                <a:latin typeface="Comic Sans MS" panose="030F0702030302020204" pitchFamily="66" charset="0"/>
              </a:rPr>
              <a:t>hasil</a:t>
            </a:r>
            <a:r>
              <a:rPr lang="en-US" dirty="0">
                <a:latin typeface="Comic Sans MS" panose="030F0702030302020204" pitchFamily="66" charset="0"/>
              </a:rPr>
              <a:t> </a:t>
            </a:r>
            <a:r>
              <a:rPr lang="en-US" dirty="0" err="1">
                <a:latin typeface="Comic Sans MS" panose="030F0702030302020204" pitchFamily="66" charset="0"/>
              </a:rPr>
              <a:t>purifikasi</a:t>
            </a:r>
            <a:endParaRPr lang="en-US" dirty="0">
              <a:latin typeface="Comic Sans MS" panose="030F0702030302020204" pitchFamily="66" charset="0"/>
            </a:endParaRPr>
          </a:p>
          <a:p>
            <a:pPr lvl="1">
              <a:spcAft>
                <a:spcPts val="600"/>
              </a:spcAft>
              <a:buFont typeface="Wingdings" panose="05000000000000000000" pitchFamily="2" charset="2"/>
              <a:buChar char="Ø"/>
            </a:pPr>
            <a:r>
              <a:rPr lang="en-US" dirty="0" err="1">
                <a:solidFill>
                  <a:srgbClr val="0070C0"/>
                </a:solidFill>
                <a:latin typeface="Comic Sans MS" panose="030F0702030302020204" pitchFamily="66" charset="0"/>
              </a:rPr>
              <a:t>Pengambilan</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contoh</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untuk</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ditest</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ambilah</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dari</a:t>
            </a:r>
            <a:r>
              <a:rPr lang="en-US" dirty="0">
                <a:solidFill>
                  <a:srgbClr val="0070C0"/>
                </a:solidFill>
                <a:latin typeface="Comic Sans MS" panose="030F0702030302020204" pitchFamily="66" charset="0"/>
              </a:rPr>
              <a:t> pot </a:t>
            </a:r>
            <a:r>
              <a:rPr lang="en-US" dirty="0" err="1">
                <a:solidFill>
                  <a:srgbClr val="0070C0"/>
                </a:solidFill>
                <a:latin typeface="Comic Sans MS" panose="030F0702030302020204" pitchFamily="66" charset="0"/>
              </a:rPr>
              <a:t>bawah</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trafo</a:t>
            </a:r>
            <a:endParaRPr lang="en-US" dirty="0">
              <a:solidFill>
                <a:srgbClr val="0070C0"/>
              </a:solidFill>
              <a:latin typeface="Comic Sans MS" panose="030F0702030302020204" pitchFamily="66" charset="0"/>
            </a:endParaRPr>
          </a:p>
          <a:p>
            <a:pPr>
              <a:spcAft>
                <a:spcPts val="600"/>
              </a:spcAft>
              <a:buFont typeface="Wingdings" panose="05000000000000000000" pitchFamily="2" charset="2"/>
              <a:buChar char="ü"/>
            </a:pPr>
            <a:endParaRPr lang="en-US" sz="1400" dirty="0">
              <a:solidFill>
                <a:srgbClr val="0070C0"/>
              </a:solidFill>
              <a:latin typeface="Comic Sans MS" panose="030F0702030302020204" pitchFamily="66" charset="0"/>
            </a:endParaRPr>
          </a:p>
          <a:p>
            <a:pPr>
              <a:spcAft>
                <a:spcPts val="600"/>
              </a:spcAft>
              <a:buFont typeface="Wingdings" panose="05000000000000000000" pitchFamily="2" charset="2"/>
              <a:buChar char="ü"/>
            </a:pPr>
            <a:r>
              <a:rPr lang="en-US" sz="2600" dirty="0" err="1">
                <a:solidFill>
                  <a:srgbClr val="0070C0"/>
                </a:solidFill>
                <a:latin typeface="Comic Sans MS" panose="030F0702030302020204" pitchFamily="66" charset="0"/>
              </a:rPr>
              <a:t>Catatan</a:t>
            </a:r>
            <a:r>
              <a:rPr lang="en-US" sz="2600" dirty="0">
                <a:solidFill>
                  <a:srgbClr val="0070C0"/>
                </a:solidFill>
                <a:latin typeface="Comic Sans MS" panose="030F0702030302020204" pitchFamily="66" charset="0"/>
              </a:rPr>
              <a:t> : </a:t>
            </a:r>
            <a:r>
              <a:rPr lang="en-US" sz="2600" dirty="0" err="1">
                <a:solidFill>
                  <a:srgbClr val="0070C0"/>
                </a:solidFill>
                <a:latin typeface="Comic Sans MS" panose="030F0702030302020204" pitchFamily="66" charset="0"/>
              </a:rPr>
              <a:t>Kalau</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saat</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mulai</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purifikasi</a:t>
            </a:r>
            <a:r>
              <a:rPr lang="en-US" sz="2600" dirty="0">
                <a:solidFill>
                  <a:srgbClr val="0070C0"/>
                </a:solidFill>
                <a:latin typeface="Comic Sans MS" panose="030F0702030302020204" pitchFamily="66" charset="0"/>
              </a:rPr>
              <a:t> moisture </a:t>
            </a:r>
            <a:r>
              <a:rPr lang="en-US" sz="2600" dirty="0" err="1">
                <a:solidFill>
                  <a:srgbClr val="0070C0"/>
                </a:solidFill>
                <a:latin typeface="Comic Sans MS" panose="030F0702030302020204" pitchFamily="66" charset="0"/>
              </a:rPr>
              <a:t>sudah</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pada</a:t>
            </a:r>
            <a:r>
              <a:rPr lang="en-US" sz="2600" dirty="0">
                <a:solidFill>
                  <a:srgbClr val="0070C0"/>
                </a:solidFill>
                <a:latin typeface="Comic Sans MS" panose="030F0702030302020204" pitchFamily="66" charset="0"/>
              </a:rPr>
              <a:t> “Grade D” </a:t>
            </a:r>
            <a:r>
              <a:rPr lang="en-US" sz="2600" dirty="0" err="1">
                <a:solidFill>
                  <a:srgbClr val="0070C0"/>
                </a:solidFill>
                <a:latin typeface="Comic Sans MS" panose="030F0702030302020204" pitchFamily="66" charset="0"/>
              </a:rPr>
              <a:t>atau</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lebih</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jangan</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terlalu</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berharap</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hasil</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sekali</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purifikasi</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akan</a:t>
            </a:r>
            <a:r>
              <a:rPr lang="en-US" sz="2600" dirty="0">
                <a:solidFill>
                  <a:srgbClr val="0070C0"/>
                </a:solidFill>
                <a:latin typeface="Comic Sans MS" panose="030F0702030302020204" pitchFamily="66" charset="0"/>
              </a:rPr>
              <a:t> </a:t>
            </a:r>
            <a:r>
              <a:rPr lang="en-US" sz="2600" dirty="0" err="1">
                <a:solidFill>
                  <a:srgbClr val="0070C0"/>
                </a:solidFill>
                <a:latin typeface="Comic Sans MS" panose="030F0702030302020204" pitchFamily="66" charset="0"/>
              </a:rPr>
              <a:t>mencapai</a:t>
            </a:r>
            <a:r>
              <a:rPr lang="en-US" sz="2600" dirty="0">
                <a:solidFill>
                  <a:srgbClr val="0070C0"/>
                </a:solidFill>
                <a:latin typeface="Comic Sans MS" panose="030F0702030302020204" pitchFamily="66" charset="0"/>
              </a:rPr>
              <a:t> “grade B”</a:t>
            </a:r>
          </a:p>
          <a:p>
            <a:pPr marL="0" indent="0">
              <a:buNone/>
            </a:pPr>
            <a:endParaRPr lang="en-US" dirty="0">
              <a:solidFill>
                <a:srgbClr val="0070C0"/>
              </a:solidFill>
              <a:latin typeface="Comic Sans MS" panose="030F0702030302020204" pitchFamily="66" charset="0"/>
            </a:endParaRPr>
          </a:p>
        </p:txBody>
      </p:sp>
    </p:spTree>
    <p:extLst>
      <p:ext uri="{BB962C8B-B14F-4D97-AF65-F5344CB8AC3E}">
        <p14:creationId xmlns:p14="http://schemas.microsoft.com/office/powerpoint/2010/main" val="2626912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id-ID" b="1" dirty="0">
                <a:latin typeface="Comic Sans MS" panose="030F0702030302020204" pitchFamily="66" charset="0"/>
              </a:rPr>
              <a:t>standar minyak trafo</a:t>
            </a:r>
            <a:endParaRPr lang="id-ID" dirty="0">
              <a:latin typeface="Comic Sans MS" panose="030F0702030302020204" pitchFamily="66"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06533"/>
              </p:ext>
            </p:extLst>
          </p:nvPr>
        </p:nvGraphicFramePr>
        <p:xfrm>
          <a:off x="528033" y="1690687"/>
          <a:ext cx="11153105" cy="3996148"/>
        </p:xfrm>
        <a:graphic>
          <a:graphicData uri="http://schemas.openxmlformats.org/drawingml/2006/table">
            <a:tbl>
              <a:tblPr/>
              <a:tblGrid>
                <a:gridCol w="4250029">
                  <a:extLst>
                    <a:ext uri="{9D8B030D-6E8A-4147-A177-3AD203B41FA5}">
                      <a16:colId xmlns:a16="http://schemas.microsoft.com/office/drawing/2014/main" val="20000"/>
                    </a:ext>
                  </a:extLst>
                </a:gridCol>
                <a:gridCol w="2112135">
                  <a:extLst>
                    <a:ext uri="{9D8B030D-6E8A-4147-A177-3AD203B41FA5}">
                      <a16:colId xmlns:a16="http://schemas.microsoft.com/office/drawing/2014/main" val="20001"/>
                    </a:ext>
                  </a:extLst>
                </a:gridCol>
                <a:gridCol w="2331076">
                  <a:extLst>
                    <a:ext uri="{9D8B030D-6E8A-4147-A177-3AD203B41FA5}">
                      <a16:colId xmlns:a16="http://schemas.microsoft.com/office/drawing/2014/main" val="20002"/>
                    </a:ext>
                  </a:extLst>
                </a:gridCol>
                <a:gridCol w="2459865">
                  <a:extLst>
                    <a:ext uri="{9D8B030D-6E8A-4147-A177-3AD203B41FA5}">
                      <a16:colId xmlns:a16="http://schemas.microsoft.com/office/drawing/2014/main" val="20003"/>
                    </a:ext>
                  </a:extLst>
                </a:gridCol>
              </a:tblGrid>
              <a:tr h="592757">
                <a:tc>
                  <a:txBody>
                    <a:bodyPr/>
                    <a:lstStyle/>
                    <a:p>
                      <a:pPr algn="ctr">
                        <a:lnSpc>
                          <a:spcPct val="115000"/>
                        </a:lnSpc>
                        <a:spcAft>
                          <a:spcPts val="0"/>
                        </a:spcAft>
                      </a:pPr>
                      <a:r>
                        <a:rPr lang="id-ID" sz="22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TYPE TEST</a:t>
                      </a:r>
                      <a:endParaRPr lang="id-ID" sz="2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2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STANDARD IN SERVICE</a:t>
                      </a:r>
                      <a:endParaRPr lang="id-ID"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2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PURIFICATION</a:t>
                      </a:r>
                      <a:endParaRPr lang="id-ID" sz="2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200" b="1" baseline="0" dirty="0">
                          <a:solidFill>
                            <a:schemeClr val="bg2">
                              <a:lumMod val="75000"/>
                            </a:schemeClr>
                          </a:solidFill>
                          <a:effectLst/>
                          <a:latin typeface="Comic Sans MS" panose="030F0702030302020204" pitchFamily="66" charset="0"/>
                          <a:ea typeface="Calibri" panose="020F0502020204030204" pitchFamily="34" charset="0"/>
                          <a:cs typeface="Times New Roman" panose="02020603050405020304" pitchFamily="18" charset="0"/>
                        </a:rPr>
                        <a:t>REGENERATION</a:t>
                      </a:r>
                      <a:endParaRPr lang="id-ID" sz="2200" baseline="0" dirty="0">
                        <a:solidFill>
                          <a:schemeClr val="bg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43361">
                <a:tc>
                  <a:txBody>
                    <a:bodyPr/>
                    <a:lstStyle/>
                    <a:p>
                      <a:pPr>
                        <a:lnSpc>
                          <a:spcPct val="115000"/>
                        </a:lnSpc>
                        <a:spcAft>
                          <a:spcPts val="0"/>
                        </a:spcAft>
                      </a:pPr>
                      <a:r>
                        <a:rPr lang="id-ID"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Water </a:t>
                      </a: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(mg/Kg) (ASTM 1533)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20-30 max </a:t>
                      </a:r>
                      <a:endParaRPr lang="id-ID"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10 max </a:t>
                      </a:r>
                      <a:endParaRPr lang="id-ID"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baseline="0" dirty="0">
                          <a:solidFill>
                            <a:schemeClr val="bg2">
                              <a:lumMod val="75000"/>
                            </a:schemeClr>
                          </a:solidFill>
                          <a:effectLst/>
                          <a:latin typeface="Comic Sans MS" panose="030F0702030302020204" pitchFamily="66" charset="0"/>
                          <a:ea typeface="Calibri" panose="020F0502020204030204" pitchFamily="34" charset="0"/>
                          <a:cs typeface="Times New Roman" panose="02020603050405020304" pitchFamily="18" charset="0"/>
                        </a:rPr>
                        <a:t>10 max </a:t>
                      </a:r>
                      <a:endParaRPr lang="id-ID" sz="2000" baseline="0" dirty="0">
                        <a:solidFill>
                          <a:schemeClr val="bg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3361">
                <a:tc>
                  <a:txBody>
                    <a:bodyPr/>
                    <a:lstStyle/>
                    <a:p>
                      <a:pPr>
                        <a:lnSpc>
                          <a:spcPct val="115000"/>
                        </a:lnSpc>
                        <a:spcAft>
                          <a:spcPts val="0"/>
                        </a:spcAft>
                      </a:pPr>
                      <a:r>
                        <a:rPr lang="id-ID"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Electric Strength </a:t>
                      </a: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(kV) (IEC 156)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30-50 min </a:t>
                      </a:r>
                      <a:endParaRPr lang="id-ID"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70 min </a:t>
                      </a:r>
                      <a:endParaRPr lang="id-ID"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baseline="0" dirty="0">
                          <a:solidFill>
                            <a:schemeClr val="bg2">
                              <a:lumMod val="75000"/>
                            </a:schemeClr>
                          </a:solidFill>
                          <a:effectLst/>
                          <a:latin typeface="Comic Sans MS" panose="030F0702030302020204" pitchFamily="66" charset="0"/>
                          <a:ea typeface="Calibri" panose="020F0502020204030204" pitchFamily="34" charset="0"/>
                          <a:cs typeface="Times New Roman" panose="02020603050405020304" pitchFamily="18" charset="0"/>
                        </a:rPr>
                        <a:t>70 min </a:t>
                      </a:r>
                      <a:endParaRPr lang="id-ID" sz="2000" baseline="0" dirty="0">
                        <a:solidFill>
                          <a:schemeClr val="bg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3361">
                <a:tc>
                  <a:txBody>
                    <a:bodyPr/>
                    <a:lstStyle/>
                    <a:p>
                      <a:pPr>
                        <a:lnSpc>
                          <a:spcPct val="115000"/>
                        </a:lnSpc>
                        <a:spcAft>
                          <a:spcPts val="0"/>
                        </a:spcAft>
                      </a:pPr>
                      <a:r>
                        <a:rPr lang="id-ID"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Acidity</a:t>
                      </a: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(mg/KOH/g oil) (IEC 296)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0.20 max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N/A </a:t>
                      </a:r>
                      <a:endParaRPr lang="id-ID"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baseline="0" dirty="0">
                          <a:solidFill>
                            <a:schemeClr val="bg2">
                              <a:lumMod val="75000"/>
                            </a:schemeClr>
                          </a:solidFill>
                          <a:effectLst/>
                          <a:latin typeface="Comic Sans MS" panose="030F0702030302020204" pitchFamily="66" charset="0"/>
                          <a:ea typeface="Calibri" panose="020F0502020204030204" pitchFamily="34" charset="0"/>
                          <a:cs typeface="Times New Roman" panose="02020603050405020304" pitchFamily="18" charset="0"/>
                        </a:rPr>
                        <a:t>0.20 max </a:t>
                      </a:r>
                      <a:endParaRPr lang="id-ID" sz="2000" baseline="0" dirty="0">
                        <a:solidFill>
                          <a:schemeClr val="bg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3361">
                <a:tc>
                  <a:txBody>
                    <a:bodyPr/>
                    <a:lstStyle/>
                    <a:p>
                      <a:pPr>
                        <a:lnSpc>
                          <a:spcPct val="115000"/>
                        </a:lnSpc>
                        <a:spcAft>
                          <a:spcPts val="0"/>
                        </a:spcAft>
                      </a:pPr>
                      <a:r>
                        <a:rPr lang="id-ID"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InterfacialTension</a:t>
                      </a: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(mN/m)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0"/>
                        </a:spcAft>
                      </a:pP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(ASTM D971)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15 max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N/A </a:t>
                      </a:r>
                      <a:endParaRPr lang="id-ID"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baseline="0" dirty="0">
                          <a:solidFill>
                            <a:schemeClr val="bg2">
                              <a:lumMod val="75000"/>
                            </a:schemeClr>
                          </a:solidFill>
                          <a:effectLst/>
                          <a:latin typeface="Comic Sans MS" panose="030F0702030302020204" pitchFamily="66" charset="0"/>
                          <a:ea typeface="Calibri" panose="020F0502020204030204" pitchFamily="34" charset="0"/>
                          <a:cs typeface="Times New Roman" panose="02020603050405020304" pitchFamily="18" charset="0"/>
                        </a:rPr>
                        <a:t>35 min </a:t>
                      </a:r>
                      <a:endParaRPr lang="id-ID" sz="2000" baseline="0" dirty="0">
                        <a:solidFill>
                          <a:schemeClr val="bg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1680">
                <a:tc>
                  <a:txBody>
                    <a:bodyPr/>
                    <a:lstStyle/>
                    <a:p>
                      <a:pPr>
                        <a:lnSpc>
                          <a:spcPct val="115000"/>
                        </a:lnSpc>
                        <a:spcAft>
                          <a:spcPts val="0"/>
                        </a:spcAft>
                      </a:pPr>
                      <a:r>
                        <a:rPr lang="id-ID"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Oil Quality </a:t>
                      </a:r>
                      <a:r>
                        <a:rPr lang="id-ID" sz="2000" b="1">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Index (IFT/NN)</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160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N/A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baseline="0" dirty="0">
                          <a:solidFill>
                            <a:schemeClr val="bg2">
                              <a:lumMod val="75000"/>
                            </a:schemeClr>
                          </a:solidFill>
                          <a:effectLst/>
                          <a:latin typeface="Comic Sans MS" panose="030F0702030302020204" pitchFamily="66" charset="0"/>
                          <a:ea typeface="Calibri" panose="020F0502020204030204" pitchFamily="34" charset="0"/>
                          <a:cs typeface="Times New Roman" panose="02020603050405020304" pitchFamily="18" charset="0"/>
                        </a:rPr>
                        <a:t>300 min </a:t>
                      </a:r>
                      <a:endParaRPr lang="id-ID" sz="2000" baseline="0" dirty="0">
                        <a:solidFill>
                          <a:schemeClr val="bg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3361">
                <a:tc>
                  <a:txBody>
                    <a:bodyPr/>
                    <a:lstStyle/>
                    <a:p>
                      <a:pPr>
                        <a:lnSpc>
                          <a:spcPct val="115000"/>
                        </a:lnSpc>
                        <a:spcAft>
                          <a:spcPts val="0"/>
                        </a:spcAft>
                      </a:pPr>
                      <a:r>
                        <a:rPr lang="id-ID"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Dissolved Gas  </a:t>
                      </a: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(ASTMD-2945)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Refer to Note 3</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1.0% max </a:t>
                      </a:r>
                      <a:endParaRPr lang="id-ID"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id-ID" sz="2000" baseline="0" dirty="0">
                          <a:solidFill>
                            <a:schemeClr val="bg2">
                              <a:lumMod val="75000"/>
                            </a:schemeClr>
                          </a:solidFill>
                          <a:effectLst/>
                          <a:latin typeface="Comic Sans MS" panose="030F0702030302020204" pitchFamily="66" charset="0"/>
                          <a:ea typeface="Calibri" panose="020F0502020204030204" pitchFamily="34" charset="0"/>
                          <a:cs typeface="Times New Roman" panose="02020603050405020304" pitchFamily="18" charset="0"/>
                        </a:rPr>
                        <a:t>1.0% max </a:t>
                      </a:r>
                      <a:endParaRPr lang="id-ID" sz="2000" baseline="0" dirty="0">
                        <a:solidFill>
                          <a:schemeClr val="bg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78169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549</TotalTime>
  <Words>1385</Words>
  <Application>Microsoft Office PowerPoint</Application>
  <PresentationFormat>Widescreen</PresentationFormat>
  <Paragraphs>142</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Comic Sans MS</vt:lpstr>
      <vt:lpstr>Times New Roman</vt:lpstr>
      <vt:lpstr>Wingdings</vt:lpstr>
      <vt:lpstr>Office Theme</vt:lpstr>
      <vt:lpstr>purifikasi</vt:lpstr>
      <vt:lpstr>prakata</vt:lpstr>
      <vt:lpstr>tujuan purifikasi</vt:lpstr>
      <vt:lpstr>tujuan purifikasi</vt:lpstr>
      <vt:lpstr>contoh diagram purifikasi</vt:lpstr>
      <vt:lpstr>gambaran hasil purifikasi</vt:lpstr>
      <vt:lpstr>tatacara purifikasi</vt:lpstr>
      <vt:lpstr>tatacara purifikasi</vt:lpstr>
      <vt:lpstr>tatacara purifikasi</vt:lpstr>
      <vt:lpstr>tatacara purifikasi</vt:lpstr>
      <vt:lpstr>tatacara purifikasi</vt:lpstr>
      <vt:lpstr>gambaran aliran minyak dalam transformator  saat operasi maupun purifikasi</vt:lpstr>
      <vt:lpstr>contoh hubungan purifikasi</vt:lpstr>
      <vt:lpstr>contoh hubungan purifikasi</vt:lpstr>
      <vt:lpstr>tatacara pelaksanaan purifikasi</vt:lpstr>
      <vt:lpstr>tatacara pelaksanaan purifikasi</vt:lpstr>
      <vt:lpstr>tatacara pelaksanaan purifikasi</vt:lpstr>
      <vt:lpstr>standar minyak trafo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purifikasi</dc:title>
  <dc:creator>owner</dc:creator>
  <cp:lastModifiedBy>Soetjahjono</cp:lastModifiedBy>
  <cp:revision>84</cp:revision>
  <dcterms:created xsi:type="dcterms:W3CDTF">2014-10-04T12:01:42Z</dcterms:created>
  <dcterms:modified xsi:type="dcterms:W3CDTF">2017-06-10T22:43:40Z</dcterms:modified>
</cp:coreProperties>
</file>