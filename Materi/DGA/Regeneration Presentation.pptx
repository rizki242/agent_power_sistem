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9" r:id="rId8"/>
    <p:sldId id="262" r:id="rId9"/>
    <p:sldId id="276" r:id="rId10"/>
    <p:sldId id="277" r:id="rId11"/>
    <p:sldId id="278" r:id="rId12"/>
    <p:sldId id="263" r:id="rId13"/>
    <p:sldId id="280"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080" autoAdjust="0"/>
    <p:restoredTop sz="94660"/>
  </p:normalViewPr>
  <p:slideViewPr>
    <p:cSldViewPr snapToGrid="0">
      <p:cViewPr varScale="1">
        <p:scale>
          <a:sx n="69" d="100"/>
          <a:sy n="69" d="100"/>
        </p:scale>
        <p:origin x="84"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id-ID"/>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p>
            <a:fld id="{69AC5B11-BECC-4F65-B82F-FB81E9489CA9}" type="datetimeFigureOut">
              <a:rPr lang="id-ID" smtClean="0"/>
              <a:t>19/05/2016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3EF89887-AB38-4864-A787-C406E7312ABE}" type="slidenum">
              <a:rPr lang="id-ID" smtClean="0"/>
              <a:t>‹#›</a:t>
            </a:fld>
            <a:endParaRPr lang="id-ID"/>
          </a:p>
        </p:txBody>
      </p:sp>
    </p:spTree>
    <p:extLst>
      <p:ext uri="{BB962C8B-B14F-4D97-AF65-F5344CB8AC3E}">
        <p14:creationId xmlns:p14="http://schemas.microsoft.com/office/powerpoint/2010/main" val="2713200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p>
            <a:fld id="{69AC5B11-BECC-4F65-B82F-FB81E9489CA9}" type="datetimeFigureOut">
              <a:rPr lang="id-ID" smtClean="0"/>
              <a:t>19/05/2016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3EF89887-AB38-4864-A787-C406E7312ABE}" type="slidenum">
              <a:rPr lang="id-ID" smtClean="0"/>
              <a:t>‹#›</a:t>
            </a:fld>
            <a:endParaRPr lang="id-ID"/>
          </a:p>
        </p:txBody>
      </p:sp>
    </p:spTree>
    <p:extLst>
      <p:ext uri="{BB962C8B-B14F-4D97-AF65-F5344CB8AC3E}">
        <p14:creationId xmlns:p14="http://schemas.microsoft.com/office/powerpoint/2010/main" val="376352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id-ID"/>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9AC5B11-BECC-4F65-B82F-FB81E9489CA9}" type="datetimeFigureOut">
              <a:rPr lang="id-ID" smtClean="0"/>
              <a:t>19/05/2016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3EF89887-AB38-4864-A787-C406E7312ABE}" type="slidenum">
              <a:rPr lang="id-ID" smtClean="0"/>
              <a:t>‹#›</a:t>
            </a:fld>
            <a:endParaRPr lang="id-ID"/>
          </a:p>
        </p:txBody>
      </p:sp>
    </p:spTree>
    <p:extLst>
      <p:ext uri="{BB962C8B-B14F-4D97-AF65-F5344CB8AC3E}">
        <p14:creationId xmlns:p14="http://schemas.microsoft.com/office/powerpoint/2010/main" val="3700221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Date Placeholder 4"/>
          <p:cNvSpPr>
            <a:spLocks noGrp="1"/>
          </p:cNvSpPr>
          <p:nvPr>
            <p:ph type="dt" sz="half" idx="10"/>
          </p:nvPr>
        </p:nvSpPr>
        <p:spPr/>
        <p:txBody>
          <a:bodyPr/>
          <a:lstStyle/>
          <a:p>
            <a:fld id="{69AC5B11-BECC-4F65-B82F-FB81E9489CA9}" type="datetimeFigureOut">
              <a:rPr lang="id-ID" smtClean="0"/>
              <a:t>19/05/2016</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3EF89887-AB38-4864-A787-C406E7312ABE}" type="slidenum">
              <a:rPr lang="id-ID" smtClean="0"/>
              <a:t>‹#›</a:t>
            </a:fld>
            <a:endParaRPr lang="id-ID"/>
          </a:p>
        </p:txBody>
      </p:sp>
    </p:spTree>
    <p:extLst>
      <p:ext uri="{BB962C8B-B14F-4D97-AF65-F5344CB8AC3E}">
        <p14:creationId xmlns:p14="http://schemas.microsoft.com/office/powerpoint/2010/main" val="2923903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id-ID"/>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6"/>
          <p:cNvSpPr>
            <a:spLocks noGrp="1"/>
          </p:cNvSpPr>
          <p:nvPr>
            <p:ph type="dt" sz="half" idx="10"/>
          </p:nvPr>
        </p:nvSpPr>
        <p:spPr/>
        <p:txBody>
          <a:bodyPr/>
          <a:lstStyle/>
          <a:p>
            <a:fld id="{69AC5B11-BECC-4F65-B82F-FB81E9489CA9}" type="datetimeFigureOut">
              <a:rPr lang="id-ID" smtClean="0"/>
              <a:t>19/05/2016</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3EF89887-AB38-4864-A787-C406E7312ABE}" type="slidenum">
              <a:rPr lang="id-ID" smtClean="0"/>
              <a:t>‹#›</a:t>
            </a:fld>
            <a:endParaRPr lang="id-ID"/>
          </a:p>
        </p:txBody>
      </p:sp>
    </p:spTree>
    <p:extLst>
      <p:ext uri="{BB962C8B-B14F-4D97-AF65-F5344CB8AC3E}">
        <p14:creationId xmlns:p14="http://schemas.microsoft.com/office/powerpoint/2010/main" val="1107616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Date Placeholder 2"/>
          <p:cNvSpPr>
            <a:spLocks noGrp="1"/>
          </p:cNvSpPr>
          <p:nvPr>
            <p:ph type="dt" sz="half" idx="10"/>
          </p:nvPr>
        </p:nvSpPr>
        <p:spPr/>
        <p:txBody>
          <a:bodyPr/>
          <a:lstStyle/>
          <a:p>
            <a:fld id="{69AC5B11-BECC-4F65-B82F-FB81E9489CA9}" type="datetimeFigureOut">
              <a:rPr lang="id-ID" smtClean="0"/>
              <a:t>19/05/2016</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3EF89887-AB38-4864-A787-C406E7312ABE}" type="slidenum">
              <a:rPr lang="id-ID" smtClean="0"/>
              <a:t>‹#›</a:t>
            </a:fld>
            <a:endParaRPr lang="id-ID"/>
          </a:p>
        </p:txBody>
      </p:sp>
    </p:spTree>
    <p:extLst>
      <p:ext uri="{BB962C8B-B14F-4D97-AF65-F5344CB8AC3E}">
        <p14:creationId xmlns:p14="http://schemas.microsoft.com/office/powerpoint/2010/main" val="2497875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AC5B11-BECC-4F65-B82F-FB81E9489CA9}" type="datetimeFigureOut">
              <a:rPr lang="id-ID" smtClean="0"/>
              <a:t>19/05/2016</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3EF89887-AB38-4864-A787-C406E7312ABE}" type="slidenum">
              <a:rPr lang="id-ID" smtClean="0"/>
              <a:t>‹#›</a:t>
            </a:fld>
            <a:endParaRPr lang="id-ID"/>
          </a:p>
        </p:txBody>
      </p:sp>
    </p:spTree>
    <p:extLst>
      <p:ext uri="{BB962C8B-B14F-4D97-AF65-F5344CB8AC3E}">
        <p14:creationId xmlns:p14="http://schemas.microsoft.com/office/powerpoint/2010/main" val="1967495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id-ID"/>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9AC5B11-BECC-4F65-B82F-FB81E9489CA9}" type="datetimeFigureOut">
              <a:rPr lang="id-ID" smtClean="0"/>
              <a:t>19/05/2016</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3EF89887-AB38-4864-A787-C406E7312ABE}" type="slidenum">
              <a:rPr lang="id-ID" smtClean="0"/>
              <a:t>‹#›</a:t>
            </a:fld>
            <a:endParaRPr lang="id-ID"/>
          </a:p>
        </p:txBody>
      </p:sp>
    </p:spTree>
    <p:extLst>
      <p:ext uri="{BB962C8B-B14F-4D97-AF65-F5344CB8AC3E}">
        <p14:creationId xmlns:p14="http://schemas.microsoft.com/office/powerpoint/2010/main" val="1081909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id-ID"/>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9AC5B11-BECC-4F65-B82F-FB81E9489CA9}" type="datetimeFigureOut">
              <a:rPr lang="id-ID" smtClean="0"/>
              <a:t>19/05/2016</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3EF89887-AB38-4864-A787-C406E7312ABE}" type="slidenum">
              <a:rPr lang="id-ID" smtClean="0"/>
              <a:t>‹#›</a:t>
            </a:fld>
            <a:endParaRPr lang="id-ID"/>
          </a:p>
        </p:txBody>
      </p:sp>
    </p:spTree>
    <p:extLst>
      <p:ext uri="{BB962C8B-B14F-4D97-AF65-F5344CB8AC3E}">
        <p14:creationId xmlns:p14="http://schemas.microsoft.com/office/powerpoint/2010/main" val="4272246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p>
            <a:fld id="{69AC5B11-BECC-4F65-B82F-FB81E9489CA9}" type="datetimeFigureOut">
              <a:rPr lang="id-ID" smtClean="0"/>
              <a:t>19/05/2016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3EF89887-AB38-4864-A787-C406E7312ABE}" type="slidenum">
              <a:rPr lang="id-ID" smtClean="0"/>
              <a:t>‹#›</a:t>
            </a:fld>
            <a:endParaRPr lang="id-ID"/>
          </a:p>
        </p:txBody>
      </p:sp>
    </p:spTree>
    <p:extLst>
      <p:ext uri="{BB962C8B-B14F-4D97-AF65-F5344CB8AC3E}">
        <p14:creationId xmlns:p14="http://schemas.microsoft.com/office/powerpoint/2010/main" val="1196388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p>
            <a:fld id="{69AC5B11-BECC-4F65-B82F-FB81E9489CA9}" type="datetimeFigureOut">
              <a:rPr lang="id-ID" smtClean="0"/>
              <a:t>19/05/2016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3EF89887-AB38-4864-A787-C406E7312ABE}" type="slidenum">
              <a:rPr lang="id-ID" smtClean="0"/>
              <a:t>‹#›</a:t>
            </a:fld>
            <a:endParaRPr lang="id-ID"/>
          </a:p>
        </p:txBody>
      </p:sp>
    </p:spTree>
    <p:extLst>
      <p:ext uri="{BB962C8B-B14F-4D97-AF65-F5344CB8AC3E}">
        <p14:creationId xmlns:p14="http://schemas.microsoft.com/office/powerpoint/2010/main" val="1567643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id-ID"/>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AC5B11-BECC-4F65-B82F-FB81E9489CA9}" type="datetimeFigureOut">
              <a:rPr lang="id-ID" smtClean="0"/>
              <a:t>19/05/2016</a:t>
            </a:fld>
            <a:endParaRPr lang="id-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F89887-AB38-4864-A787-C406E7312ABE}" type="slidenum">
              <a:rPr lang="id-ID" smtClean="0"/>
              <a:t>‹#›</a:t>
            </a:fld>
            <a:endParaRPr lang="id-ID"/>
          </a:p>
        </p:txBody>
      </p:sp>
    </p:spTree>
    <p:extLst>
      <p:ext uri="{BB962C8B-B14F-4D97-AF65-F5344CB8AC3E}">
        <p14:creationId xmlns:p14="http://schemas.microsoft.com/office/powerpoint/2010/main" val="17196099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2608" y="0"/>
            <a:ext cx="11484864" cy="1754315"/>
          </a:xfrm>
        </p:spPr>
        <p:txBody>
          <a:bodyPr>
            <a:normAutofit fontScale="90000"/>
          </a:bodyPr>
          <a:lstStyle/>
          <a:p>
            <a:pPr>
              <a:lnSpc>
                <a:spcPct val="107000"/>
              </a:lnSpc>
            </a:pPr>
            <a:r>
              <a:rPr lang="id-ID" sz="4000" b="1" dirty="0" smtClean="0">
                <a:solidFill>
                  <a:srgbClr val="0070C0"/>
                </a:solidFill>
                <a:effectLst/>
                <a:latin typeface="Comic Sans MS" panose="030F0702030302020204" pitchFamily="66" charset="0"/>
                <a:ea typeface="Calibri" panose="020F0502020204030204" pitchFamily="34" charset="0"/>
                <a:cs typeface="Times New Roman" panose="02020603050405020304" pitchFamily="18" charset="0"/>
              </a:rPr>
              <a:t/>
            </a:r>
            <a:br>
              <a:rPr lang="id-ID" sz="4000" b="1" dirty="0" smtClean="0">
                <a:solidFill>
                  <a:srgbClr val="0070C0"/>
                </a:solidFill>
                <a:effectLst/>
                <a:latin typeface="Comic Sans MS" panose="030F0702030302020204" pitchFamily="66" charset="0"/>
                <a:ea typeface="Calibri" panose="020F0502020204030204" pitchFamily="34" charset="0"/>
                <a:cs typeface="Times New Roman" panose="02020603050405020304" pitchFamily="18" charset="0"/>
              </a:rPr>
            </a:br>
            <a:r>
              <a:rPr lang="id-ID" sz="4000" b="1" dirty="0">
                <a:solidFill>
                  <a:srgbClr val="0070C0"/>
                </a:solidFill>
                <a:latin typeface="Comic Sans MS" panose="030F0702030302020204" pitchFamily="66" charset="0"/>
                <a:ea typeface="Calibri" panose="020F0502020204030204" pitchFamily="34" charset="0"/>
                <a:cs typeface="Times New Roman" panose="02020603050405020304" pitchFamily="18" charset="0"/>
              </a:rPr>
              <a:t/>
            </a:r>
            <a:br>
              <a:rPr lang="id-ID" sz="4000" b="1" dirty="0">
                <a:solidFill>
                  <a:srgbClr val="0070C0"/>
                </a:solidFill>
                <a:latin typeface="Comic Sans MS" panose="030F0702030302020204" pitchFamily="66" charset="0"/>
                <a:ea typeface="Calibri" panose="020F0502020204030204" pitchFamily="34" charset="0"/>
                <a:cs typeface="Times New Roman" panose="02020603050405020304" pitchFamily="18" charset="0"/>
              </a:rPr>
            </a:br>
            <a:r>
              <a:rPr lang="id-ID" sz="4000" b="1" dirty="0" smtClean="0">
                <a:solidFill>
                  <a:srgbClr val="0070C0"/>
                </a:solidFill>
                <a:latin typeface="Comic Sans MS" panose="030F0702030302020204" pitchFamily="66" charset="0"/>
                <a:ea typeface="Calibri" panose="020F0502020204030204" pitchFamily="34" charset="0"/>
                <a:cs typeface="Times New Roman" panose="02020603050405020304" pitchFamily="18" charset="0"/>
              </a:rPr>
              <a:t/>
            </a:r>
            <a:br>
              <a:rPr lang="id-ID" sz="4000" b="1" dirty="0" smtClean="0">
                <a:solidFill>
                  <a:srgbClr val="0070C0"/>
                </a:solidFill>
                <a:latin typeface="Comic Sans MS" panose="030F0702030302020204" pitchFamily="66" charset="0"/>
                <a:ea typeface="Calibri" panose="020F0502020204030204" pitchFamily="34" charset="0"/>
                <a:cs typeface="Times New Roman" panose="02020603050405020304" pitchFamily="18" charset="0"/>
              </a:rPr>
            </a:br>
            <a:r>
              <a:rPr lang="id-ID" sz="4000" b="1" dirty="0">
                <a:solidFill>
                  <a:srgbClr val="0070C0"/>
                </a:solidFill>
                <a:latin typeface="Comic Sans MS" panose="030F0702030302020204" pitchFamily="66" charset="0"/>
                <a:ea typeface="Calibri" panose="020F0502020204030204" pitchFamily="34" charset="0"/>
                <a:cs typeface="Times New Roman" panose="02020603050405020304" pitchFamily="18" charset="0"/>
              </a:rPr>
              <a:t/>
            </a:r>
            <a:br>
              <a:rPr lang="id-ID" sz="4000" b="1" dirty="0">
                <a:solidFill>
                  <a:srgbClr val="0070C0"/>
                </a:solidFill>
                <a:latin typeface="Comic Sans MS" panose="030F0702030302020204" pitchFamily="66" charset="0"/>
                <a:ea typeface="Calibri" panose="020F0502020204030204" pitchFamily="34" charset="0"/>
                <a:cs typeface="Times New Roman" panose="02020603050405020304" pitchFamily="18" charset="0"/>
              </a:rPr>
            </a:br>
            <a:r>
              <a:rPr lang="id-ID" dirty="0" smtClean="0">
                <a:effectLst/>
                <a:latin typeface="Calibri" panose="020F0502020204030204" pitchFamily="34" charset="0"/>
                <a:ea typeface="Calibri" panose="020F0502020204030204" pitchFamily="34" charset="0"/>
                <a:cs typeface="Times New Roman" panose="02020603050405020304" pitchFamily="18" charset="0"/>
              </a:rPr>
              <a:t/>
            </a:r>
            <a:br>
              <a:rPr lang="id-ID" dirty="0" smtClean="0">
                <a:effectLst/>
                <a:latin typeface="Calibri" panose="020F0502020204030204" pitchFamily="34" charset="0"/>
                <a:ea typeface="Calibri" panose="020F0502020204030204" pitchFamily="34" charset="0"/>
                <a:cs typeface="Times New Roman" panose="02020603050405020304" pitchFamily="18" charset="0"/>
              </a:rPr>
            </a:br>
            <a:r>
              <a:rPr lang="id-ID" sz="4000" b="1" dirty="0" smtClean="0">
                <a:solidFill>
                  <a:srgbClr val="0070C0"/>
                </a:solidFill>
                <a:effectLst/>
                <a:latin typeface="Comic Sans MS" panose="030F0702030302020204" pitchFamily="66" charset="0"/>
                <a:ea typeface="Calibri" panose="020F0502020204030204" pitchFamily="34" charset="0"/>
                <a:cs typeface="Times New Roman" panose="02020603050405020304" pitchFamily="18" charset="0"/>
              </a:rPr>
              <a:t>REGENERASI</a:t>
            </a:r>
            <a:r>
              <a:rPr lang="id-ID" sz="4000" dirty="0" smtClean="0">
                <a:effectLst/>
                <a:latin typeface="Comic Sans MS" panose="030F0702030302020204" pitchFamily="66" charset="0"/>
                <a:ea typeface="Calibri" panose="020F0502020204030204" pitchFamily="34" charset="0"/>
                <a:cs typeface="Times New Roman" panose="02020603050405020304" pitchFamily="18" charset="0"/>
              </a:rPr>
              <a:t/>
            </a:r>
            <a:br>
              <a:rPr lang="id-ID" sz="4000" dirty="0" smtClean="0">
                <a:effectLst/>
                <a:latin typeface="Comic Sans MS" panose="030F0702030302020204" pitchFamily="66" charset="0"/>
                <a:ea typeface="Calibri" panose="020F0502020204030204" pitchFamily="34" charset="0"/>
                <a:cs typeface="Times New Roman" panose="02020603050405020304" pitchFamily="18" charset="0"/>
              </a:rPr>
            </a:br>
            <a:r>
              <a:rPr lang="id-ID" sz="2700" dirty="0" smtClean="0">
                <a:effectLst/>
                <a:latin typeface="Comic Sans MS" panose="030F0702030302020204" pitchFamily="66" charset="0"/>
                <a:ea typeface="Calibri" panose="020F0502020204030204" pitchFamily="34" charset="0"/>
                <a:cs typeface="Times New Roman" panose="02020603050405020304" pitchFamily="18" charset="0"/>
              </a:rPr>
              <a:t>MEMBUAT MINYAK TRANSFORMER </a:t>
            </a:r>
            <a:br>
              <a:rPr lang="id-ID" sz="2700" dirty="0" smtClean="0">
                <a:effectLst/>
                <a:latin typeface="Comic Sans MS" panose="030F0702030302020204" pitchFamily="66" charset="0"/>
                <a:ea typeface="Calibri" panose="020F0502020204030204" pitchFamily="34" charset="0"/>
                <a:cs typeface="Times New Roman" panose="02020603050405020304" pitchFamily="18" charset="0"/>
              </a:rPr>
            </a:br>
            <a:r>
              <a:rPr lang="id-ID" sz="4000" b="1" dirty="0" smtClean="0">
                <a:solidFill>
                  <a:srgbClr val="00B050"/>
                </a:solidFill>
                <a:effectLst/>
                <a:latin typeface="Comic Sans MS" panose="030F0702030302020204" pitchFamily="66" charset="0"/>
                <a:ea typeface="Calibri" panose="020F0502020204030204" pitchFamily="34" charset="0"/>
                <a:cs typeface="Times New Roman" panose="02020603050405020304" pitchFamily="18" charset="0"/>
              </a:rPr>
              <a:t>TETAP BISA DIPAKAI</a:t>
            </a:r>
            <a:endParaRPr lang="id-ID" sz="4000" dirty="0"/>
          </a:p>
        </p:txBody>
      </p:sp>
      <p:sp>
        <p:nvSpPr>
          <p:cNvPr id="3" name="Subtitle 2"/>
          <p:cNvSpPr>
            <a:spLocks noGrp="1"/>
          </p:cNvSpPr>
          <p:nvPr>
            <p:ph type="subTitle" idx="1"/>
          </p:nvPr>
        </p:nvSpPr>
        <p:spPr>
          <a:xfrm>
            <a:off x="585216" y="2156650"/>
            <a:ext cx="11192256" cy="4390454"/>
          </a:xfrm>
        </p:spPr>
        <p:txBody>
          <a:bodyPr/>
          <a:lstStyle/>
          <a:p>
            <a:pPr algn="l"/>
            <a:r>
              <a:rPr lang="id-ID" sz="2800" b="1" dirty="0">
                <a:latin typeface="Comic Sans MS" panose="030F0702030302020204" pitchFamily="66" charset="0"/>
              </a:rPr>
              <a:t>Prakata</a:t>
            </a:r>
            <a:r>
              <a:rPr lang="id-ID" sz="2800" b="1" dirty="0"/>
              <a:t>	</a:t>
            </a:r>
            <a:endParaRPr lang="id-ID" sz="2800" dirty="0"/>
          </a:p>
          <a:p>
            <a:r>
              <a:rPr lang="id-ID" dirty="0">
                <a:latin typeface="Comic Sans MS" panose="030F0702030302020204" pitchFamily="66" charset="0"/>
              </a:rPr>
              <a:t>Dengan meningkatnya biaya operasi, pemeliharaan serta kinerja. Banyak operator (perusahaan) untuk meningkatkan kemampuan dan penggunaan transformator mereka secara maksimal. Transformator yang modern dan jaringannya yang telah cukup umur (tua) dimanfaatkan secara maksimal, dan masa pemeliharaan (downtime) diperpendek. Hal ini akan memperpendek umur dari peralatan terutama isolasi transformator. Untuk mengatasi hal ini, kita perlu secara routine memelihara transformator dan juga memperpendek (kalau bisa tak perlu) waktu pemeliharaan (down time), dengan cara regenerasi minyak transformator. Regenerasi ini kan menghilangkan kotoran2 yang tak diperlukan. </a:t>
            </a:r>
          </a:p>
        </p:txBody>
      </p:sp>
    </p:spTree>
    <p:extLst>
      <p:ext uri="{BB962C8B-B14F-4D97-AF65-F5344CB8AC3E}">
        <p14:creationId xmlns:p14="http://schemas.microsoft.com/office/powerpoint/2010/main" val="799129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id-ID" dirty="0" smtClean="0"/>
              <a:t> </a:t>
            </a:r>
            <a:r>
              <a:rPr lang="id-ID" sz="3600" dirty="0" smtClean="0">
                <a:latin typeface="Comic Sans MS" panose="030F0702030302020204" pitchFamily="66" charset="0"/>
              </a:rPr>
              <a:t>keuntungan2 yang didapat</a:t>
            </a:r>
            <a:endParaRPr lang="id-ID" sz="3600" dirty="0">
              <a:latin typeface="Comic Sans MS" panose="030F0702030302020204" pitchFamily="66" charset="0"/>
            </a:endParaRPr>
          </a:p>
        </p:txBody>
      </p:sp>
      <p:sp>
        <p:nvSpPr>
          <p:cNvPr id="3" name="Content Placeholder 2"/>
          <p:cNvSpPr>
            <a:spLocks noGrp="1"/>
          </p:cNvSpPr>
          <p:nvPr>
            <p:ph idx="1"/>
          </p:nvPr>
        </p:nvSpPr>
        <p:spPr/>
        <p:txBody>
          <a:bodyPr>
            <a:normAutofit fontScale="85000" lnSpcReduction="20000"/>
          </a:bodyPr>
          <a:lstStyle/>
          <a:p>
            <a:pPr marL="514350" lvl="0" indent="-514350" algn="just">
              <a:buFont typeface="+mj-lt"/>
              <a:buAutoNum type="arabicPeriod"/>
            </a:pPr>
            <a:r>
              <a:rPr lang="id-ID" b="1" dirty="0">
                <a:latin typeface="Comic Sans MS" panose="030F0702030302020204" pitchFamily="66" charset="0"/>
              </a:rPr>
              <a:t>Menaikkan kualitas isolasi minyak menjadi baru lagi.</a:t>
            </a:r>
            <a:endParaRPr lang="id-ID" dirty="0">
              <a:latin typeface="Comic Sans MS" panose="030F0702030302020204" pitchFamily="66" charset="0"/>
            </a:endParaRPr>
          </a:p>
          <a:p>
            <a:pPr marL="514350" lvl="0" indent="-514350" algn="just">
              <a:buFont typeface="+mj-lt"/>
              <a:buAutoNum type="arabicPeriod"/>
            </a:pPr>
            <a:r>
              <a:rPr lang="id-ID" b="1" dirty="0">
                <a:latin typeface="Comic Sans MS" panose="030F0702030302020204" pitchFamily="66" charset="0"/>
              </a:rPr>
              <a:t>Memperpanjang umur transformator dan manaikkan keandalan trafo2 yang tua tadi.</a:t>
            </a:r>
            <a:endParaRPr lang="id-ID" dirty="0">
              <a:latin typeface="Comic Sans MS" panose="030F0702030302020204" pitchFamily="66" charset="0"/>
            </a:endParaRPr>
          </a:p>
          <a:p>
            <a:pPr marL="514350" lvl="0" indent="-514350" algn="just">
              <a:buFont typeface="+mj-lt"/>
              <a:buAutoNum type="arabicPeriod"/>
            </a:pPr>
            <a:r>
              <a:rPr lang="id-ID" b="1" dirty="0">
                <a:latin typeface="Comic Sans MS" panose="030F0702030302020204" pitchFamily="66" charset="0"/>
              </a:rPr>
              <a:t>Memperlambat penuaan isolasi secara alami, karea kebersihan isolasi terjaga.</a:t>
            </a:r>
            <a:endParaRPr lang="id-ID" dirty="0">
              <a:latin typeface="Comic Sans MS" panose="030F0702030302020204" pitchFamily="66" charset="0"/>
            </a:endParaRPr>
          </a:p>
          <a:p>
            <a:pPr marL="514350" lvl="0" indent="-514350" algn="just">
              <a:buFont typeface="+mj-lt"/>
              <a:buAutoNum type="arabicPeriod"/>
            </a:pPr>
            <a:r>
              <a:rPr lang="id-ID" b="1" dirty="0">
                <a:latin typeface="Comic Sans MS" panose="030F0702030302020204" pitchFamily="66" charset="0"/>
              </a:rPr>
              <a:t>Yang pada akhirnya menaikkan kemampuan isolasi.</a:t>
            </a:r>
            <a:endParaRPr lang="id-ID" dirty="0">
              <a:latin typeface="Comic Sans MS" panose="030F0702030302020204" pitchFamily="66" charset="0"/>
            </a:endParaRPr>
          </a:p>
          <a:p>
            <a:pPr marL="514350" lvl="0" indent="-514350" algn="just">
              <a:buFont typeface="+mj-lt"/>
              <a:buAutoNum type="arabicPeriod"/>
            </a:pPr>
            <a:r>
              <a:rPr lang="id-ID" b="1" dirty="0">
                <a:latin typeface="Comic Sans MS" panose="030F0702030302020204" pitchFamily="66" charset="0"/>
              </a:rPr>
              <a:t>Dapat dilakukan pada semua transformator, tentunya dengan ketentuan yang tertentu.</a:t>
            </a:r>
            <a:endParaRPr lang="id-ID" dirty="0">
              <a:latin typeface="Comic Sans MS" panose="030F0702030302020204" pitchFamily="66" charset="0"/>
            </a:endParaRPr>
          </a:p>
          <a:p>
            <a:pPr marL="514350" lvl="0" indent="-514350" algn="just">
              <a:buFont typeface="+mj-lt"/>
              <a:buAutoNum type="arabicPeriod"/>
            </a:pPr>
            <a:r>
              <a:rPr lang="id-ID" b="1" dirty="0">
                <a:latin typeface="Comic Sans MS" panose="030F0702030302020204" pitchFamily="66" charset="0"/>
              </a:rPr>
              <a:t>Lebih murah baik secara ekonomi maupun teknis dibanding mengganti minyak baru</a:t>
            </a:r>
            <a:endParaRPr lang="id-ID" dirty="0">
              <a:latin typeface="Comic Sans MS" panose="030F0702030302020204" pitchFamily="66" charset="0"/>
            </a:endParaRPr>
          </a:p>
          <a:p>
            <a:pPr marL="514350" lvl="0" indent="-514350" algn="just">
              <a:buFont typeface="+mj-lt"/>
              <a:buAutoNum type="arabicPeriod"/>
            </a:pPr>
            <a:r>
              <a:rPr lang="id-ID" b="1" dirty="0">
                <a:latin typeface="Comic Sans MS" panose="030F0702030302020204" pitchFamily="66" charset="0"/>
              </a:rPr>
              <a:t>Tidak mengganggu operasi (no shutdown time).</a:t>
            </a:r>
            <a:endParaRPr lang="id-ID" dirty="0">
              <a:latin typeface="Comic Sans MS" panose="030F0702030302020204" pitchFamily="66" charset="0"/>
            </a:endParaRPr>
          </a:p>
          <a:p>
            <a:pPr marL="514350" lvl="0" indent="-514350" algn="just">
              <a:buFont typeface="+mj-lt"/>
              <a:buAutoNum type="arabicPeriod"/>
            </a:pPr>
            <a:r>
              <a:rPr lang="id-ID" b="1" dirty="0">
                <a:latin typeface="Comic Sans MS" panose="030F0702030302020204" pitchFamily="66" charset="0"/>
              </a:rPr>
              <a:t>Tindakan pemeliharaan yang aman dan mudah tetapi dengan hasil yang besar.      </a:t>
            </a:r>
            <a:endParaRPr lang="id-ID" dirty="0">
              <a:latin typeface="Comic Sans MS" panose="030F0702030302020204" pitchFamily="66" charset="0"/>
            </a:endParaRPr>
          </a:p>
          <a:p>
            <a:pPr marL="514350" indent="-514350">
              <a:buFont typeface="+mj-lt"/>
              <a:buAutoNum type="arabicPeriod"/>
            </a:pPr>
            <a:endParaRPr lang="id-ID" dirty="0">
              <a:latin typeface="Comic Sans MS" panose="030F0702030302020204" pitchFamily="66" charset="0"/>
            </a:endParaRPr>
          </a:p>
        </p:txBody>
      </p:sp>
    </p:spTree>
    <p:extLst>
      <p:ext uri="{BB962C8B-B14F-4D97-AF65-F5344CB8AC3E}">
        <p14:creationId xmlns:p14="http://schemas.microsoft.com/office/powerpoint/2010/main" val="1479095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id-ID" sz="3600" dirty="0" smtClean="0">
                <a:latin typeface="Comic Sans MS" panose="030F0702030302020204" pitchFamily="66" charset="0"/>
              </a:rPr>
              <a:t>Gangguan atau kerusakan pada isolasi kertas</a:t>
            </a:r>
            <a:endParaRPr lang="id-ID" sz="3600" dirty="0">
              <a:latin typeface="Comic Sans MS" panose="030F0702030302020204" pitchFamily="66" charset="0"/>
            </a:endParaRPr>
          </a:p>
        </p:txBody>
      </p:sp>
      <p:pic>
        <p:nvPicPr>
          <p:cNvPr id="6" name="Content Placeholder 5"/>
          <p:cNvPicPr>
            <a:picLocks noGrp="1" noChangeAspect="1"/>
          </p:cNvPicPr>
          <p:nvPr>
            <p:ph idx="1"/>
          </p:nvPr>
        </p:nvPicPr>
        <p:blipFill>
          <a:blip r:embed="rId2"/>
          <a:stretch>
            <a:fillRect/>
          </a:stretch>
        </p:blipFill>
        <p:spPr>
          <a:xfrm>
            <a:off x="1468133" y="1690688"/>
            <a:ext cx="9255734" cy="5167312"/>
          </a:xfrm>
          <a:prstGeom prst="rect">
            <a:avLst/>
          </a:prstGeom>
        </p:spPr>
      </p:pic>
    </p:spTree>
    <p:extLst>
      <p:ext uri="{BB962C8B-B14F-4D97-AF65-F5344CB8AC3E}">
        <p14:creationId xmlns:p14="http://schemas.microsoft.com/office/powerpoint/2010/main" val="2971486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0231" y="198071"/>
            <a:ext cx="10515600" cy="883383"/>
          </a:xfrm>
        </p:spPr>
        <p:txBody>
          <a:bodyPr>
            <a:normAutofit fontScale="90000"/>
          </a:bodyPr>
          <a:lstStyle/>
          <a:p>
            <a:pPr algn="ctr"/>
            <a:r>
              <a:rPr lang="id-ID" sz="3600" b="1" dirty="0" smtClean="0">
                <a:latin typeface="Comic Sans MS" panose="030F0702030302020204" pitchFamily="66" charset="0"/>
              </a:rPr>
              <a:t/>
            </a:r>
            <a:br>
              <a:rPr lang="id-ID" sz="3600" b="1" dirty="0" smtClean="0">
                <a:latin typeface="Comic Sans MS" panose="030F0702030302020204" pitchFamily="66" charset="0"/>
              </a:rPr>
            </a:br>
            <a:endParaRPr lang="id-ID" dirty="0"/>
          </a:p>
        </p:txBody>
      </p:sp>
      <p:sp>
        <p:nvSpPr>
          <p:cNvPr id="4" name="Rectangle 2"/>
          <p:cNvSpPr>
            <a:spLocks noChangeArrowheads="1"/>
          </p:cNvSpPr>
          <p:nvPr/>
        </p:nvSpPr>
        <p:spPr bwMode="auto">
          <a:xfrm>
            <a:off x="851045" y="1350568"/>
            <a:ext cx="10924786"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d-ID" sz="2400" b="1" i="0" u="none" strike="noStrike" cap="none" normalizeH="0" baseline="0" dirty="0" smtClean="0">
                <a:ln>
                  <a:noFill/>
                </a:ln>
                <a:solidFill>
                  <a:srgbClr val="0070C0"/>
                </a:solidFill>
                <a:effectLst/>
                <a:latin typeface="Comic Sans MS" panose="030F0702030302020204" pitchFamily="66" charset="0"/>
                <a:ea typeface="Calibri" panose="020F0502020204030204" pitchFamily="34" charset="0"/>
                <a:cs typeface="Times New Roman" panose="02020603050405020304" pitchFamily="18" charset="0"/>
              </a:rPr>
              <a:t>Bilamanakah kita melakukan proses regenerasi ini ? </a:t>
            </a:r>
            <a:endParaRPr kumimoji="0" lang="id-ID" sz="2400" b="0" i="0" u="none" strike="noStrike" cap="none" normalizeH="0" baseline="0" dirty="0" smtClean="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d-ID" sz="2400" b="1" i="0" u="none" strike="noStrike" cap="none" normalizeH="0" baseline="0" dirty="0" smtClean="0">
                <a:ln>
                  <a:noFill/>
                </a:ln>
                <a:solidFill>
                  <a:schemeClr val="tx1"/>
                </a:solidFill>
                <a:effectLst/>
                <a:latin typeface="Comic Sans MS" panose="030F0702030302020204" pitchFamily="66" charset="0"/>
                <a:ea typeface="Calibri" panose="020F0502020204030204" pitchFamily="34" charset="0"/>
                <a:cs typeface="Times New Roman" panose="02020603050405020304" pitchFamily="18" charset="0"/>
              </a:rPr>
              <a:t>Kita ambil istilah dari SDMyers :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d-ID" sz="2400" b="1" i="1" u="none" strike="noStrike" cap="none" normalizeH="0" baseline="0" dirty="0" smtClean="0">
              <a:ln>
                <a:noFill/>
              </a:ln>
              <a:solidFill>
                <a:srgbClr val="00B050"/>
              </a:solidFill>
              <a:effectLst/>
              <a:latin typeface="Comic Sans MS" panose="030F0702030302020204" pitchFamily="66"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d-ID" sz="2400" b="1" i="1" u="none" strike="noStrike" cap="none" normalizeH="0" baseline="0" dirty="0" smtClean="0">
                <a:ln>
                  <a:noFill/>
                </a:ln>
                <a:solidFill>
                  <a:srgbClr val="00B050"/>
                </a:solidFill>
                <a:effectLst/>
                <a:latin typeface="Comic Sans MS" panose="030F0702030302020204" pitchFamily="66" charset="0"/>
                <a:ea typeface="Times New Roman" panose="02020603050405020304" pitchFamily="18" charset="0"/>
                <a:cs typeface="Times New Roman" panose="02020603050405020304" pitchFamily="18" charset="0"/>
              </a:rPr>
              <a:t>WHEN TO RECLAIM</a:t>
            </a:r>
            <a:r>
              <a:rPr kumimoji="0" lang="id-ID" sz="2400" b="0" i="0" u="none" strike="noStrike" cap="none" normalizeH="0" baseline="0" dirty="0" smtClean="0">
                <a:ln>
                  <a:noFill/>
                </a:ln>
                <a:solidFill>
                  <a:srgbClr val="00B050"/>
                </a:solidFill>
                <a:effectLst/>
                <a:latin typeface="Comic Sans MS" panose="030F0702030302020204" pitchFamily="66" charset="0"/>
                <a:ea typeface="Times New Roman" panose="02020603050405020304" pitchFamily="18" charset="0"/>
                <a:cs typeface="Times New Roman" panose="02020603050405020304" pitchFamily="18" charset="0"/>
              </a:rPr>
              <a:t> </a:t>
            </a:r>
            <a:r>
              <a:rPr kumimoji="0" lang="id-ID" sz="2400" b="0" i="0" u="none" strike="noStrike" cap="none" normalizeH="0" baseline="0" dirty="0" smtClean="0">
                <a:ln>
                  <a:noFill/>
                </a:ln>
                <a:solidFill>
                  <a:schemeClr val="tx1"/>
                </a:solidFill>
                <a:effectLst/>
                <a:latin typeface="Comic Sans MS" panose="030F0702030302020204" pitchFamily="66" charset="0"/>
                <a:ea typeface="Times New Roman" panose="02020603050405020304" pitchFamily="18" charset="0"/>
                <a:cs typeface="Times New Roman" panose="02020603050405020304" pitchFamily="18" charset="0"/>
              </a:rPr>
              <a:t>. . .• </a:t>
            </a:r>
          </a:p>
          <a:p>
            <a:pPr marL="0" marR="0" lvl="0" indent="0" algn="ctr" defTabSz="914400" rtl="0" eaLnBrk="0" fontAlgn="base" latinLnBrk="0" hangingPunct="0">
              <a:lnSpc>
                <a:spcPct val="100000"/>
              </a:lnSpc>
              <a:spcBef>
                <a:spcPct val="0"/>
              </a:spcBef>
              <a:spcAft>
                <a:spcPct val="0"/>
              </a:spcAft>
              <a:buClrTx/>
              <a:buSzTx/>
              <a:buFontTx/>
              <a:buNone/>
              <a:tabLst/>
            </a:pPr>
            <a:r>
              <a:rPr kumimoji="0" lang="id-ID" sz="2400" b="0" i="1" u="none" strike="noStrike" cap="none" normalizeH="0" baseline="0" dirty="0" smtClean="0">
                <a:ln>
                  <a:noFill/>
                </a:ln>
                <a:solidFill>
                  <a:schemeClr val="tx1"/>
                </a:solidFill>
                <a:effectLst/>
                <a:latin typeface="Comic Sans MS" panose="030F0702030302020204" pitchFamily="66" charset="0"/>
                <a:ea typeface="Times New Roman" panose="02020603050405020304" pitchFamily="18" charset="0"/>
                <a:cs typeface="Times New Roman" panose="02020603050405020304" pitchFamily="18" charset="0"/>
              </a:rPr>
              <a:t>Before the oxidation inhibitors are depleted.• </a:t>
            </a:r>
          </a:p>
          <a:p>
            <a:pPr marL="0" marR="0" lvl="0" indent="0" algn="ctr" defTabSz="914400" rtl="0" eaLnBrk="0" fontAlgn="base" latinLnBrk="0" hangingPunct="0">
              <a:lnSpc>
                <a:spcPct val="100000"/>
              </a:lnSpc>
              <a:spcBef>
                <a:spcPct val="0"/>
              </a:spcBef>
              <a:spcAft>
                <a:spcPct val="0"/>
              </a:spcAft>
              <a:buClrTx/>
              <a:buSzTx/>
              <a:buFontTx/>
              <a:buNone/>
              <a:tabLst/>
            </a:pPr>
            <a:r>
              <a:rPr kumimoji="0" lang="id-ID" sz="2400" b="0" i="1" u="none" strike="noStrike" cap="none" normalizeH="0" baseline="0" dirty="0" smtClean="0">
                <a:ln>
                  <a:noFill/>
                </a:ln>
                <a:solidFill>
                  <a:schemeClr val="tx1"/>
                </a:solidFill>
                <a:effectLst/>
                <a:latin typeface="Comic Sans MS" panose="030F0702030302020204" pitchFamily="66" charset="0"/>
                <a:ea typeface="Times New Roman" panose="02020603050405020304" pitchFamily="18" charset="0"/>
                <a:cs typeface="Times New Roman" panose="02020603050405020304" pitchFamily="18" charset="0"/>
              </a:rPr>
              <a:t>While the oil is still in good condition.• </a:t>
            </a:r>
          </a:p>
          <a:p>
            <a:pPr marL="0" marR="0" lvl="0" indent="0" algn="l" defTabSz="914400" rtl="0" eaLnBrk="0" fontAlgn="base" latinLnBrk="0" hangingPunct="0">
              <a:lnSpc>
                <a:spcPct val="100000"/>
              </a:lnSpc>
              <a:spcBef>
                <a:spcPct val="0"/>
              </a:spcBef>
              <a:spcAft>
                <a:spcPct val="0"/>
              </a:spcAft>
              <a:buClrTx/>
              <a:buSzTx/>
              <a:buFontTx/>
              <a:buNone/>
              <a:tabLst/>
            </a:pPr>
            <a:endParaRPr lang="id-ID" sz="2400" i="1" dirty="0">
              <a:latin typeface="Comic Sans MS" panose="030F0702030302020204" pitchFamily="66"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d-ID" sz="2400" b="1" i="1" u="none" strike="noStrike" cap="none" normalizeH="0" baseline="0" dirty="0" smtClean="0">
                <a:ln>
                  <a:noFill/>
                </a:ln>
                <a:solidFill>
                  <a:srgbClr val="00B050"/>
                </a:solidFill>
                <a:effectLst/>
                <a:latin typeface="Comic Sans MS" panose="030F0702030302020204" pitchFamily="66" charset="0"/>
                <a:ea typeface="Times New Roman" panose="02020603050405020304" pitchFamily="18" charset="0"/>
                <a:cs typeface="Times New Roman" panose="02020603050405020304" pitchFamily="18" charset="0"/>
              </a:rPr>
              <a:t>WHY?</a:t>
            </a:r>
            <a:r>
              <a:rPr kumimoji="0" lang="id-ID" sz="2400" b="0" i="1" u="none" strike="noStrike" cap="none" normalizeH="0" baseline="0" dirty="0" smtClean="0">
                <a:ln>
                  <a:noFill/>
                </a:ln>
                <a:solidFill>
                  <a:schemeClr val="tx1"/>
                </a:solidFill>
                <a:effectLst/>
                <a:latin typeface="Comic Sans MS" panose="030F0702030302020204" pitchFamily="66" charset="0"/>
                <a:ea typeface="Times New Roman" panose="02020603050405020304" pitchFamily="18" charset="0"/>
                <a:cs typeface="Times New Roman" panose="02020603050405020304" pitchFamily="18" charset="0"/>
              </a:rPr>
              <a:t> </a:t>
            </a:r>
          </a:p>
          <a:p>
            <a:pPr marL="0" marR="0" lvl="0" indent="0" algn="r" defTabSz="914400" rtl="0" eaLnBrk="0" fontAlgn="base" latinLnBrk="0" hangingPunct="0">
              <a:lnSpc>
                <a:spcPct val="100000"/>
              </a:lnSpc>
              <a:spcBef>
                <a:spcPct val="0"/>
              </a:spcBef>
              <a:spcAft>
                <a:spcPct val="0"/>
              </a:spcAft>
              <a:buClrTx/>
              <a:buSzTx/>
              <a:buFontTx/>
              <a:buNone/>
              <a:tabLst/>
            </a:pPr>
            <a:r>
              <a:rPr kumimoji="0" lang="id-ID" sz="2400" b="0" i="1" u="none" strike="noStrike" cap="none" normalizeH="0" baseline="0" dirty="0" smtClean="0">
                <a:ln>
                  <a:noFill/>
                </a:ln>
                <a:solidFill>
                  <a:schemeClr val="tx1"/>
                </a:solidFill>
                <a:effectLst/>
                <a:latin typeface="Comic Sans MS" panose="030F0702030302020204" pitchFamily="66" charset="0"/>
                <a:ea typeface="Times New Roman" panose="02020603050405020304" pitchFamily="18" charset="0"/>
                <a:cs typeface="Times New Roman" panose="02020603050405020304" pitchFamily="18" charset="0"/>
              </a:rPr>
              <a:t>The oil is filtered through the paper, removing contaminants.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d-ID" sz="2400" b="0" i="1" u="none" strike="noStrike" cap="none" normalizeH="0" baseline="0" dirty="0" smtClean="0">
              <a:ln>
                <a:noFill/>
              </a:ln>
              <a:solidFill>
                <a:srgbClr val="0070C0"/>
              </a:solidFill>
              <a:effectLst/>
              <a:latin typeface="Comic Sans MS" panose="030F0702030302020204" pitchFamily="66"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d-ID" sz="2400" b="0" i="1" u="none" strike="noStrike" cap="none" normalizeH="0" baseline="0" dirty="0" smtClean="0">
                <a:ln>
                  <a:noFill/>
                </a:ln>
                <a:solidFill>
                  <a:srgbClr val="0070C0"/>
                </a:solidFill>
                <a:effectLst/>
                <a:latin typeface="Comic Sans MS" panose="030F0702030302020204" pitchFamily="66" charset="0"/>
                <a:ea typeface="Times New Roman" panose="02020603050405020304" pitchFamily="18" charset="0"/>
                <a:cs typeface="Times New Roman" panose="02020603050405020304" pitchFamily="18" charset="0"/>
              </a:rPr>
              <a:t>While the oil still appears clean, the paper is actually gathering sludge and </a:t>
            </a:r>
          </a:p>
          <a:p>
            <a:pPr marL="0" marR="0" lvl="0" indent="0" algn="l" defTabSz="914400" rtl="0" eaLnBrk="0" fontAlgn="base" latinLnBrk="0" hangingPunct="0">
              <a:lnSpc>
                <a:spcPct val="100000"/>
              </a:lnSpc>
              <a:spcBef>
                <a:spcPct val="0"/>
              </a:spcBef>
              <a:spcAft>
                <a:spcPct val="0"/>
              </a:spcAft>
              <a:buClrTx/>
              <a:buSzTx/>
              <a:buFontTx/>
              <a:buNone/>
              <a:tabLst/>
            </a:pPr>
            <a:r>
              <a:rPr kumimoji="0" lang="id-ID" sz="2400" b="0" i="1" u="none" strike="noStrike" cap="none" normalizeH="0" baseline="0" dirty="0" smtClean="0">
                <a:ln>
                  <a:noFill/>
                </a:ln>
                <a:solidFill>
                  <a:srgbClr val="0070C0"/>
                </a:solidFill>
                <a:effectLst/>
                <a:latin typeface="Comic Sans MS" panose="030F0702030302020204" pitchFamily="66" charset="0"/>
                <a:ea typeface="Times New Roman" panose="02020603050405020304" pitchFamily="18" charset="0"/>
                <a:cs typeface="Times New Roman" panose="02020603050405020304" pitchFamily="18" charset="0"/>
              </a:rPr>
              <a:t>deteriorating</a:t>
            </a:r>
            <a:r>
              <a:rPr kumimoji="0" lang="id-ID" sz="2400" b="0" i="0" u="none" strike="noStrike" cap="none" normalizeH="0" baseline="0" dirty="0" smtClean="0">
                <a:ln>
                  <a:noFill/>
                </a:ln>
                <a:solidFill>
                  <a:srgbClr val="0070C0"/>
                </a:solidFill>
                <a:effectLst/>
                <a:latin typeface="Comic Sans MS" panose="030F0702030302020204" pitchFamily="66" charset="0"/>
                <a:ea typeface="Times New Roman" panose="02020603050405020304" pitchFamily="18" charset="0"/>
                <a:cs typeface="Times New Roman" panose="02020603050405020304" pitchFamily="18" charset="0"/>
              </a:rPr>
              <a:t>. </a:t>
            </a:r>
            <a:endParaRPr kumimoji="0" lang="id-ID" sz="2400" b="0" i="0" u="none" strike="noStrike" cap="none" normalizeH="0" baseline="0" dirty="0" smtClean="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id-ID"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668216" y="49911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id-ID"/>
          </a:p>
        </p:txBody>
      </p:sp>
    </p:spTree>
    <p:extLst>
      <p:ext uri="{BB962C8B-B14F-4D97-AF65-F5344CB8AC3E}">
        <p14:creationId xmlns:p14="http://schemas.microsoft.com/office/powerpoint/2010/main" val="3302702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2366"/>
          </a:xfrm>
        </p:spPr>
        <p:txBody>
          <a:bodyPr>
            <a:normAutofit fontScale="90000"/>
          </a:bodyPr>
          <a:lstStyle/>
          <a:p>
            <a:pPr algn="ctr"/>
            <a:r>
              <a:rPr lang="id-ID" sz="3600" b="1" dirty="0" smtClean="0">
                <a:latin typeface="Comic Sans MS" panose="030F0702030302020204" pitchFamily="66" charset="0"/>
              </a:rPr>
              <a:t/>
            </a:r>
            <a:br>
              <a:rPr lang="id-ID" sz="3600" b="1" dirty="0" smtClean="0">
                <a:latin typeface="Comic Sans MS" panose="030F0702030302020204" pitchFamily="66" charset="0"/>
              </a:rPr>
            </a:br>
            <a:r>
              <a:rPr lang="id-ID" sz="4000" b="1" dirty="0" smtClean="0">
                <a:latin typeface="Comic Sans MS" panose="030F0702030302020204" pitchFamily="66" charset="0"/>
              </a:rPr>
              <a:t>PROSES REGENERASI</a:t>
            </a:r>
            <a:r>
              <a:rPr lang="id-ID" sz="4000" dirty="0" smtClean="0"/>
              <a:t/>
            </a:r>
            <a:br>
              <a:rPr lang="id-ID" sz="4000" dirty="0" smtClean="0"/>
            </a:br>
            <a:endParaRPr lang="id-ID" sz="4000" dirty="0"/>
          </a:p>
        </p:txBody>
      </p:sp>
      <p:pic>
        <p:nvPicPr>
          <p:cNvPr id="4" name="Content Placeholder 3"/>
          <p:cNvPicPr>
            <a:picLocks noGrp="1"/>
          </p:cNvPicPr>
          <p:nvPr>
            <p:ph idx="1"/>
          </p:nvPr>
        </p:nvPicPr>
        <p:blipFill>
          <a:blip r:embed="rId2"/>
          <a:stretch>
            <a:fillRect/>
          </a:stretch>
        </p:blipFill>
        <p:spPr>
          <a:xfrm>
            <a:off x="2250831" y="1512277"/>
            <a:ext cx="7332784" cy="5169877"/>
          </a:xfrm>
          <a:prstGeom prst="rect">
            <a:avLst/>
          </a:prstGeom>
        </p:spPr>
      </p:pic>
      <p:sp>
        <p:nvSpPr>
          <p:cNvPr id="5" name="Rectangle 4"/>
          <p:cNvSpPr/>
          <p:nvPr/>
        </p:nvSpPr>
        <p:spPr>
          <a:xfrm>
            <a:off x="1099883" y="1006789"/>
            <a:ext cx="4398961" cy="369332"/>
          </a:xfrm>
          <a:prstGeom prst="rect">
            <a:avLst/>
          </a:prstGeom>
        </p:spPr>
        <p:txBody>
          <a:bodyPr wrap="none">
            <a:spAutoFit/>
          </a:bodyPr>
          <a:lstStyle/>
          <a:p>
            <a:r>
              <a:rPr lang="fi-FI" dirty="0" smtClean="0">
                <a:latin typeface="Comic Sans MS" panose="030F0702030302020204" pitchFamily="66" charset="0"/>
              </a:rPr>
              <a:t>Kalau menurut IEEE Std C57.106-2002</a:t>
            </a:r>
            <a:endParaRPr lang="id-ID" dirty="0">
              <a:latin typeface="Comic Sans MS" panose="030F0702030302020204" pitchFamily="66" charset="0"/>
            </a:endParaRPr>
          </a:p>
        </p:txBody>
      </p:sp>
    </p:spTree>
    <p:extLst>
      <p:ext uri="{BB962C8B-B14F-4D97-AF65-F5344CB8AC3E}">
        <p14:creationId xmlns:p14="http://schemas.microsoft.com/office/powerpoint/2010/main" val="3133318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6137"/>
          </a:xfrm>
        </p:spPr>
        <p:txBody>
          <a:bodyPr>
            <a:normAutofit/>
          </a:bodyPr>
          <a:lstStyle/>
          <a:p>
            <a:pPr algn="ctr"/>
            <a:r>
              <a:rPr lang="id-ID" sz="3600" dirty="0" smtClean="0">
                <a:latin typeface="Comic Sans MS" panose="030F0702030302020204" pitchFamily="66" charset="0"/>
              </a:rPr>
              <a:t>Bagaimana proses itu dilakukan ?</a:t>
            </a:r>
            <a:endParaRPr lang="id-ID" sz="3600" dirty="0">
              <a:latin typeface="Comic Sans MS" panose="030F0702030302020204" pitchFamily="66" charset="0"/>
            </a:endParaRPr>
          </a:p>
        </p:txBody>
      </p:sp>
      <p:pic>
        <p:nvPicPr>
          <p:cNvPr id="4" name="Content Placeholder 3"/>
          <p:cNvPicPr>
            <a:picLocks noGrp="1" noChangeAspect="1"/>
          </p:cNvPicPr>
          <p:nvPr>
            <p:ph idx="1"/>
          </p:nvPr>
        </p:nvPicPr>
        <p:blipFill>
          <a:blip r:embed="rId2"/>
          <a:stretch>
            <a:fillRect/>
          </a:stretch>
        </p:blipFill>
        <p:spPr>
          <a:xfrm>
            <a:off x="3179775" y="2870922"/>
            <a:ext cx="6964061" cy="3705724"/>
          </a:xfrm>
          <a:prstGeom prst="rect">
            <a:avLst/>
          </a:prstGeom>
        </p:spPr>
      </p:pic>
      <p:sp>
        <p:nvSpPr>
          <p:cNvPr id="5" name="Rectangle 4"/>
          <p:cNvSpPr/>
          <p:nvPr/>
        </p:nvSpPr>
        <p:spPr>
          <a:xfrm>
            <a:off x="527538" y="1301262"/>
            <a:ext cx="11289323" cy="1569660"/>
          </a:xfrm>
          <a:prstGeom prst="rect">
            <a:avLst/>
          </a:prstGeom>
        </p:spPr>
        <p:txBody>
          <a:bodyPr wrap="square">
            <a:spAutoFit/>
          </a:bodyPr>
          <a:lstStyle/>
          <a:p>
            <a:pPr algn="just"/>
            <a:r>
              <a:rPr lang="id-ID" sz="2400" dirty="0" smtClean="0">
                <a:latin typeface="Comic Sans MS" panose="030F0702030302020204" pitchFamily="66" charset="0"/>
              </a:rPr>
              <a:t>Proses regenerasi adalah suatu proses pembersihan minyak, dan juga bagian dalam transformator. Proses ini adalah dengan mengalirkan (mensirkulasikan) minyak dari transformator kedalam unit regenerasi dan dikembalikan lagi ke dalam transformator.</a:t>
            </a:r>
            <a:endParaRPr lang="id-ID" sz="2400" dirty="0">
              <a:latin typeface="Comic Sans MS" panose="030F0702030302020204" pitchFamily="66" charset="0"/>
            </a:endParaRPr>
          </a:p>
        </p:txBody>
      </p:sp>
    </p:spTree>
    <p:extLst>
      <p:ext uri="{BB962C8B-B14F-4D97-AF65-F5344CB8AC3E}">
        <p14:creationId xmlns:p14="http://schemas.microsoft.com/office/powerpoint/2010/main" val="1474053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5"/>
          <p:cNvSpPr>
            <a:spLocks noGrp="1"/>
          </p:cNvSpPr>
          <p:nvPr>
            <p:ph type="title"/>
          </p:nvPr>
        </p:nvSpPr>
        <p:spPr>
          <a:xfrm>
            <a:off x="2209800" y="0"/>
            <a:ext cx="7772400" cy="1143000"/>
          </a:xfrm>
        </p:spPr>
        <p:txBody>
          <a:bodyPr/>
          <a:lstStyle/>
          <a:p>
            <a:r>
              <a:rPr lang="en-US" sz="3600" b="1"/>
              <a:t>Typical oil flow</a:t>
            </a:r>
          </a:p>
        </p:txBody>
      </p:sp>
      <p:sp>
        <p:nvSpPr>
          <p:cNvPr id="110595" name="Content Placeholder 6"/>
          <p:cNvSpPr>
            <a:spLocks noGrp="1"/>
          </p:cNvSpPr>
          <p:nvPr>
            <p:ph idx="1"/>
          </p:nvPr>
        </p:nvSpPr>
        <p:spPr/>
        <p:txBody>
          <a:bodyPr/>
          <a:lstStyle/>
          <a:p>
            <a:endParaRPr lang="id-ID" smtClean="0"/>
          </a:p>
        </p:txBody>
      </p:sp>
      <p:sp>
        <p:nvSpPr>
          <p:cNvPr id="110596"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9EC184D-F7FE-49A3-A046-A2FD618854A4}" type="slidenum">
              <a:rPr lang="en-US" sz="1400"/>
              <a:pPr>
                <a:spcBef>
                  <a:spcPct val="0"/>
                </a:spcBef>
                <a:buFontTx/>
                <a:buNone/>
              </a:pPr>
              <a:t>7</a:t>
            </a:fld>
            <a:endParaRPr lang="en-US" sz="1400"/>
          </a:p>
        </p:txBody>
      </p:sp>
      <p:pic>
        <p:nvPicPr>
          <p:cNvPr id="110597" name="Picture 3" descr="oil flow.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914400"/>
            <a:ext cx="80772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9349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3044"/>
          </a:xfrm>
        </p:spPr>
        <p:txBody>
          <a:bodyPr>
            <a:normAutofit/>
          </a:bodyPr>
          <a:lstStyle/>
          <a:p>
            <a:pPr algn="ctr"/>
            <a:r>
              <a:rPr lang="id-ID" sz="3600" dirty="0" smtClean="0">
                <a:latin typeface="Comic Sans MS" panose="030F0702030302020204" pitchFamily="66" charset="0"/>
              </a:rPr>
              <a:t>Bagaimana proses itu dilakukan ?</a:t>
            </a:r>
            <a:endParaRPr lang="id-ID" sz="3600" dirty="0">
              <a:latin typeface="Comic Sans MS" panose="030F0702030302020204" pitchFamily="66" charset="0"/>
            </a:endParaRPr>
          </a:p>
        </p:txBody>
      </p:sp>
      <p:sp>
        <p:nvSpPr>
          <p:cNvPr id="3" name="Content Placeholder 2"/>
          <p:cNvSpPr>
            <a:spLocks noGrp="1"/>
          </p:cNvSpPr>
          <p:nvPr>
            <p:ph idx="1"/>
          </p:nvPr>
        </p:nvSpPr>
        <p:spPr>
          <a:xfrm>
            <a:off x="838200" y="1371600"/>
            <a:ext cx="10515600" cy="4805363"/>
          </a:xfrm>
        </p:spPr>
        <p:txBody>
          <a:bodyPr>
            <a:normAutofit lnSpcReduction="10000"/>
          </a:bodyPr>
          <a:lstStyle/>
          <a:p>
            <a:pPr algn="just">
              <a:lnSpc>
                <a:spcPct val="100000"/>
              </a:lnSpc>
              <a:spcBef>
                <a:spcPts val="1200"/>
              </a:spcBef>
            </a:pPr>
            <a:r>
              <a:rPr lang="id-ID" sz="2400" dirty="0" smtClean="0">
                <a:latin typeface="Comic Sans MS" panose="030F0702030302020204" pitchFamily="66" charset="0"/>
              </a:rPr>
              <a:t>Prose</a:t>
            </a:r>
            <a:r>
              <a:rPr lang="en-US" sz="2400" dirty="0" smtClean="0">
                <a:latin typeface="Comic Sans MS" panose="030F0702030302020204" pitchFamily="66" charset="0"/>
              </a:rPr>
              <a:t>s</a:t>
            </a:r>
            <a:r>
              <a:rPr lang="id-ID" sz="2400" dirty="0" smtClean="0">
                <a:latin typeface="Comic Sans MS" panose="030F0702030302020204" pitchFamily="66" charset="0"/>
              </a:rPr>
              <a:t> Regenerasi ini sebaiknya dilakukan pada transformator yang sedang operasi/on line. Karena saat transformator operasi, kondisi lilitan panas dan bergetar. Sehingga sludge yang menempel bisa mencair dan celah2 lilitan bisa dilewati minyak panas yang akan membawa sludge ke unit regenerasi.</a:t>
            </a:r>
          </a:p>
          <a:p>
            <a:pPr algn="just">
              <a:lnSpc>
                <a:spcPct val="100000"/>
              </a:lnSpc>
              <a:spcBef>
                <a:spcPts val="1200"/>
              </a:spcBef>
            </a:pPr>
            <a:r>
              <a:rPr lang="id-ID" sz="2400" dirty="0" smtClean="0">
                <a:latin typeface="Comic Sans MS" panose="030F0702030302020204" pitchFamily="66" charset="0"/>
              </a:rPr>
              <a:t>Pada unit regenerasi dilakukan pemanasan, agar sludge/kotoran2 mencair. Kemudian dilakukan penguapan, agar gas2, uap air bisa ditarik keluar (divaccuum). Selanjutnya dilakukan pembersihan minyak dari kandungan yang tak diperlukan (bahan2 kimia terkandung, mis.: Acid, ketone dll), didalam kolom fuller earth. Setelah itu minyak bersih yang masih panas dialirkan/disirkulasikan lagi kedalam transformator. Sirkulasi ini dilakukan berulang-ulang sehingga seluruh minyak menjadi bersih, seperti minyak baru lagi. </a:t>
            </a:r>
            <a:endParaRPr lang="id-ID" sz="2400" dirty="0">
              <a:latin typeface="Comic Sans MS" panose="030F0702030302020204" pitchFamily="66" charset="0"/>
            </a:endParaRPr>
          </a:p>
        </p:txBody>
      </p:sp>
    </p:spTree>
    <p:extLst>
      <p:ext uri="{BB962C8B-B14F-4D97-AF65-F5344CB8AC3E}">
        <p14:creationId xmlns:p14="http://schemas.microsoft.com/office/powerpoint/2010/main" val="2269250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1695"/>
            <a:ext cx="10515600" cy="1076814"/>
          </a:xfrm>
        </p:spPr>
        <p:txBody>
          <a:bodyPr/>
          <a:lstStyle/>
          <a:p>
            <a:pPr algn="ctr"/>
            <a:r>
              <a:rPr lang="id-ID" dirty="0">
                <a:latin typeface="Comic Sans MS" panose="030F0702030302020204" pitchFamily="66" charset="0"/>
              </a:rPr>
              <a:t>Bagaimana proses itu dilakukan ?</a:t>
            </a:r>
            <a:endParaRPr lang="en-US" dirty="0"/>
          </a:p>
        </p:txBody>
      </p:sp>
      <p:sp>
        <p:nvSpPr>
          <p:cNvPr id="3" name="Content Placeholder 2"/>
          <p:cNvSpPr>
            <a:spLocks noGrp="1"/>
          </p:cNvSpPr>
          <p:nvPr>
            <p:ph idx="1"/>
          </p:nvPr>
        </p:nvSpPr>
        <p:spPr>
          <a:xfrm>
            <a:off x="838200" y="1497257"/>
            <a:ext cx="10515600" cy="4351338"/>
          </a:xfrm>
        </p:spPr>
        <p:txBody>
          <a:bodyPr/>
          <a:lstStyle/>
          <a:p>
            <a:pPr marL="457200" lvl="1" indent="0">
              <a:buNone/>
            </a:pPr>
            <a:r>
              <a:rPr lang="en-US" dirty="0" err="1" smtClean="0">
                <a:latin typeface="Comic Sans MS" panose="030F0702030302020204" pitchFamily="66" charset="0"/>
              </a:rPr>
              <a:t>Setelah</a:t>
            </a:r>
            <a:r>
              <a:rPr lang="en-US" dirty="0" smtClean="0">
                <a:latin typeface="Comic Sans MS" panose="030F0702030302020204" pitchFamily="66" charset="0"/>
              </a:rPr>
              <a:t> </a:t>
            </a:r>
            <a:r>
              <a:rPr lang="en-US" dirty="0" err="1" smtClean="0">
                <a:latin typeface="Comic Sans MS" panose="030F0702030302020204" pitchFamily="66" charset="0"/>
              </a:rPr>
              <a:t>selesai</a:t>
            </a:r>
            <a:r>
              <a:rPr lang="en-US" dirty="0" smtClean="0">
                <a:latin typeface="Comic Sans MS" panose="030F0702030302020204" pitchFamily="66" charset="0"/>
              </a:rPr>
              <a:t> </a:t>
            </a:r>
            <a:r>
              <a:rPr lang="en-US" dirty="0" err="1" smtClean="0">
                <a:latin typeface="Comic Sans MS" panose="030F0702030302020204" pitchFamily="66" charset="0"/>
              </a:rPr>
              <a:t>melakukan</a:t>
            </a:r>
            <a:r>
              <a:rPr lang="en-US" dirty="0" smtClean="0">
                <a:latin typeface="Comic Sans MS" panose="030F0702030302020204" pitchFamily="66" charset="0"/>
              </a:rPr>
              <a:t> </a:t>
            </a:r>
            <a:r>
              <a:rPr lang="en-US" dirty="0" err="1" smtClean="0">
                <a:latin typeface="Comic Sans MS" panose="030F0702030302020204" pitchFamily="66" charset="0"/>
              </a:rPr>
              <a:t>penempatan</a:t>
            </a:r>
            <a:r>
              <a:rPr lang="en-US" dirty="0" smtClean="0">
                <a:latin typeface="Comic Sans MS" panose="030F0702030302020204" pitchFamily="66" charset="0"/>
              </a:rPr>
              <a:t> &amp; </a:t>
            </a:r>
            <a:r>
              <a:rPr lang="en-US" dirty="0" err="1" smtClean="0">
                <a:latin typeface="Comic Sans MS" panose="030F0702030302020204" pitchFamily="66" charset="0"/>
              </a:rPr>
              <a:t>persiapan</a:t>
            </a:r>
            <a:r>
              <a:rPr lang="en-US" dirty="0" smtClean="0">
                <a:latin typeface="Comic Sans MS" panose="030F0702030302020204" pitchFamily="66" charset="0"/>
              </a:rPr>
              <a:t>  Unit TOR di area </a:t>
            </a:r>
            <a:r>
              <a:rPr lang="en-US" dirty="0" err="1" smtClean="0">
                <a:latin typeface="Comic Sans MS" panose="030F0702030302020204" pitchFamily="66" charset="0"/>
              </a:rPr>
              <a:t>lokasi</a:t>
            </a:r>
            <a:r>
              <a:rPr lang="en-US" dirty="0" smtClean="0">
                <a:latin typeface="Comic Sans MS" panose="030F0702030302020204" pitchFamily="66" charset="0"/>
              </a:rPr>
              <a:t>, </a:t>
            </a:r>
            <a:r>
              <a:rPr lang="en-US" dirty="0" err="1" smtClean="0">
                <a:latin typeface="Comic Sans MS" panose="030F0702030302020204" pitchFamily="66" charset="0"/>
              </a:rPr>
              <a:t>maka</a:t>
            </a:r>
            <a:r>
              <a:rPr lang="en-US" dirty="0" smtClean="0">
                <a:latin typeface="Comic Sans MS" panose="030F0702030302020204" pitchFamily="66" charset="0"/>
              </a:rPr>
              <a:t> :</a:t>
            </a:r>
          </a:p>
          <a:p>
            <a:pPr marL="914400" lvl="1" indent="-457200" algn="just">
              <a:buFont typeface="+mj-lt"/>
              <a:buAutoNum type="arabicPeriod"/>
            </a:pPr>
            <a:r>
              <a:rPr lang="en-US" dirty="0" smtClean="0">
                <a:latin typeface="Comic Sans MS" panose="030F0702030302020204" pitchFamily="66" charset="0"/>
              </a:rPr>
              <a:t>L</a:t>
            </a:r>
            <a:r>
              <a:rPr lang="id-ID" dirty="0" smtClean="0">
                <a:latin typeface="Comic Sans MS" panose="030F0702030302020204" pitchFamily="66" charset="0"/>
              </a:rPr>
              <a:t>akukan </a:t>
            </a:r>
            <a:r>
              <a:rPr lang="id-ID" dirty="0">
                <a:latin typeface="Comic Sans MS" panose="030F0702030302020204" pitchFamily="66" charset="0"/>
              </a:rPr>
              <a:t>sirkulasi internal sampai flow rate stabil, tak ada gelembung2 </a:t>
            </a:r>
            <a:r>
              <a:rPr lang="id-ID" dirty="0" smtClean="0">
                <a:latin typeface="Comic Sans MS" panose="030F0702030302020204" pitchFamily="66" charset="0"/>
              </a:rPr>
              <a:t>lagi</a:t>
            </a:r>
            <a:r>
              <a:rPr lang="en-US" dirty="0" smtClean="0">
                <a:latin typeface="Comic Sans MS" panose="030F0702030302020204" pitchFamily="66" charset="0"/>
              </a:rPr>
              <a:t>, </a:t>
            </a:r>
            <a:r>
              <a:rPr lang="en-US" dirty="0" err="1" smtClean="0">
                <a:latin typeface="Comic Sans MS" panose="030F0702030302020204" pitchFamily="66" charset="0"/>
              </a:rPr>
              <a:t>dan</a:t>
            </a:r>
            <a:r>
              <a:rPr lang="en-US" dirty="0" smtClean="0">
                <a:latin typeface="Comic Sans MS" panose="030F0702030302020204" pitchFamily="66" charset="0"/>
              </a:rPr>
              <a:t> </a:t>
            </a:r>
            <a:r>
              <a:rPr lang="en-US" dirty="0" err="1" smtClean="0">
                <a:latin typeface="Comic Sans MS" panose="030F0702030302020204" pitchFamily="66" charset="0"/>
              </a:rPr>
              <a:t>seluruh</a:t>
            </a:r>
            <a:r>
              <a:rPr lang="en-US" dirty="0" smtClean="0">
                <a:latin typeface="Comic Sans MS" panose="030F0702030302020204" pitchFamily="66" charset="0"/>
              </a:rPr>
              <a:t> slang, pipa2 </a:t>
            </a:r>
            <a:r>
              <a:rPr lang="en-US" dirty="0" err="1" smtClean="0">
                <a:latin typeface="Comic Sans MS" panose="030F0702030302020204" pitchFamily="66" charset="0"/>
              </a:rPr>
              <a:t>dan</a:t>
            </a:r>
            <a:r>
              <a:rPr lang="en-US" dirty="0" smtClean="0">
                <a:latin typeface="Comic Sans MS" panose="030F0702030302020204" pitchFamily="66" charset="0"/>
              </a:rPr>
              <a:t> </a:t>
            </a:r>
            <a:r>
              <a:rPr lang="en-US" dirty="0" err="1" smtClean="0">
                <a:latin typeface="Comic Sans MS" panose="030F0702030302020204" pitchFamily="66" charset="0"/>
              </a:rPr>
              <a:t>peralatan</a:t>
            </a:r>
            <a:r>
              <a:rPr lang="en-US" dirty="0" smtClean="0">
                <a:latin typeface="Comic Sans MS" panose="030F0702030302020204" pitchFamily="66" charset="0"/>
              </a:rPr>
              <a:t> yang </a:t>
            </a:r>
            <a:r>
              <a:rPr lang="en-US" dirty="0" err="1" smtClean="0">
                <a:latin typeface="Comic Sans MS" panose="030F0702030302020204" pitchFamily="66" charset="0"/>
              </a:rPr>
              <a:t>akan</a:t>
            </a:r>
            <a:r>
              <a:rPr lang="en-US" dirty="0" smtClean="0">
                <a:latin typeface="Comic Sans MS" panose="030F0702030302020204" pitchFamily="66" charset="0"/>
              </a:rPr>
              <a:t> </a:t>
            </a:r>
            <a:r>
              <a:rPr lang="en-US" dirty="0" err="1" smtClean="0">
                <a:latin typeface="Comic Sans MS" panose="030F0702030302020204" pitchFamily="66" charset="0"/>
              </a:rPr>
              <a:t>dilalui</a:t>
            </a:r>
            <a:r>
              <a:rPr lang="en-US" dirty="0" smtClean="0">
                <a:latin typeface="Comic Sans MS" panose="030F0702030302020204" pitchFamily="66" charset="0"/>
              </a:rPr>
              <a:t> </a:t>
            </a:r>
            <a:r>
              <a:rPr lang="en-US" dirty="0" err="1" smtClean="0">
                <a:latin typeface="Comic Sans MS" panose="030F0702030302020204" pitchFamily="66" charset="0"/>
              </a:rPr>
              <a:t>minyak</a:t>
            </a:r>
            <a:r>
              <a:rPr lang="en-US" dirty="0" smtClean="0">
                <a:latin typeface="Comic Sans MS" panose="030F0702030302020204" pitchFamily="66" charset="0"/>
              </a:rPr>
              <a:t> </a:t>
            </a:r>
            <a:r>
              <a:rPr lang="en-US" dirty="0" err="1" smtClean="0">
                <a:latin typeface="Comic Sans MS" panose="030F0702030302020204" pitchFamily="66" charset="0"/>
              </a:rPr>
              <a:t>sudah</a:t>
            </a:r>
            <a:r>
              <a:rPr lang="en-US" dirty="0" smtClean="0">
                <a:latin typeface="Comic Sans MS" panose="030F0702030302020204" pitchFamily="66" charset="0"/>
              </a:rPr>
              <a:t> </a:t>
            </a:r>
            <a:r>
              <a:rPr lang="en-US" dirty="0" err="1" smtClean="0">
                <a:latin typeface="Comic Sans MS" panose="030F0702030302020204" pitchFamily="66" charset="0"/>
              </a:rPr>
              <a:t>terisi</a:t>
            </a:r>
            <a:r>
              <a:rPr lang="en-US" dirty="0" smtClean="0">
                <a:latin typeface="Comic Sans MS" panose="030F0702030302020204" pitchFamily="66" charset="0"/>
              </a:rPr>
              <a:t> </a:t>
            </a:r>
            <a:r>
              <a:rPr lang="en-US" dirty="0" err="1" smtClean="0">
                <a:latin typeface="Comic Sans MS" panose="030F0702030302020204" pitchFamily="66" charset="0"/>
              </a:rPr>
              <a:t>minyak</a:t>
            </a:r>
            <a:r>
              <a:rPr lang="en-US" dirty="0" smtClean="0">
                <a:latin typeface="Comic Sans MS" panose="030F0702030302020204" pitchFamily="66" charset="0"/>
              </a:rPr>
              <a:t> </a:t>
            </a:r>
            <a:r>
              <a:rPr lang="en-US" dirty="0" err="1" smtClean="0">
                <a:latin typeface="Comic Sans MS" panose="030F0702030302020204" pitchFamily="66" charset="0"/>
              </a:rPr>
              <a:t>sesuai</a:t>
            </a:r>
            <a:r>
              <a:rPr lang="en-US" dirty="0" smtClean="0">
                <a:latin typeface="Comic Sans MS" panose="030F0702030302020204" pitchFamily="66" charset="0"/>
              </a:rPr>
              <a:t> </a:t>
            </a:r>
            <a:r>
              <a:rPr lang="en-US" dirty="0" err="1" smtClean="0">
                <a:latin typeface="Comic Sans MS" panose="030F0702030302020204" pitchFamily="66" charset="0"/>
              </a:rPr>
              <a:t>kebutuhan</a:t>
            </a:r>
            <a:r>
              <a:rPr lang="en-US" dirty="0" smtClean="0">
                <a:latin typeface="Comic Sans MS" panose="030F0702030302020204" pitchFamily="66" charset="0"/>
              </a:rPr>
              <a:t>.</a:t>
            </a:r>
          </a:p>
          <a:p>
            <a:pPr marL="914400" lvl="1" indent="-457200" algn="just">
              <a:buFont typeface="+mj-lt"/>
              <a:buAutoNum type="arabicPeriod"/>
            </a:pPr>
            <a:r>
              <a:rPr lang="id-ID" dirty="0">
                <a:latin typeface="Comic Sans MS" panose="030F0702030302020204" pitchFamily="66" charset="0"/>
              </a:rPr>
              <a:t>Sambungkan ke </a:t>
            </a:r>
            <a:r>
              <a:rPr lang="id-ID" dirty="0" smtClean="0">
                <a:latin typeface="Comic Sans MS" panose="030F0702030302020204" pitchFamily="66" charset="0"/>
              </a:rPr>
              <a:t>transformator</a:t>
            </a:r>
            <a:r>
              <a:rPr lang="en-US" dirty="0" smtClean="0">
                <a:latin typeface="Comic Sans MS" panose="030F0702030302020204" pitchFamily="66" charset="0"/>
              </a:rPr>
              <a:t>, b</a:t>
            </a:r>
            <a:r>
              <a:rPr lang="id-ID" dirty="0" smtClean="0">
                <a:latin typeface="Comic Sans MS" panose="030F0702030302020204" pitchFamily="66" charset="0"/>
              </a:rPr>
              <a:t>uka </a:t>
            </a:r>
            <a:r>
              <a:rPr lang="id-ID" dirty="0">
                <a:latin typeface="Comic Sans MS" panose="030F0702030302020204" pitchFamily="66" charset="0"/>
              </a:rPr>
              <a:t>kran inlet/outlet ke </a:t>
            </a:r>
            <a:r>
              <a:rPr lang="id-ID" dirty="0" smtClean="0">
                <a:latin typeface="Comic Sans MS" panose="030F0702030302020204" pitchFamily="66" charset="0"/>
              </a:rPr>
              <a:t>transform</a:t>
            </a:r>
            <a:r>
              <a:rPr lang="en-US" dirty="0" smtClean="0">
                <a:latin typeface="Comic Sans MS" panose="030F0702030302020204" pitchFamily="66" charset="0"/>
              </a:rPr>
              <a:t>e</a:t>
            </a:r>
            <a:r>
              <a:rPr lang="id-ID" dirty="0" smtClean="0">
                <a:latin typeface="Comic Sans MS" panose="030F0702030302020204" pitchFamily="66" charset="0"/>
              </a:rPr>
              <a:t>r, </a:t>
            </a:r>
            <a:r>
              <a:rPr lang="id-ID" dirty="0">
                <a:latin typeface="Comic Sans MS" panose="030F0702030302020204" pitchFamily="66" charset="0"/>
              </a:rPr>
              <a:t>serta yakinkan telah </a:t>
            </a:r>
            <a:r>
              <a:rPr lang="id-ID" dirty="0" smtClean="0">
                <a:latin typeface="Comic Sans MS" panose="030F0702030302020204" pitchFamily="66" charset="0"/>
              </a:rPr>
              <a:t>di</a:t>
            </a:r>
            <a:r>
              <a:rPr lang="en-US" dirty="0" smtClean="0">
                <a:latin typeface="Comic Sans MS" panose="030F0702030302020204" pitchFamily="66" charset="0"/>
              </a:rPr>
              <a:t>b</a:t>
            </a:r>
            <a:r>
              <a:rPr lang="id-ID" dirty="0" smtClean="0">
                <a:latin typeface="Comic Sans MS" panose="030F0702030302020204" pitchFamily="66" charset="0"/>
              </a:rPr>
              <a:t>uka </a:t>
            </a:r>
            <a:r>
              <a:rPr lang="id-ID" dirty="0">
                <a:latin typeface="Comic Sans MS" panose="030F0702030302020204" pitchFamily="66" charset="0"/>
              </a:rPr>
              <a:t>dengan baik</a:t>
            </a:r>
            <a:r>
              <a:rPr lang="id-ID" dirty="0" smtClean="0">
                <a:latin typeface="Comic Sans MS" panose="030F0702030302020204" pitchFamily="66" charset="0"/>
              </a:rPr>
              <a:t>.</a:t>
            </a:r>
            <a:r>
              <a:rPr lang="en-US" dirty="0" smtClean="0">
                <a:latin typeface="Comic Sans MS" panose="030F0702030302020204" pitchFamily="66" charset="0"/>
              </a:rPr>
              <a:t> Dan j</a:t>
            </a:r>
            <a:r>
              <a:rPr lang="id-ID" dirty="0" smtClean="0">
                <a:latin typeface="Comic Sans MS" panose="030F0702030302020204" pitchFamily="66" charset="0"/>
              </a:rPr>
              <a:t>alankan unit</a:t>
            </a:r>
            <a:r>
              <a:rPr lang="en-US" dirty="0" smtClean="0">
                <a:latin typeface="Comic Sans MS" panose="030F0702030302020204" pitchFamily="66" charset="0"/>
              </a:rPr>
              <a:t> (</a:t>
            </a:r>
            <a:r>
              <a:rPr lang="en-US" dirty="0" err="1" smtClean="0">
                <a:latin typeface="Comic Sans MS" panose="030F0702030302020204" pitchFamily="66" charset="0"/>
              </a:rPr>
              <a:t>untuk</a:t>
            </a:r>
            <a:r>
              <a:rPr lang="en-US" dirty="0" smtClean="0">
                <a:latin typeface="Comic Sans MS" panose="030F0702030302020204" pitchFamily="66" charset="0"/>
              </a:rPr>
              <a:t> </a:t>
            </a:r>
            <a:r>
              <a:rPr lang="en-US" dirty="0" err="1" smtClean="0">
                <a:latin typeface="Comic Sans MS" panose="030F0702030302020204" pitchFamily="66" charset="0"/>
              </a:rPr>
              <a:t>regenerasi</a:t>
            </a:r>
            <a:r>
              <a:rPr lang="en-US" dirty="0" smtClean="0">
                <a:latin typeface="Comic Sans MS" panose="030F0702030302020204" pitchFamily="66" charset="0"/>
              </a:rPr>
              <a:t>)</a:t>
            </a:r>
            <a:r>
              <a:rPr lang="id-ID" dirty="0" smtClean="0">
                <a:latin typeface="Comic Sans MS" panose="030F0702030302020204" pitchFamily="66" charset="0"/>
              </a:rPr>
              <a:t> </a:t>
            </a:r>
            <a:r>
              <a:rPr lang="id-ID" dirty="0">
                <a:latin typeface="Comic Sans MS" panose="030F0702030302020204" pitchFamily="66" charset="0"/>
              </a:rPr>
              <a:t>sesuai dengan job card yang telah </a:t>
            </a:r>
            <a:r>
              <a:rPr lang="id-ID" dirty="0" smtClean="0">
                <a:latin typeface="Comic Sans MS" panose="030F0702030302020204" pitchFamily="66" charset="0"/>
              </a:rPr>
              <a:t>dibuat/disediakan</a:t>
            </a:r>
            <a:endParaRPr lang="en-US" dirty="0" smtClean="0">
              <a:latin typeface="Comic Sans MS" panose="030F0702030302020204" pitchFamily="66" charset="0"/>
            </a:endParaRPr>
          </a:p>
          <a:p>
            <a:pPr marL="914400" lvl="1" indent="-457200" algn="just">
              <a:buFont typeface="+mj-lt"/>
              <a:buAutoNum type="arabicPeriod"/>
            </a:pPr>
            <a:r>
              <a:rPr lang="en-US" dirty="0" smtClean="0">
                <a:latin typeface="Comic Sans MS" panose="030F0702030302020204" pitchFamily="66" charset="0"/>
              </a:rPr>
              <a:t>B</a:t>
            </a:r>
            <a:r>
              <a:rPr lang="id-ID" dirty="0" smtClean="0">
                <a:latin typeface="Comic Sans MS" panose="030F0702030302020204" pitchFamily="66" charset="0"/>
              </a:rPr>
              <a:t>ila kualitas minyak tidak naik lagi atau sangat lambat kenaikkannya . Hentikan prose</a:t>
            </a:r>
            <a:r>
              <a:rPr lang="en-US" dirty="0" smtClean="0">
                <a:latin typeface="Comic Sans MS" panose="030F0702030302020204" pitchFamily="66" charset="0"/>
              </a:rPr>
              <a:t>s </a:t>
            </a:r>
            <a:r>
              <a:rPr lang="en-US" dirty="0" err="1" smtClean="0">
                <a:latin typeface="Comic Sans MS" panose="030F0702030302020204" pitchFamily="66" charset="0"/>
              </a:rPr>
              <a:t>regenerasi</a:t>
            </a:r>
            <a:r>
              <a:rPr lang="id-ID" dirty="0" smtClean="0">
                <a:latin typeface="Comic Sans MS" panose="030F0702030302020204" pitchFamily="66" charset="0"/>
              </a:rPr>
              <a:t> dan lakukan reaktivasi.</a:t>
            </a:r>
            <a:endParaRPr lang="en-US" dirty="0" smtClean="0">
              <a:latin typeface="Comic Sans MS" panose="030F0702030302020204" pitchFamily="66" charset="0"/>
            </a:endParaRPr>
          </a:p>
          <a:p>
            <a:pPr marL="914400" lvl="1" indent="-457200" algn="just">
              <a:buFont typeface="+mj-lt"/>
              <a:buAutoNum type="arabicPeriod"/>
            </a:pPr>
            <a:endParaRPr lang="en-US" dirty="0">
              <a:latin typeface="Comic Sans MS" panose="030F0702030302020204" pitchFamily="66" charset="0"/>
            </a:endParaRPr>
          </a:p>
          <a:p>
            <a:pPr marL="914400" lvl="1" indent="-457200">
              <a:buFont typeface="+mj-lt"/>
              <a:buAutoNum type="arabicPeriod"/>
            </a:pPr>
            <a:endParaRPr lang="en-US" sz="2000" dirty="0"/>
          </a:p>
        </p:txBody>
      </p:sp>
    </p:spTree>
    <p:extLst>
      <p:ext uri="{BB962C8B-B14F-4D97-AF65-F5344CB8AC3E}">
        <p14:creationId xmlns:p14="http://schemas.microsoft.com/office/powerpoint/2010/main" val="1407889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id-ID" dirty="0">
                <a:latin typeface="Comic Sans MS" panose="030F0702030302020204" pitchFamily="66" charset="0"/>
              </a:rPr>
              <a:t>Bagaimana proses itu dilakukan ?</a:t>
            </a:r>
            <a:endParaRPr lang="en-US" dirty="0"/>
          </a:p>
        </p:txBody>
      </p:sp>
      <p:sp>
        <p:nvSpPr>
          <p:cNvPr id="3" name="Content Placeholder 2"/>
          <p:cNvSpPr>
            <a:spLocks noGrp="1"/>
          </p:cNvSpPr>
          <p:nvPr>
            <p:ph idx="1"/>
          </p:nvPr>
        </p:nvSpPr>
        <p:spPr/>
        <p:txBody>
          <a:bodyPr>
            <a:normAutofit/>
          </a:bodyPr>
          <a:lstStyle/>
          <a:p>
            <a:pPr marL="514350" indent="-514350" algn="just">
              <a:buFont typeface="+mj-lt"/>
              <a:buAutoNum type="arabicPeriod" startAt="3"/>
            </a:pPr>
            <a:r>
              <a:rPr lang="en-US" sz="2400" dirty="0" err="1" smtClean="0">
                <a:latin typeface="Comic Sans MS" panose="030F0702030302020204" pitchFamily="66" charset="0"/>
              </a:rPr>
              <a:t>Reaktivasi</a:t>
            </a:r>
            <a:r>
              <a:rPr lang="en-US" sz="2400" dirty="0" smtClean="0">
                <a:latin typeface="Comic Sans MS" panose="030F0702030302020204" pitchFamily="66" charset="0"/>
              </a:rPr>
              <a:t> </a:t>
            </a:r>
            <a:r>
              <a:rPr lang="en-US" sz="2400" dirty="0" err="1" smtClean="0">
                <a:latin typeface="Comic Sans MS" panose="030F0702030302020204" pitchFamily="66" charset="0"/>
              </a:rPr>
              <a:t>adalah</a:t>
            </a:r>
            <a:r>
              <a:rPr lang="en-US" sz="2400" dirty="0" smtClean="0">
                <a:latin typeface="Comic Sans MS" panose="030F0702030302020204" pitchFamily="66" charset="0"/>
              </a:rPr>
              <a:t> proses intern </a:t>
            </a:r>
            <a:r>
              <a:rPr lang="en-US" sz="2400" dirty="0" err="1" smtClean="0">
                <a:latin typeface="Comic Sans MS" panose="030F0702030302020204" pitchFamily="66" charset="0"/>
              </a:rPr>
              <a:t>sirkulasi</a:t>
            </a:r>
            <a:r>
              <a:rPr lang="en-US" sz="2400" dirty="0" smtClean="0">
                <a:latin typeface="Comic Sans MS" panose="030F0702030302020204" pitchFamily="66" charset="0"/>
              </a:rPr>
              <a:t> (</a:t>
            </a:r>
            <a:r>
              <a:rPr lang="en-US" sz="2400" dirty="0" err="1" smtClean="0">
                <a:latin typeface="Comic Sans MS" panose="030F0702030302020204" pitchFamily="66" charset="0"/>
              </a:rPr>
              <a:t>tidak</a:t>
            </a:r>
            <a:r>
              <a:rPr lang="en-US" sz="2400" dirty="0" smtClean="0">
                <a:latin typeface="Comic Sans MS" panose="030F0702030302020204" pitchFamily="66" charset="0"/>
              </a:rPr>
              <a:t> </a:t>
            </a:r>
            <a:r>
              <a:rPr lang="en-US" sz="2400" dirty="0" err="1" smtClean="0">
                <a:latin typeface="Comic Sans MS" panose="030F0702030302020204" pitchFamily="66" charset="0"/>
              </a:rPr>
              <a:t>masuk</a:t>
            </a:r>
            <a:r>
              <a:rPr lang="en-US" sz="2400" dirty="0" smtClean="0">
                <a:latin typeface="Comic Sans MS" panose="030F0702030302020204" pitchFamily="66" charset="0"/>
              </a:rPr>
              <a:t> </a:t>
            </a:r>
            <a:r>
              <a:rPr lang="en-US" sz="2400" dirty="0" err="1" smtClean="0">
                <a:latin typeface="Comic Sans MS" panose="030F0702030302020204" pitchFamily="66" charset="0"/>
              </a:rPr>
              <a:t>ke</a:t>
            </a:r>
            <a:r>
              <a:rPr lang="en-US" sz="2400" dirty="0" smtClean="0">
                <a:latin typeface="Comic Sans MS" panose="030F0702030302020204" pitchFamily="66" charset="0"/>
              </a:rPr>
              <a:t> transformer) </a:t>
            </a:r>
            <a:r>
              <a:rPr lang="en-US" sz="2400" dirty="0" err="1" smtClean="0">
                <a:latin typeface="Comic Sans MS" panose="030F0702030302020204" pitchFamily="66" charset="0"/>
              </a:rPr>
              <a:t>dengan</a:t>
            </a:r>
            <a:r>
              <a:rPr lang="en-US" sz="2400" dirty="0" smtClean="0">
                <a:latin typeface="Comic Sans MS" panose="030F0702030302020204" pitchFamily="66" charset="0"/>
              </a:rPr>
              <a:t> </a:t>
            </a:r>
            <a:r>
              <a:rPr lang="en-US" sz="2400" dirty="0" err="1" smtClean="0">
                <a:latin typeface="Comic Sans MS" panose="030F0702030302020204" pitchFamily="66" charset="0"/>
              </a:rPr>
              <a:t>tujuan</a:t>
            </a:r>
            <a:r>
              <a:rPr lang="en-US" sz="2400" dirty="0" smtClean="0">
                <a:latin typeface="Comic Sans MS" panose="030F0702030302020204" pitchFamily="66" charset="0"/>
              </a:rPr>
              <a:t> </a:t>
            </a:r>
            <a:r>
              <a:rPr lang="en-US" sz="2400" dirty="0" err="1" smtClean="0">
                <a:latin typeface="Comic Sans MS" panose="030F0702030302020204" pitchFamily="66" charset="0"/>
              </a:rPr>
              <a:t>mengembalikan</a:t>
            </a:r>
            <a:r>
              <a:rPr lang="en-US" sz="2400" dirty="0" smtClean="0">
                <a:latin typeface="Comic Sans MS" panose="030F0702030302020204" pitchFamily="66" charset="0"/>
              </a:rPr>
              <a:t> </a:t>
            </a:r>
            <a:r>
              <a:rPr lang="en-US" sz="2400" dirty="0" err="1" smtClean="0">
                <a:latin typeface="Comic Sans MS" panose="030F0702030302020204" pitchFamily="66" charset="0"/>
              </a:rPr>
              <a:t>fungsi</a:t>
            </a:r>
            <a:r>
              <a:rPr lang="en-US" sz="2400" dirty="0" smtClean="0">
                <a:latin typeface="Comic Sans MS" panose="030F0702030302020204" pitchFamily="66" charset="0"/>
              </a:rPr>
              <a:t> fuller earth </a:t>
            </a:r>
            <a:r>
              <a:rPr lang="en-US" sz="2400" dirty="0" err="1" smtClean="0">
                <a:latin typeface="Comic Sans MS" panose="030F0702030302020204" pitchFamily="66" charset="0"/>
              </a:rPr>
              <a:t>dengan</a:t>
            </a:r>
            <a:r>
              <a:rPr lang="en-US" sz="2400" dirty="0" smtClean="0">
                <a:latin typeface="Comic Sans MS" panose="030F0702030302020204" pitchFamily="66" charset="0"/>
              </a:rPr>
              <a:t> </a:t>
            </a:r>
            <a:r>
              <a:rPr lang="en-US" sz="2400" dirty="0" err="1" smtClean="0">
                <a:latin typeface="Comic Sans MS" panose="030F0702030302020204" pitchFamily="66" charset="0"/>
              </a:rPr>
              <a:t>membakar</a:t>
            </a:r>
            <a:r>
              <a:rPr lang="en-US" sz="2400" dirty="0" smtClean="0">
                <a:latin typeface="Comic Sans MS" panose="030F0702030302020204" pitchFamily="66" charset="0"/>
              </a:rPr>
              <a:t> </a:t>
            </a:r>
            <a:r>
              <a:rPr lang="en-US" sz="2400" dirty="0" err="1" smtClean="0">
                <a:latin typeface="Comic Sans MS" panose="030F0702030302020204" pitchFamily="66" charset="0"/>
              </a:rPr>
              <a:t>kotoran</a:t>
            </a:r>
            <a:r>
              <a:rPr lang="en-US" sz="2400" dirty="0" smtClean="0">
                <a:latin typeface="Comic Sans MS" panose="030F0702030302020204" pitchFamily="66" charset="0"/>
              </a:rPr>
              <a:t> yang “</a:t>
            </a:r>
            <a:r>
              <a:rPr lang="en-US" sz="2400" dirty="0" err="1" smtClean="0">
                <a:latin typeface="Comic Sans MS" panose="030F0702030302020204" pitchFamily="66" charset="0"/>
              </a:rPr>
              <a:t>tertampung</a:t>
            </a:r>
            <a:r>
              <a:rPr lang="en-US" sz="2400" dirty="0" smtClean="0">
                <a:latin typeface="Comic Sans MS" panose="030F0702030302020204" pitchFamily="66" charset="0"/>
              </a:rPr>
              <a:t>” di fuller earth.</a:t>
            </a:r>
          </a:p>
          <a:p>
            <a:pPr marL="514350" indent="-514350" algn="just">
              <a:buFont typeface="+mj-lt"/>
              <a:buAutoNum type="arabicPeriod" startAt="3"/>
            </a:pPr>
            <a:r>
              <a:rPr lang="en-US" sz="2400" dirty="0" err="1" smtClean="0">
                <a:latin typeface="Comic Sans MS" panose="030F0702030302020204" pitchFamily="66" charset="0"/>
              </a:rPr>
              <a:t>Lakukan</a:t>
            </a:r>
            <a:r>
              <a:rPr lang="en-US" sz="2400" dirty="0" smtClean="0">
                <a:latin typeface="Comic Sans MS" panose="030F0702030302020204" pitchFamily="66" charset="0"/>
              </a:rPr>
              <a:t> </a:t>
            </a:r>
            <a:r>
              <a:rPr lang="en-US" sz="2400" dirty="0" err="1" smtClean="0">
                <a:latin typeface="Comic Sans MS" panose="030F0702030302020204" pitchFamily="66" charset="0"/>
              </a:rPr>
              <a:t>tahapan</a:t>
            </a:r>
            <a:r>
              <a:rPr lang="en-US" sz="2400" dirty="0" smtClean="0">
                <a:latin typeface="Comic Sans MS" panose="030F0702030302020204" pitchFamily="66" charset="0"/>
              </a:rPr>
              <a:t> 2 &amp; 3 </a:t>
            </a:r>
            <a:r>
              <a:rPr lang="en-US" sz="2400" dirty="0" err="1" smtClean="0">
                <a:latin typeface="Comic Sans MS" panose="030F0702030302020204" pitchFamily="66" charset="0"/>
              </a:rPr>
              <a:t>berulang</a:t>
            </a:r>
            <a:r>
              <a:rPr lang="en-US" sz="2400" dirty="0" smtClean="0">
                <a:latin typeface="Comic Sans MS" panose="030F0702030302020204" pitchFamily="66" charset="0"/>
              </a:rPr>
              <a:t> </a:t>
            </a:r>
            <a:r>
              <a:rPr lang="en-US" sz="2400" dirty="0" err="1" smtClean="0">
                <a:latin typeface="Comic Sans MS" panose="030F0702030302020204" pitchFamily="66" charset="0"/>
              </a:rPr>
              <a:t>ulang</a:t>
            </a:r>
            <a:r>
              <a:rPr lang="en-US" sz="2400" dirty="0" smtClean="0">
                <a:latin typeface="Comic Sans MS" panose="030F0702030302020204" pitchFamily="66" charset="0"/>
              </a:rPr>
              <a:t> </a:t>
            </a:r>
            <a:r>
              <a:rPr lang="en-US" sz="2400" dirty="0" err="1" smtClean="0">
                <a:latin typeface="Comic Sans MS" panose="030F0702030302020204" pitchFamily="66" charset="0"/>
              </a:rPr>
              <a:t>sampai</a:t>
            </a:r>
            <a:r>
              <a:rPr lang="en-US" sz="2400" dirty="0" smtClean="0">
                <a:latin typeface="Comic Sans MS" panose="030F0702030302020204" pitchFamily="66" charset="0"/>
              </a:rPr>
              <a:t> </a:t>
            </a:r>
            <a:r>
              <a:rPr lang="en-US" sz="2400" dirty="0" err="1" smtClean="0">
                <a:latin typeface="Comic Sans MS" panose="030F0702030302020204" pitchFamily="66" charset="0"/>
              </a:rPr>
              <a:t>tercapai</a:t>
            </a:r>
            <a:r>
              <a:rPr lang="en-US" sz="2400" dirty="0" smtClean="0">
                <a:latin typeface="Comic Sans MS" panose="030F0702030302020204" pitchFamily="66" charset="0"/>
              </a:rPr>
              <a:t> </a:t>
            </a:r>
            <a:r>
              <a:rPr lang="en-US" sz="2400" dirty="0" err="1" smtClean="0">
                <a:latin typeface="Comic Sans MS" panose="030F0702030302020204" pitchFamily="66" charset="0"/>
              </a:rPr>
              <a:t>nilai</a:t>
            </a:r>
            <a:r>
              <a:rPr lang="en-US" sz="2400" dirty="0" smtClean="0">
                <a:latin typeface="Comic Sans MS" panose="030F0702030302020204" pitchFamily="66" charset="0"/>
              </a:rPr>
              <a:t> yang </a:t>
            </a:r>
            <a:r>
              <a:rPr lang="en-US" sz="2400" dirty="0" err="1" smtClean="0">
                <a:latin typeface="Comic Sans MS" panose="030F0702030302020204" pitchFamily="66" charset="0"/>
              </a:rPr>
              <a:t>ditentukan</a:t>
            </a:r>
            <a:r>
              <a:rPr lang="en-US" sz="2400" dirty="0">
                <a:latin typeface="Comic Sans MS" panose="030F0702030302020204" pitchFamily="66" charset="0"/>
              </a:rPr>
              <a:t> </a:t>
            </a:r>
            <a:r>
              <a:rPr lang="en-US" sz="2400" dirty="0" smtClean="0">
                <a:latin typeface="Comic Sans MS" panose="030F0702030302020204" pitchFamily="66" charset="0"/>
              </a:rPr>
              <a:t>(</a:t>
            </a:r>
            <a:r>
              <a:rPr lang="en-US" sz="2400" dirty="0" err="1" smtClean="0">
                <a:latin typeface="Comic Sans MS" panose="030F0702030302020204" pitchFamily="66" charset="0"/>
              </a:rPr>
              <a:t>tidak</a:t>
            </a:r>
            <a:r>
              <a:rPr lang="en-US" sz="2400" dirty="0" smtClean="0">
                <a:latin typeface="Comic Sans MS" panose="030F0702030302020204" pitchFamily="66" charset="0"/>
              </a:rPr>
              <a:t> </a:t>
            </a:r>
            <a:r>
              <a:rPr lang="en-US" sz="2400" dirty="0" err="1" smtClean="0">
                <a:latin typeface="Comic Sans MS" panose="030F0702030302020204" pitchFamily="66" charset="0"/>
              </a:rPr>
              <a:t>tergantung</a:t>
            </a:r>
            <a:r>
              <a:rPr lang="en-US" sz="2400" dirty="0" smtClean="0">
                <a:latin typeface="Comic Sans MS" panose="030F0702030302020204" pitchFamily="66" charset="0"/>
              </a:rPr>
              <a:t> </a:t>
            </a:r>
            <a:r>
              <a:rPr lang="en-US" sz="2400" dirty="0" err="1" smtClean="0">
                <a:latin typeface="Comic Sans MS" panose="030F0702030302020204" pitchFamily="66" charset="0"/>
              </a:rPr>
              <a:t>dari</a:t>
            </a:r>
            <a:r>
              <a:rPr lang="en-US" sz="2400" dirty="0" smtClean="0">
                <a:latin typeface="Comic Sans MS" panose="030F0702030302020204" pitchFamily="66" charset="0"/>
              </a:rPr>
              <a:t> </a:t>
            </a:r>
            <a:r>
              <a:rPr lang="en-US" sz="2400" dirty="0" err="1" smtClean="0">
                <a:latin typeface="Comic Sans MS" panose="030F0702030302020204" pitchFamily="66" charset="0"/>
              </a:rPr>
              <a:t>jumlah</a:t>
            </a:r>
            <a:r>
              <a:rPr lang="en-US" sz="2400" dirty="0" smtClean="0">
                <a:latin typeface="Comic Sans MS" panose="030F0702030302020204" pitchFamily="66" charset="0"/>
              </a:rPr>
              <a:t> </a:t>
            </a:r>
            <a:r>
              <a:rPr lang="en-US" sz="2400" dirty="0" err="1" smtClean="0">
                <a:latin typeface="Comic Sans MS" panose="030F0702030302020204" pitchFamily="66" charset="0"/>
              </a:rPr>
              <a:t>laluan</a:t>
            </a:r>
            <a:r>
              <a:rPr lang="en-US" sz="2400" dirty="0" smtClean="0">
                <a:latin typeface="Comic Sans MS" panose="030F0702030302020204" pitchFamily="66" charset="0"/>
              </a:rPr>
              <a:t> –cycle-)</a:t>
            </a:r>
          </a:p>
          <a:p>
            <a:pPr marL="514350" indent="-514350" algn="just">
              <a:buFont typeface="+mj-lt"/>
              <a:buAutoNum type="arabicPeriod" startAt="3"/>
            </a:pPr>
            <a:r>
              <a:rPr lang="en-US" sz="2400" dirty="0" err="1" smtClean="0">
                <a:latin typeface="Comic Sans MS" panose="030F0702030302020204" pitchFamily="66" charset="0"/>
              </a:rPr>
              <a:t>Kemudian</a:t>
            </a:r>
            <a:r>
              <a:rPr lang="en-US" sz="2400" dirty="0" smtClean="0">
                <a:latin typeface="Comic Sans MS" panose="030F0702030302020204" pitchFamily="66" charset="0"/>
              </a:rPr>
              <a:t> </a:t>
            </a:r>
            <a:r>
              <a:rPr lang="en-US" sz="2400" dirty="0" err="1" smtClean="0">
                <a:latin typeface="Comic Sans MS" panose="030F0702030302020204" pitchFamily="66" charset="0"/>
              </a:rPr>
              <a:t>lakukan</a:t>
            </a:r>
            <a:r>
              <a:rPr lang="en-US" sz="2400" dirty="0" smtClean="0">
                <a:latin typeface="Comic Sans MS" panose="030F0702030302020204" pitchFamily="66" charset="0"/>
              </a:rPr>
              <a:t> heating, </a:t>
            </a:r>
            <a:r>
              <a:rPr lang="en-US" sz="2400" dirty="0" err="1" smtClean="0">
                <a:latin typeface="Comic Sans MS" panose="030F0702030302020204" pitchFamily="66" charset="0"/>
              </a:rPr>
              <a:t>dengan</a:t>
            </a:r>
            <a:r>
              <a:rPr lang="en-US" sz="2400" dirty="0" smtClean="0">
                <a:latin typeface="Comic Sans MS" panose="030F0702030302020204" pitchFamily="66" charset="0"/>
              </a:rPr>
              <a:t> </a:t>
            </a:r>
            <a:r>
              <a:rPr lang="en-US" sz="2400" dirty="0" err="1" smtClean="0">
                <a:latin typeface="Comic Sans MS" panose="030F0702030302020204" pitchFamily="66" charset="0"/>
              </a:rPr>
              <a:t>tujuan</a:t>
            </a:r>
            <a:r>
              <a:rPr lang="en-US" sz="2400" dirty="0" smtClean="0">
                <a:latin typeface="Comic Sans MS" panose="030F0702030302020204" pitchFamily="66" charset="0"/>
              </a:rPr>
              <a:t> </a:t>
            </a:r>
            <a:r>
              <a:rPr lang="en-US" sz="2400" dirty="0" err="1" smtClean="0">
                <a:latin typeface="Comic Sans MS" panose="030F0702030302020204" pitchFamily="66" charset="0"/>
              </a:rPr>
              <a:t>utama</a:t>
            </a:r>
            <a:r>
              <a:rPr lang="en-US" sz="2400" dirty="0" smtClean="0">
                <a:latin typeface="Comic Sans MS" panose="030F0702030302020204" pitchFamily="66" charset="0"/>
              </a:rPr>
              <a:t> </a:t>
            </a:r>
            <a:r>
              <a:rPr lang="en-US" sz="2400" dirty="0" err="1" smtClean="0">
                <a:latin typeface="Comic Sans MS" panose="030F0702030302020204" pitchFamily="66" charset="0"/>
              </a:rPr>
              <a:t>menghilangkan</a:t>
            </a:r>
            <a:r>
              <a:rPr lang="en-US" sz="2400" dirty="0" smtClean="0">
                <a:latin typeface="Comic Sans MS" panose="030F0702030302020204" pitchFamily="66" charset="0"/>
              </a:rPr>
              <a:t> sisa2 moisture yang </a:t>
            </a:r>
            <a:r>
              <a:rPr lang="en-US" sz="2400" dirty="0" err="1" smtClean="0">
                <a:latin typeface="Comic Sans MS" panose="030F0702030302020204" pitchFamily="66" charset="0"/>
              </a:rPr>
              <a:t>mungkin</a:t>
            </a:r>
            <a:r>
              <a:rPr lang="en-US" sz="2400" dirty="0" smtClean="0">
                <a:latin typeface="Comic Sans MS" panose="030F0702030302020204" pitchFamily="66" charset="0"/>
              </a:rPr>
              <a:t> </a:t>
            </a:r>
            <a:r>
              <a:rPr lang="en-US" sz="2400" dirty="0" err="1" smtClean="0">
                <a:latin typeface="Comic Sans MS" panose="030F0702030302020204" pitchFamily="66" charset="0"/>
              </a:rPr>
              <a:t>tertinggal</a:t>
            </a:r>
            <a:r>
              <a:rPr lang="en-US" sz="2400" dirty="0" smtClean="0">
                <a:latin typeface="Comic Sans MS" panose="030F0702030302020204" pitchFamily="66" charset="0"/>
              </a:rPr>
              <a:t> (</a:t>
            </a:r>
            <a:r>
              <a:rPr lang="en-US" sz="2400" dirty="0" err="1" smtClean="0">
                <a:latin typeface="Comic Sans MS" panose="030F0702030302020204" pitchFamily="66" charset="0"/>
              </a:rPr>
              <a:t>dalam</a:t>
            </a:r>
            <a:r>
              <a:rPr lang="en-US" sz="2400" dirty="0" smtClean="0">
                <a:latin typeface="Comic Sans MS" panose="030F0702030302020204" pitchFamily="66" charset="0"/>
              </a:rPr>
              <a:t> </a:t>
            </a:r>
            <a:r>
              <a:rPr lang="en-US" sz="2400" dirty="0" err="1" smtClean="0">
                <a:latin typeface="Comic Sans MS" panose="030F0702030302020204" pitchFamily="66" charset="0"/>
              </a:rPr>
              <a:t>minyak</a:t>
            </a:r>
            <a:r>
              <a:rPr lang="en-US" sz="2400" dirty="0" smtClean="0">
                <a:latin typeface="Comic Sans MS" panose="030F0702030302020204" pitchFamily="66" charset="0"/>
              </a:rPr>
              <a:t> </a:t>
            </a:r>
            <a:r>
              <a:rPr lang="en-US" sz="2400" dirty="0">
                <a:latin typeface="Comic Sans MS" panose="030F0702030302020204" pitchFamily="66" charset="0"/>
              </a:rPr>
              <a:t>&amp; </a:t>
            </a:r>
            <a:r>
              <a:rPr lang="en-US" sz="2400" dirty="0" err="1" smtClean="0">
                <a:latin typeface="Comic Sans MS" panose="030F0702030302020204" pitchFamily="66" charset="0"/>
              </a:rPr>
              <a:t>isolasi</a:t>
            </a:r>
            <a:r>
              <a:rPr lang="en-US" sz="2400" dirty="0" smtClean="0">
                <a:latin typeface="Comic Sans MS" panose="030F0702030302020204" pitchFamily="66" charset="0"/>
              </a:rPr>
              <a:t>, transformer). </a:t>
            </a:r>
            <a:r>
              <a:rPr lang="en-US" sz="2400" dirty="0" err="1" smtClean="0">
                <a:latin typeface="Comic Sans MS" panose="030F0702030302020204" pitchFamily="66" charset="0"/>
              </a:rPr>
              <a:t>Dalam</a:t>
            </a:r>
            <a:r>
              <a:rPr lang="en-US" sz="2400" dirty="0" smtClean="0">
                <a:latin typeface="Comic Sans MS" panose="030F0702030302020204" pitchFamily="66" charset="0"/>
              </a:rPr>
              <a:t> </a:t>
            </a:r>
            <a:r>
              <a:rPr lang="en-US" sz="2400" dirty="0" err="1" smtClean="0">
                <a:latin typeface="Comic Sans MS" panose="030F0702030302020204" pitchFamily="66" charset="0"/>
              </a:rPr>
              <a:t>prosses</a:t>
            </a:r>
            <a:r>
              <a:rPr lang="en-US" sz="2400" dirty="0" smtClean="0">
                <a:latin typeface="Comic Sans MS" panose="030F0702030302020204" pitchFamily="66" charset="0"/>
              </a:rPr>
              <a:t> </a:t>
            </a:r>
            <a:r>
              <a:rPr lang="en-US" sz="2400" dirty="0" err="1" smtClean="0">
                <a:latin typeface="Comic Sans MS" panose="030F0702030302020204" pitchFamily="66" charset="0"/>
              </a:rPr>
              <a:t>nomor</a:t>
            </a:r>
            <a:r>
              <a:rPr lang="en-US" sz="2400" dirty="0" smtClean="0">
                <a:latin typeface="Comic Sans MS" panose="030F0702030302020204" pitchFamily="66" charset="0"/>
              </a:rPr>
              <a:t> 2 (</a:t>
            </a:r>
            <a:r>
              <a:rPr lang="en-US" sz="2400" dirty="0" err="1" smtClean="0">
                <a:latin typeface="Comic Sans MS" panose="030F0702030302020204" pitchFamily="66" charset="0"/>
              </a:rPr>
              <a:t>regenerasi</a:t>
            </a:r>
            <a:r>
              <a:rPr lang="en-US" sz="2400" dirty="0" smtClean="0">
                <a:latin typeface="Comic Sans MS" panose="030F0702030302020204" pitchFamily="66" charset="0"/>
              </a:rPr>
              <a:t>) </a:t>
            </a:r>
            <a:r>
              <a:rPr lang="en-US" sz="2400" dirty="0" err="1" smtClean="0">
                <a:latin typeface="Comic Sans MS" panose="030F0702030302020204" pitchFamily="66" charset="0"/>
              </a:rPr>
              <a:t>juga</a:t>
            </a:r>
            <a:r>
              <a:rPr lang="en-US" sz="2400" dirty="0" smtClean="0">
                <a:latin typeface="Comic Sans MS" panose="030F0702030302020204" pitchFamily="66" charset="0"/>
              </a:rPr>
              <a:t> </a:t>
            </a:r>
            <a:r>
              <a:rPr lang="en-US" sz="2400" dirty="0" err="1" smtClean="0">
                <a:latin typeface="Comic Sans MS" panose="030F0702030302020204" pitchFamily="66" charset="0"/>
              </a:rPr>
              <a:t>dilakukan</a:t>
            </a:r>
            <a:r>
              <a:rPr lang="en-US" sz="2400" dirty="0" smtClean="0">
                <a:latin typeface="Comic Sans MS" panose="030F0702030302020204" pitchFamily="66" charset="0"/>
              </a:rPr>
              <a:t> heating.</a:t>
            </a:r>
          </a:p>
          <a:p>
            <a:pPr marL="514350" indent="-514350" algn="just">
              <a:buFont typeface="+mj-lt"/>
              <a:buAutoNum type="arabicPeriod" startAt="3"/>
            </a:pPr>
            <a:r>
              <a:rPr lang="en-US" sz="2400" dirty="0" err="1" smtClean="0">
                <a:latin typeface="Comic Sans MS" panose="030F0702030302020204" pitchFamily="66" charset="0"/>
              </a:rPr>
              <a:t>Lakukan</a:t>
            </a:r>
            <a:r>
              <a:rPr lang="en-US" sz="2400" dirty="0" smtClean="0">
                <a:latin typeface="Comic Sans MS" panose="030F0702030302020204" pitchFamily="66" charset="0"/>
              </a:rPr>
              <a:t> </a:t>
            </a:r>
            <a:r>
              <a:rPr lang="en-US" sz="2400" dirty="0" err="1" smtClean="0">
                <a:latin typeface="Comic Sans MS" panose="030F0702030302020204" pitchFamily="66" charset="0"/>
              </a:rPr>
              <a:t>penambahan</a:t>
            </a:r>
            <a:r>
              <a:rPr lang="en-US" sz="2400" dirty="0" smtClean="0">
                <a:latin typeface="Comic Sans MS" panose="030F0702030302020204" pitchFamily="66" charset="0"/>
              </a:rPr>
              <a:t> inhibitor </a:t>
            </a:r>
            <a:r>
              <a:rPr lang="en-US" sz="2400" dirty="0" err="1" smtClean="0">
                <a:latin typeface="Comic Sans MS" panose="030F0702030302020204" pitchFamily="66" charset="0"/>
              </a:rPr>
              <a:t>dan</a:t>
            </a:r>
            <a:r>
              <a:rPr lang="en-US" sz="2400" dirty="0" smtClean="0">
                <a:latin typeface="Comic Sans MS" panose="030F0702030302020204" pitchFamily="66" charset="0"/>
              </a:rPr>
              <a:t> </a:t>
            </a:r>
            <a:r>
              <a:rPr lang="en-US" sz="2400" dirty="0" err="1" smtClean="0">
                <a:latin typeface="Comic Sans MS" panose="030F0702030302020204" pitchFamily="66" charset="0"/>
              </a:rPr>
              <a:t>atau</a:t>
            </a:r>
            <a:r>
              <a:rPr lang="en-US" sz="2400" dirty="0" smtClean="0">
                <a:latin typeface="Comic Sans MS" panose="030F0702030302020204" pitchFamily="66" charset="0"/>
              </a:rPr>
              <a:t> </a:t>
            </a:r>
            <a:r>
              <a:rPr lang="en-US" sz="2400" dirty="0" err="1" smtClean="0">
                <a:latin typeface="Comic Sans MS" panose="030F0702030302020204" pitchFamily="66" charset="0"/>
              </a:rPr>
              <a:t>passivator</a:t>
            </a:r>
            <a:r>
              <a:rPr lang="en-US" sz="2400" dirty="0" smtClean="0">
                <a:latin typeface="Comic Sans MS" panose="030F0702030302020204" pitchFamily="66" charset="0"/>
              </a:rPr>
              <a:t>, </a:t>
            </a:r>
            <a:r>
              <a:rPr lang="en-US" sz="2400" dirty="0" err="1" smtClean="0">
                <a:latin typeface="Comic Sans MS" panose="030F0702030302020204" pitchFamily="66" charset="0"/>
              </a:rPr>
              <a:t>bila</a:t>
            </a:r>
            <a:r>
              <a:rPr lang="en-US" sz="2400" dirty="0" smtClean="0">
                <a:latin typeface="Comic Sans MS" panose="030F0702030302020204" pitchFamily="66" charset="0"/>
              </a:rPr>
              <a:t> </a:t>
            </a:r>
            <a:r>
              <a:rPr lang="en-US" sz="2400" dirty="0" err="1" smtClean="0">
                <a:latin typeface="Comic Sans MS" panose="030F0702030302020204" pitchFamily="66" charset="0"/>
              </a:rPr>
              <a:t>diperlukan</a:t>
            </a:r>
            <a:r>
              <a:rPr lang="en-US" sz="2400" dirty="0" smtClean="0">
                <a:latin typeface="Comic Sans MS" panose="030F0702030302020204" pitchFamily="66" charset="0"/>
              </a:rPr>
              <a:t>/ </a:t>
            </a:r>
            <a:r>
              <a:rPr lang="en-US" sz="2400" dirty="0" err="1" smtClean="0">
                <a:latin typeface="Comic Sans MS" panose="030F0702030302020204" pitchFamily="66" charset="0"/>
              </a:rPr>
              <a:t>diminta</a:t>
            </a:r>
            <a:r>
              <a:rPr lang="en-US" sz="2400" dirty="0" smtClean="0">
                <a:latin typeface="Comic Sans MS" panose="030F0702030302020204" pitchFamily="66" charset="0"/>
              </a:rPr>
              <a:t>. </a:t>
            </a:r>
            <a:r>
              <a:rPr lang="en-US" sz="2400" dirty="0" err="1" smtClean="0">
                <a:latin typeface="Comic Sans MS" panose="030F0702030302020204" pitchFamily="66" charset="0"/>
              </a:rPr>
              <a:t>Ini</a:t>
            </a:r>
            <a:r>
              <a:rPr lang="en-US" sz="2400" dirty="0" smtClean="0">
                <a:latin typeface="Comic Sans MS" panose="030F0702030302020204" pitchFamily="66" charset="0"/>
              </a:rPr>
              <a:t> </a:t>
            </a:r>
            <a:r>
              <a:rPr lang="en-US" sz="2400" dirty="0" err="1" smtClean="0">
                <a:latin typeface="Comic Sans MS" panose="030F0702030302020204" pitchFamily="66" charset="0"/>
              </a:rPr>
              <a:t>adalah</a:t>
            </a:r>
            <a:r>
              <a:rPr lang="en-US" sz="2400" dirty="0" smtClean="0">
                <a:latin typeface="Comic Sans MS" panose="030F0702030302020204" pitchFamily="66" charset="0"/>
              </a:rPr>
              <a:t> </a:t>
            </a:r>
            <a:r>
              <a:rPr lang="en-US" sz="2400" dirty="0" err="1" smtClean="0">
                <a:latin typeface="Comic Sans MS" panose="030F0702030302020204" pitchFamily="66" charset="0"/>
              </a:rPr>
              <a:t>akhir</a:t>
            </a:r>
            <a:r>
              <a:rPr lang="en-US" sz="2400" dirty="0" smtClean="0">
                <a:latin typeface="Comic Sans MS" panose="030F0702030302020204" pitchFamily="66" charset="0"/>
              </a:rPr>
              <a:t> </a:t>
            </a:r>
            <a:r>
              <a:rPr lang="en-US" sz="2400" dirty="0" err="1" smtClean="0">
                <a:latin typeface="Comic Sans MS" panose="030F0702030302020204" pitchFamily="66" charset="0"/>
              </a:rPr>
              <a:t>dari</a:t>
            </a:r>
            <a:r>
              <a:rPr lang="en-US" sz="2400" dirty="0" smtClean="0">
                <a:latin typeface="Comic Sans MS" panose="030F0702030302020204" pitchFamily="66" charset="0"/>
              </a:rPr>
              <a:t> proses </a:t>
            </a:r>
            <a:r>
              <a:rPr lang="en-US" sz="2400" dirty="0" err="1" smtClean="0">
                <a:latin typeface="Comic Sans MS" panose="030F0702030302020204" pitchFamily="66" charset="0"/>
              </a:rPr>
              <a:t>regenerasi</a:t>
            </a:r>
            <a:r>
              <a:rPr lang="en-US" sz="2400" dirty="0" smtClean="0">
                <a:latin typeface="Comic Sans MS" panose="030F0702030302020204" pitchFamily="66" charset="0"/>
              </a:rPr>
              <a:t>.</a:t>
            </a:r>
            <a:endParaRPr lang="en-US" sz="2400" dirty="0">
              <a:latin typeface="Comic Sans MS" panose="030F0702030302020204" pitchFamily="66" charset="0"/>
            </a:endParaRPr>
          </a:p>
        </p:txBody>
      </p:sp>
    </p:spTree>
    <p:extLst>
      <p:ext uri="{BB962C8B-B14F-4D97-AF65-F5344CB8AC3E}">
        <p14:creationId xmlns:p14="http://schemas.microsoft.com/office/powerpoint/2010/main" val="1101947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id-ID" dirty="0">
                <a:latin typeface="Comic Sans MS" panose="030F0702030302020204" pitchFamily="66" charset="0"/>
              </a:rPr>
              <a:t>Bagaimana </a:t>
            </a:r>
            <a:r>
              <a:rPr lang="en-US" dirty="0" err="1" smtClean="0">
                <a:latin typeface="Comic Sans MS" panose="030F0702030302020204" pitchFamily="66" charset="0"/>
              </a:rPr>
              <a:t>pengamanan</a:t>
            </a:r>
            <a:r>
              <a:rPr lang="en-US" dirty="0" smtClean="0">
                <a:latin typeface="Comic Sans MS" panose="030F0702030302020204" pitchFamily="66" charset="0"/>
              </a:rPr>
              <a:t> </a:t>
            </a:r>
            <a:r>
              <a:rPr lang="id-ID" dirty="0" smtClean="0">
                <a:latin typeface="Comic Sans MS" panose="030F0702030302020204" pitchFamily="66" charset="0"/>
              </a:rPr>
              <a:t>proses </a:t>
            </a:r>
            <a:r>
              <a:rPr lang="id-ID" dirty="0">
                <a:latin typeface="Comic Sans MS" panose="030F0702030302020204" pitchFamily="66" charset="0"/>
              </a:rPr>
              <a:t>itu dilakukan ?</a:t>
            </a:r>
            <a:endParaRPr lang="en-US" dirty="0"/>
          </a:p>
        </p:txBody>
      </p:sp>
      <p:sp>
        <p:nvSpPr>
          <p:cNvPr id="3" name="Content Placeholder 2"/>
          <p:cNvSpPr>
            <a:spLocks noGrp="1"/>
          </p:cNvSpPr>
          <p:nvPr>
            <p:ph idx="1"/>
          </p:nvPr>
        </p:nvSpPr>
        <p:spPr/>
        <p:txBody>
          <a:bodyPr>
            <a:normAutofit/>
          </a:bodyPr>
          <a:lstStyle/>
          <a:p>
            <a:pPr algn="just"/>
            <a:r>
              <a:rPr lang="en-US" sz="2400" dirty="0" err="1" smtClean="0">
                <a:latin typeface="Comic Sans MS" panose="030F0702030302020204" pitchFamily="66" charset="0"/>
              </a:rPr>
              <a:t>Untuk</a:t>
            </a:r>
            <a:r>
              <a:rPr lang="en-US" sz="2400" dirty="0" smtClean="0">
                <a:latin typeface="Comic Sans MS" panose="030F0702030302020204" pitchFamily="66" charset="0"/>
              </a:rPr>
              <a:t> Power </a:t>
            </a:r>
            <a:r>
              <a:rPr lang="en-US" sz="2400" dirty="0" err="1" smtClean="0">
                <a:latin typeface="Comic Sans MS" panose="030F0702030302020204" pitchFamily="66" charset="0"/>
              </a:rPr>
              <a:t>dipasang</a:t>
            </a:r>
            <a:r>
              <a:rPr lang="en-US" sz="2400" dirty="0" smtClean="0">
                <a:latin typeface="Comic Sans MS" panose="030F0702030302020204" pitchFamily="66" charset="0"/>
              </a:rPr>
              <a:t> over voltage </a:t>
            </a:r>
            <a:r>
              <a:rPr lang="en-US" sz="2400" dirty="0" err="1" smtClean="0">
                <a:latin typeface="Comic Sans MS" panose="030F0702030302020204" pitchFamily="66" charset="0"/>
              </a:rPr>
              <a:t>dan</a:t>
            </a:r>
            <a:r>
              <a:rPr lang="en-US" sz="2400" dirty="0" smtClean="0">
                <a:latin typeface="Comic Sans MS" panose="030F0702030302020204" pitchFamily="66" charset="0"/>
              </a:rPr>
              <a:t> over current relay.</a:t>
            </a:r>
          </a:p>
          <a:p>
            <a:pPr algn="just"/>
            <a:r>
              <a:rPr lang="en-US" sz="2400" dirty="0" err="1" smtClean="0">
                <a:latin typeface="Comic Sans MS" panose="030F0702030302020204" pitchFamily="66" charset="0"/>
              </a:rPr>
              <a:t>Untuk</a:t>
            </a:r>
            <a:r>
              <a:rPr lang="en-US" sz="2400" dirty="0" smtClean="0">
                <a:latin typeface="Comic Sans MS" panose="030F0702030302020204" pitchFamily="66" charset="0"/>
              </a:rPr>
              <a:t> agar </a:t>
            </a:r>
            <a:r>
              <a:rPr lang="en-US" sz="2400" dirty="0" err="1" smtClean="0">
                <a:latin typeface="Comic Sans MS" panose="030F0702030302020204" pitchFamily="66" charset="0"/>
              </a:rPr>
              <a:t>tak</a:t>
            </a:r>
            <a:r>
              <a:rPr lang="en-US" sz="2400" dirty="0" smtClean="0">
                <a:latin typeface="Comic Sans MS" panose="030F0702030302020204" pitchFamily="66" charset="0"/>
              </a:rPr>
              <a:t> </a:t>
            </a:r>
            <a:r>
              <a:rPr lang="en-US" sz="2400" dirty="0" err="1" smtClean="0">
                <a:latin typeface="Comic Sans MS" panose="030F0702030302020204" pitchFamily="66" charset="0"/>
              </a:rPr>
              <a:t>ada</a:t>
            </a:r>
            <a:r>
              <a:rPr lang="en-US" sz="2400" dirty="0" smtClean="0">
                <a:latin typeface="Comic Sans MS" panose="030F0702030302020204" pitchFamily="66" charset="0"/>
              </a:rPr>
              <a:t> gelembung2 yang </a:t>
            </a:r>
            <a:r>
              <a:rPr lang="en-US" sz="2400" dirty="0" err="1" smtClean="0">
                <a:latin typeface="Comic Sans MS" panose="030F0702030302020204" pitchFamily="66" charset="0"/>
              </a:rPr>
              <a:t>masuk</a:t>
            </a:r>
            <a:r>
              <a:rPr lang="en-US" sz="2400" dirty="0" smtClean="0">
                <a:latin typeface="Comic Sans MS" panose="030F0702030302020204" pitchFamily="66" charset="0"/>
              </a:rPr>
              <a:t> </a:t>
            </a:r>
            <a:r>
              <a:rPr lang="en-US" sz="2400" dirty="0" err="1" smtClean="0">
                <a:latin typeface="Comic Sans MS" panose="030F0702030302020204" pitchFamily="66" charset="0"/>
              </a:rPr>
              <a:t>kedalam</a:t>
            </a:r>
            <a:r>
              <a:rPr lang="en-US" sz="2400" dirty="0" smtClean="0">
                <a:latin typeface="Comic Sans MS" panose="030F0702030302020204" pitchFamily="66" charset="0"/>
              </a:rPr>
              <a:t> transformer </a:t>
            </a:r>
            <a:r>
              <a:rPr lang="en-US" sz="2400" dirty="0" err="1" smtClean="0">
                <a:latin typeface="Comic Sans MS" panose="030F0702030302020204" pitchFamily="66" charset="0"/>
              </a:rPr>
              <a:t>ataupun</a:t>
            </a:r>
            <a:r>
              <a:rPr lang="en-US" sz="2400" dirty="0" smtClean="0">
                <a:latin typeface="Comic Sans MS" panose="030F0702030302020204" pitchFamily="66" charset="0"/>
              </a:rPr>
              <a:t> Unit TOR </a:t>
            </a:r>
            <a:r>
              <a:rPr lang="en-US" sz="2400" dirty="0" err="1" smtClean="0">
                <a:latin typeface="Comic Sans MS" panose="030F0702030302020204" pitchFamily="66" charset="0"/>
              </a:rPr>
              <a:t>dipasang</a:t>
            </a:r>
            <a:r>
              <a:rPr lang="en-US" sz="2400" dirty="0" smtClean="0">
                <a:latin typeface="Comic Sans MS" panose="030F0702030302020204" pitchFamily="66" charset="0"/>
              </a:rPr>
              <a:t> “air eliminator”.</a:t>
            </a:r>
          </a:p>
          <a:p>
            <a:pPr algn="just"/>
            <a:r>
              <a:rPr lang="en-US" sz="2400" dirty="0" err="1" smtClean="0">
                <a:latin typeface="Comic Sans MS" panose="030F0702030302020204" pitchFamily="66" charset="0"/>
              </a:rPr>
              <a:t>Untuk</a:t>
            </a:r>
            <a:r>
              <a:rPr lang="en-US" sz="2400" dirty="0" smtClean="0">
                <a:latin typeface="Comic Sans MS" panose="030F0702030302020204" pitchFamily="66" charset="0"/>
              </a:rPr>
              <a:t> </a:t>
            </a:r>
            <a:r>
              <a:rPr lang="en-US" sz="2400" dirty="0" err="1" smtClean="0">
                <a:latin typeface="Comic Sans MS" panose="030F0702030302020204" pitchFamily="66" charset="0"/>
              </a:rPr>
              <a:t>mengantisipasi</a:t>
            </a:r>
            <a:r>
              <a:rPr lang="en-US" sz="2400" dirty="0" smtClean="0">
                <a:latin typeface="Comic Sans MS" panose="030F0702030302020204" pitchFamily="66" charset="0"/>
              </a:rPr>
              <a:t> </a:t>
            </a:r>
            <a:r>
              <a:rPr lang="en-US" sz="2400" dirty="0" err="1" smtClean="0">
                <a:latin typeface="Comic Sans MS" panose="030F0702030302020204" pitchFamily="66" charset="0"/>
              </a:rPr>
              <a:t>bocoran</a:t>
            </a:r>
            <a:r>
              <a:rPr lang="en-US" sz="2400" dirty="0" smtClean="0">
                <a:latin typeface="Comic Sans MS" panose="030F0702030302020204" pitchFamily="66" charset="0"/>
              </a:rPr>
              <a:t> </a:t>
            </a:r>
            <a:r>
              <a:rPr lang="en-US" sz="2400" dirty="0" err="1" smtClean="0">
                <a:latin typeface="Comic Sans MS" panose="030F0702030302020204" pitchFamily="66" charset="0"/>
              </a:rPr>
              <a:t>pada</a:t>
            </a:r>
            <a:r>
              <a:rPr lang="en-US" sz="2400" dirty="0" smtClean="0">
                <a:latin typeface="Comic Sans MS" panose="030F0702030302020204" pitchFamily="66" charset="0"/>
              </a:rPr>
              <a:t> slang, </a:t>
            </a:r>
            <a:r>
              <a:rPr lang="en-US" sz="2400" dirty="0" err="1" smtClean="0">
                <a:latin typeface="Comic Sans MS" panose="030F0702030302020204" pitchFamily="66" charset="0"/>
              </a:rPr>
              <a:t>pipa</a:t>
            </a:r>
            <a:r>
              <a:rPr lang="en-US" sz="2400" dirty="0" smtClean="0">
                <a:latin typeface="Comic Sans MS" panose="030F0702030302020204" pitchFamily="66" charset="0"/>
              </a:rPr>
              <a:t> </a:t>
            </a:r>
            <a:r>
              <a:rPr lang="en-US" sz="2400" dirty="0" err="1" smtClean="0">
                <a:latin typeface="Comic Sans MS" panose="030F0702030302020204" pitchFamily="66" charset="0"/>
              </a:rPr>
              <a:t>dipasang</a:t>
            </a:r>
            <a:r>
              <a:rPr lang="en-US" sz="2400" dirty="0" smtClean="0">
                <a:latin typeface="Comic Sans MS" panose="030F0702030302020204" pitchFamily="66" charset="0"/>
              </a:rPr>
              <a:t> differential flow. </a:t>
            </a:r>
            <a:r>
              <a:rPr lang="en-US" sz="2400" dirty="0" err="1" smtClean="0">
                <a:latin typeface="Comic Sans MS" panose="030F0702030302020204" pitchFamily="66" charset="0"/>
              </a:rPr>
              <a:t>Sehingga</a:t>
            </a:r>
            <a:r>
              <a:rPr lang="en-US" sz="2400" dirty="0" smtClean="0">
                <a:latin typeface="Comic Sans MS" panose="030F0702030302020204" pitchFamily="66" charset="0"/>
              </a:rPr>
              <a:t> </a:t>
            </a:r>
            <a:r>
              <a:rPr lang="en-US" sz="2400" dirty="0" err="1" smtClean="0">
                <a:latin typeface="Comic Sans MS" panose="030F0702030302020204" pitchFamily="66" charset="0"/>
              </a:rPr>
              <a:t>bila</a:t>
            </a:r>
            <a:r>
              <a:rPr lang="en-US" sz="2400" dirty="0" smtClean="0">
                <a:latin typeface="Comic Sans MS" panose="030F0702030302020204" pitchFamily="66" charset="0"/>
              </a:rPr>
              <a:t> </a:t>
            </a:r>
            <a:r>
              <a:rPr lang="en-US" sz="2400" dirty="0" err="1" smtClean="0">
                <a:latin typeface="Comic Sans MS" panose="030F0702030302020204" pitchFamily="66" charset="0"/>
              </a:rPr>
              <a:t>terjadi</a:t>
            </a:r>
            <a:r>
              <a:rPr lang="en-US" sz="2400" dirty="0" smtClean="0">
                <a:latin typeface="Comic Sans MS" panose="030F0702030302020204" pitchFamily="66" charset="0"/>
              </a:rPr>
              <a:t> </a:t>
            </a:r>
            <a:r>
              <a:rPr lang="en-US" sz="2400" dirty="0" err="1" smtClean="0">
                <a:latin typeface="Comic Sans MS" panose="030F0702030302020204" pitchFamily="66" charset="0"/>
              </a:rPr>
              <a:t>perbedaan</a:t>
            </a:r>
            <a:r>
              <a:rPr lang="en-US" sz="2400" dirty="0" smtClean="0">
                <a:latin typeface="Comic Sans MS" panose="030F0702030302020204" pitchFamily="66" charset="0"/>
              </a:rPr>
              <a:t> flow yang </a:t>
            </a:r>
            <a:r>
              <a:rPr lang="en-US" sz="2400" dirty="0" err="1" smtClean="0">
                <a:latin typeface="Comic Sans MS" panose="030F0702030302020204" pitchFamily="66" charset="0"/>
              </a:rPr>
              <a:t>masuk</a:t>
            </a:r>
            <a:r>
              <a:rPr lang="en-US" sz="2400" dirty="0" smtClean="0">
                <a:latin typeface="Comic Sans MS" panose="030F0702030302020204" pitchFamily="66" charset="0"/>
              </a:rPr>
              <a:t> &amp; </a:t>
            </a:r>
            <a:r>
              <a:rPr lang="en-US" sz="2400" dirty="0" err="1" smtClean="0">
                <a:latin typeface="Comic Sans MS" panose="030F0702030302020204" pitchFamily="66" charset="0"/>
              </a:rPr>
              <a:t>keluar</a:t>
            </a:r>
            <a:r>
              <a:rPr lang="en-US" sz="2400" dirty="0" smtClean="0">
                <a:latin typeface="Comic Sans MS" panose="030F0702030302020204" pitchFamily="66" charset="0"/>
              </a:rPr>
              <a:t> </a:t>
            </a:r>
            <a:r>
              <a:rPr lang="en-US" sz="2400" dirty="0" err="1" smtClean="0">
                <a:latin typeface="Comic Sans MS" panose="030F0702030302020204" pitchFamily="66" charset="0"/>
              </a:rPr>
              <a:t>ke</a:t>
            </a:r>
            <a:r>
              <a:rPr lang="en-US" sz="2400" dirty="0" smtClean="0">
                <a:latin typeface="Comic Sans MS" panose="030F0702030302020204" pitchFamily="66" charset="0"/>
              </a:rPr>
              <a:t>/</a:t>
            </a:r>
            <a:r>
              <a:rPr lang="en-US" sz="2400" dirty="0" err="1" smtClean="0">
                <a:latin typeface="Comic Sans MS" panose="030F0702030302020204" pitchFamily="66" charset="0"/>
              </a:rPr>
              <a:t>dari</a:t>
            </a:r>
            <a:r>
              <a:rPr lang="en-US" sz="2400" dirty="0" smtClean="0">
                <a:latin typeface="Comic Sans MS" panose="030F0702030302020204" pitchFamily="66" charset="0"/>
              </a:rPr>
              <a:t> transformer, </a:t>
            </a:r>
            <a:r>
              <a:rPr lang="en-US" sz="2400" dirty="0" err="1" smtClean="0">
                <a:latin typeface="Comic Sans MS" panose="030F0702030302020204" pitchFamily="66" charset="0"/>
              </a:rPr>
              <a:t>maka</a:t>
            </a:r>
            <a:r>
              <a:rPr lang="en-US" sz="2400" dirty="0" smtClean="0">
                <a:latin typeface="Comic Sans MS" panose="030F0702030302020204" pitchFamily="66" charset="0"/>
              </a:rPr>
              <a:t> outlet valve transformer </a:t>
            </a:r>
            <a:r>
              <a:rPr lang="en-US" sz="2400" dirty="0" err="1" smtClean="0">
                <a:latin typeface="Comic Sans MS" panose="030F0702030302020204" pitchFamily="66" charset="0"/>
              </a:rPr>
              <a:t>akan</a:t>
            </a:r>
            <a:r>
              <a:rPr lang="en-US" sz="2400" dirty="0" smtClean="0">
                <a:latin typeface="Comic Sans MS" panose="030F0702030302020204" pitchFamily="66" charset="0"/>
              </a:rPr>
              <a:t> </a:t>
            </a:r>
            <a:r>
              <a:rPr lang="en-US" sz="2400" dirty="0" err="1" smtClean="0">
                <a:latin typeface="Comic Sans MS" panose="030F0702030302020204" pitchFamily="66" charset="0"/>
              </a:rPr>
              <a:t>menutup</a:t>
            </a:r>
            <a:r>
              <a:rPr lang="en-US" sz="2400" dirty="0" smtClean="0">
                <a:latin typeface="Comic Sans MS" panose="030F0702030302020204" pitchFamily="66" charset="0"/>
              </a:rPr>
              <a:t>. </a:t>
            </a:r>
            <a:r>
              <a:rPr lang="en-US" sz="2400" dirty="0" err="1" smtClean="0">
                <a:latin typeface="Comic Sans MS" panose="030F0702030302020204" pitchFamily="66" charset="0"/>
              </a:rPr>
              <a:t>Ini</a:t>
            </a:r>
            <a:r>
              <a:rPr lang="en-US" sz="2400" dirty="0" smtClean="0">
                <a:latin typeface="Comic Sans MS" panose="030F0702030302020204" pitchFamily="66" charset="0"/>
              </a:rPr>
              <a:t> </a:t>
            </a:r>
            <a:r>
              <a:rPr lang="en-US" sz="2400" dirty="0" err="1" smtClean="0">
                <a:latin typeface="Comic Sans MS" panose="030F0702030302020204" pitchFamily="66" charset="0"/>
              </a:rPr>
              <a:t>untuk</a:t>
            </a:r>
            <a:r>
              <a:rPr lang="en-US" sz="2400" dirty="0" smtClean="0">
                <a:latin typeface="Comic Sans MS" panose="030F0702030302020204" pitchFamily="66" charset="0"/>
              </a:rPr>
              <a:t> </a:t>
            </a:r>
            <a:r>
              <a:rPr lang="en-US" sz="2400" dirty="0" err="1" smtClean="0">
                <a:latin typeface="Comic Sans MS" panose="030F0702030302020204" pitchFamily="66" charset="0"/>
              </a:rPr>
              <a:t>menghindari</a:t>
            </a:r>
            <a:r>
              <a:rPr lang="en-US" sz="2400" dirty="0" smtClean="0">
                <a:latin typeface="Comic Sans MS" panose="030F0702030302020204" pitchFamily="66" charset="0"/>
              </a:rPr>
              <a:t> </a:t>
            </a:r>
            <a:r>
              <a:rPr lang="en-US" sz="2400" dirty="0" err="1" smtClean="0">
                <a:latin typeface="Comic Sans MS" panose="030F0702030302020204" pitchFamily="66" charset="0"/>
              </a:rPr>
              <a:t>berkurangnya</a:t>
            </a:r>
            <a:r>
              <a:rPr lang="en-US" sz="2400" dirty="0" smtClean="0">
                <a:latin typeface="Comic Sans MS" panose="030F0702030302020204" pitchFamily="66" charset="0"/>
              </a:rPr>
              <a:t> level </a:t>
            </a:r>
            <a:r>
              <a:rPr lang="en-US" sz="2400" dirty="0" err="1" smtClean="0">
                <a:latin typeface="Comic Sans MS" panose="030F0702030302020204" pitchFamily="66" charset="0"/>
              </a:rPr>
              <a:t>minyak</a:t>
            </a:r>
            <a:r>
              <a:rPr lang="en-US" sz="2400" dirty="0" smtClean="0">
                <a:latin typeface="Comic Sans MS" panose="030F0702030302020204" pitchFamily="66" charset="0"/>
              </a:rPr>
              <a:t> di transformer. Salah </a:t>
            </a:r>
            <a:r>
              <a:rPr lang="en-US" sz="2400" dirty="0" err="1" smtClean="0">
                <a:latin typeface="Comic Sans MS" panose="030F0702030302020204" pitchFamily="66" charset="0"/>
              </a:rPr>
              <a:t>satu</a:t>
            </a:r>
            <a:r>
              <a:rPr lang="en-US" sz="2400" dirty="0" smtClean="0">
                <a:latin typeface="Comic Sans MS" panose="030F0702030302020204" pitchFamily="66" charset="0"/>
              </a:rPr>
              <a:t> </a:t>
            </a:r>
            <a:r>
              <a:rPr lang="en-US" sz="2400" dirty="0" err="1" smtClean="0">
                <a:latin typeface="Comic Sans MS" panose="030F0702030302020204" pitchFamily="66" charset="0"/>
              </a:rPr>
              <a:t>pengaman</a:t>
            </a:r>
            <a:r>
              <a:rPr lang="en-US" sz="2400" dirty="0" smtClean="0">
                <a:latin typeface="Comic Sans MS" panose="030F0702030302020204" pitchFamily="66" charset="0"/>
              </a:rPr>
              <a:t> online operation. </a:t>
            </a:r>
          </a:p>
          <a:p>
            <a:pPr algn="just"/>
            <a:r>
              <a:rPr lang="en-US" sz="2400" dirty="0" smtClean="0">
                <a:latin typeface="Comic Sans MS" panose="030F0702030302020204" pitchFamily="66" charset="0"/>
              </a:rPr>
              <a:t>Unit TOR kami </a:t>
            </a:r>
            <a:r>
              <a:rPr lang="en-US" sz="2400" dirty="0" err="1" smtClean="0">
                <a:latin typeface="Comic Sans MS" panose="030F0702030302020204" pitchFamily="66" charset="0"/>
              </a:rPr>
              <a:t>bekerja</a:t>
            </a:r>
            <a:r>
              <a:rPr lang="en-US" sz="2400" dirty="0" smtClean="0">
                <a:latin typeface="Comic Sans MS" panose="030F0702030302020204" pitchFamily="66" charset="0"/>
              </a:rPr>
              <a:t> </a:t>
            </a:r>
            <a:r>
              <a:rPr lang="en-US" sz="2400" dirty="0" err="1" smtClean="0">
                <a:latin typeface="Comic Sans MS" panose="030F0702030302020204" pitchFamily="66" charset="0"/>
              </a:rPr>
              <a:t>pada</a:t>
            </a:r>
            <a:r>
              <a:rPr lang="en-US" sz="2400" dirty="0" smtClean="0">
                <a:latin typeface="Comic Sans MS" panose="030F0702030302020204" pitchFamily="66" charset="0"/>
              </a:rPr>
              <a:t> </a:t>
            </a:r>
            <a:r>
              <a:rPr lang="en-US" sz="2400" dirty="0" err="1" smtClean="0">
                <a:latin typeface="Comic Sans MS" panose="030F0702030302020204" pitchFamily="66" charset="0"/>
              </a:rPr>
              <a:t>tegangan</a:t>
            </a:r>
            <a:r>
              <a:rPr lang="en-US" sz="2400" dirty="0" smtClean="0">
                <a:latin typeface="Comic Sans MS" panose="030F0702030302020204" pitchFamily="66" charset="0"/>
              </a:rPr>
              <a:t> 3 </a:t>
            </a:r>
            <a:r>
              <a:rPr lang="en-US" sz="2400" dirty="0" err="1" smtClean="0">
                <a:latin typeface="Comic Sans MS" panose="030F0702030302020204" pitchFamily="66" charset="0"/>
              </a:rPr>
              <a:t>phasa</a:t>
            </a:r>
            <a:r>
              <a:rPr lang="en-US" sz="2400" dirty="0" smtClean="0">
                <a:latin typeface="Comic Sans MS" panose="030F0702030302020204" pitchFamily="66" charset="0"/>
              </a:rPr>
              <a:t> 380 Volt, 50 HZ</a:t>
            </a:r>
            <a:endParaRPr lang="en-US" sz="2400" dirty="0">
              <a:latin typeface="Comic Sans MS" panose="030F0702030302020204" pitchFamily="66" charset="0"/>
            </a:endParaRPr>
          </a:p>
        </p:txBody>
      </p:sp>
    </p:spTree>
    <p:extLst>
      <p:ext uri="{BB962C8B-B14F-4D97-AF65-F5344CB8AC3E}">
        <p14:creationId xmlns:p14="http://schemas.microsoft.com/office/powerpoint/2010/main" val="699027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75"/>
          </a:xfrm>
        </p:spPr>
        <p:txBody>
          <a:bodyPr>
            <a:normAutofit/>
          </a:bodyPr>
          <a:lstStyle/>
          <a:p>
            <a:pPr algn="ctr"/>
            <a:r>
              <a:rPr lang="id-ID" sz="3600" dirty="0" smtClean="0">
                <a:latin typeface="Comic Sans MS" panose="030F0702030302020204" pitchFamily="66" charset="0"/>
              </a:rPr>
              <a:t>Bagaimana proses itu dilakukan ?</a:t>
            </a:r>
            <a:endParaRPr lang="id-ID" sz="3600" dirty="0"/>
          </a:p>
        </p:txBody>
      </p:sp>
      <p:pic>
        <p:nvPicPr>
          <p:cNvPr id="4" name="Content Placeholder 3"/>
          <p:cNvPicPr>
            <a:picLocks noGrp="1" noChangeAspect="1"/>
          </p:cNvPicPr>
          <p:nvPr>
            <p:ph idx="1"/>
          </p:nvPr>
        </p:nvPicPr>
        <p:blipFill>
          <a:blip r:embed="rId2"/>
          <a:stretch>
            <a:fillRect/>
          </a:stretch>
        </p:blipFill>
        <p:spPr>
          <a:xfrm>
            <a:off x="1688123" y="1207856"/>
            <a:ext cx="8915400" cy="5501688"/>
          </a:xfrm>
          <a:prstGeom prst="rect">
            <a:avLst/>
          </a:prstGeom>
        </p:spPr>
      </p:pic>
    </p:spTree>
    <p:extLst>
      <p:ext uri="{BB962C8B-B14F-4D97-AF65-F5344CB8AC3E}">
        <p14:creationId xmlns:p14="http://schemas.microsoft.com/office/powerpoint/2010/main" val="1149174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WordArt 2"/>
          <p:cNvSpPr>
            <a:spLocks noChangeArrowheads="1" noChangeShapeType="1" noTextEdit="1"/>
          </p:cNvSpPr>
          <p:nvPr/>
        </p:nvSpPr>
        <p:spPr bwMode="auto">
          <a:xfrm>
            <a:off x="4044950" y="344488"/>
            <a:ext cx="4535488" cy="6477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r>
              <a:rPr lang="en-US" sz="3600" kern="10">
                <a:ln w="9525">
                  <a:solidFill>
                    <a:srgbClr val="000000"/>
                  </a:solidFill>
                  <a:round/>
                  <a:headEnd/>
                  <a:tailEnd/>
                </a:ln>
                <a:solidFill>
                  <a:srgbClr val="0000FF"/>
                </a:solidFill>
                <a:latin typeface="Arial Black" panose="020B0A04020102020204" pitchFamily="34" charset="0"/>
              </a:rPr>
              <a:t>Oil Processing Template</a:t>
            </a:r>
          </a:p>
        </p:txBody>
      </p:sp>
      <p:sp>
        <p:nvSpPr>
          <p:cNvPr id="167939" name="WordArt 3"/>
          <p:cNvSpPr>
            <a:spLocks noChangeArrowheads="1" noChangeShapeType="1" noTextEdit="1"/>
          </p:cNvSpPr>
          <p:nvPr/>
        </p:nvSpPr>
        <p:spPr bwMode="auto">
          <a:xfrm rot="-5362961">
            <a:off x="-61912" y="3295650"/>
            <a:ext cx="4095750" cy="6477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r>
              <a:rPr lang="en-US" sz="3600" kern="10">
                <a:ln w="9525">
                  <a:solidFill>
                    <a:srgbClr val="000000"/>
                  </a:solidFill>
                  <a:round/>
                  <a:headEnd/>
                  <a:tailEnd/>
                </a:ln>
                <a:solidFill>
                  <a:srgbClr val="0000FF"/>
                </a:solidFill>
                <a:latin typeface="Arial Black" panose="020B0A04020102020204" pitchFamily="34" charset="0"/>
              </a:rPr>
              <a:t>Templates</a:t>
            </a:r>
          </a:p>
        </p:txBody>
      </p:sp>
      <p:pic>
        <p:nvPicPr>
          <p:cNvPr id="167941" name="Picture 5" descr="Processing Scre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01" y="1435101"/>
            <a:ext cx="7605713" cy="4754563"/>
          </a:xfrm>
          <a:prstGeom prst="rect">
            <a:avLst/>
          </a:prstGeom>
          <a:noFill/>
          <a:extLst>
            <a:ext uri="{909E8E84-426E-40DD-AFC4-6F175D3DCCD1}">
              <a14:hiddenFill xmlns:a14="http://schemas.microsoft.com/office/drawing/2010/main">
                <a:solidFill>
                  <a:srgbClr val="FFFFFF"/>
                </a:solidFill>
              </a14:hiddenFill>
            </a:ext>
          </a:extLst>
        </p:spPr>
      </p:pic>
      <p:pic>
        <p:nvPicPr>
          <p:cNvPr id="167942" name="Picture 6" descr="Remex"/>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12900" y="6311900"/>
            <a:ext cx="1517650" cy="45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7459711"/>
      </p:ext>
    </p:extLst>
  </p:cSld>
  <p:clrMapOvr>
    <a:masterClrMapping/>
  </p:clrMapOvr>
  <p:transition spd="slow">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7938"/>
                                        </p:tgtEl>
                                        <p:attrNameLst>
                                          <p:attrName>style.visibility</p:attrName>
                                        </p:attrNameLst>
                                      </p:cBhvr>
                                      <p:to>
                                        <p:strVal val="visible"/>
                                      </p:to>
                                    </p:set>
                                    <p:anim calcmode="lin" valueType="num">
                                      <p:cBhvr additive="base">
                                        <p:cTn id="7" dur="500" fill="hold"/>
                                        <p:tgtEl>
                                          <p:spTgt spid="167938"/>
                                        </p:tgtEl>
                                        <p:attrNameLst>
                                          <p:attrName>ppt_x</p:attrName>
                                        </p:attrNameLst>
                                      </p:cBhvr>
                                      <p:tavLst>
                                        <p:tav tm="0">
                                          <p:val>
                                            <p:strVal val="0-#ppt_w/2"/>
                                          </p:val>
                                        </p:tav>
                                        <p:tav tm="100000">
                                          <p:val>
                                            <p:strVal val="#ppt_x"/>
                                          </p:val>
                                        </p:tav>
                                      </p:tavLst>
                                    </p:anim>
                                    <p:anim calcmode="lin" valueType="num">
                                      <p:cBhvr additive="base">
                                        <p:cTn id="8" dur="500" fill="hold"/>
                                        <p:tgtEl>
                                          <p:spTgt spid="16793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6793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5121"/>
          </a:xfrm>
        </p:spPr>
        <p:txBody>
          <a:bodyPr>
            <a:normAutofit/>
          </a:bodyPr>
          <a:lstStyle/>
          <a:p>
            <a:pPr algn="ctr"/>
            <a:r>
              <a:rPr lang="it-IT" sz="3600" dirty="0" smtClean="0">
                <a:latin typeface="Comic Sans MS" panose="030F0702030302020204" pitchFamily="66" charset="0"/>
              </a:rPr>
              <a:t>Hasil regenerasi bisa sebagai berikut :</a:t>
            </a:r>
            <a:endParaRPr lang="id-ID" sz="3600" dirty="0">
              <a:latin typeface="Comic Sans MS" panose="030F0702030302020204" pitchFamily="66" charset="0"/>
            </a:endParaRPr>
          </a:p>
        </p:txBody>
      </p:sp>
      <p:pic>
        <p:nvPicPr>
          <p:cNvPr id="4" name="Content Placeholder 3"/>
          <p:cNvPicPr>
            <a:picLocks noGrp="1" noChangeAspect="1"/>
          </p:cNvPicPr>
          <p:nvPr>
            <p:ph idx="1"/>
          </p:nvPr>
        </p:nvPicPr>
        <p:blipFill>
          <a:blip r:embed="rId2"/>
          <a:stretch>
            <a:fillRect/>
          </a:stretch>
        </p:blipFill>
        <p:spPr>
          <a:xfrm>
            <a:off x="662758" y="1301262"/>
            <a:ext cx="11242026" cy="5222631"/>
          </a:xfrm>
          <a:prstGeom prst="rect">
            <a:avLst/>
          </a:prstGeom>
        </p:spPr>
      </p:pic>
    </p:spTree>
    <p:extLst>
      <p:ext uri="{BB962C8B-B14F-4D97-AF65-F5344CB8AC3E}">
        <p14:creationId xmlns:p14="http://schemas.microsoft.com/office/powerpoint/2010/main" val="2301354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tretch>
            <a:fillRect/>
          </a:stretch>
        </p:blipFill>
        <p:spPr>
          <a:xfrm>
            <a:off x="1740876" y="457200"/>
            <a:ext cx="9108831" cy="5943600"/>
          </a:xfrm>
          <a:prstGeom prst="rect">
            <a:avLst/>
          </a:prstGeom>
        </p:spPr>
      </p:pic>
    </p:spTree>
    <p:extLst>
      <p:ext uri="{BB962C8B-B14F-4D97-AF65-F5344CB8AC3E}">
        <p14:creationId xmlns:p14="http://schemas.microsoft.com/office/powerpoint/2010/main" val="2571511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769" y="1"/>
            <a:ext cx="11711353" cy="844062"/>
          </a:xfrm>
        </p:spPr>
        <p:txBody>
          <a:bodyPr>
            <a:normAutofit/>
          </a:bodyPr>
          <a:lstStyle/>
          <a:p>
            <a:pPr algn="ctr"/>
            <a:r>
              <a:rPr lang="en-US" sz="2400" dirty="0" smtClean="0">
                <a:latin typeface="Comic Sans MS" panose="030F0702030302020204" pitchFamily="66" charset="0"/>
              </a:rPr>
              <a:t>Summary of typical oil parameters before and after regeneration treatment on Globe Core </a:t>
            </a:r>
            <a:r>
              <a:rPr lang="en-US" sz="2400" dirty="0" err="1" smtClean="0">
                <a:latin typeface="Comic Sans MS" panose="030F0702030302020204" pitchFamily="66" charset="0"/>
              </a:rPr>
              <a:t>transfomer</a:t>
            </a:r>
            <a:r>
              <a:rPr lang="en-US" sz="2400" dirty="0" smtClean="0">
                <a:latin typeface="Comic Sans MS" panose="030F0702030302020204" pitchFamily="66" charset="0"/>
              </a:rPr>
              <a:t> oil regeneration plant </a:t>
            </a:r>
            <a:endParaRPr lang="id-ID" sz="2400" dirty="0">
              <a:latin typeface="Comic Sans MS" panose="030F0702030302020204" pitchFamily="66"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24756470"/>
              </p:ext>
            </p:extLst>
          </p:nvPr>
        </p:nvGraphicFramePr>
        <p:xfrm>
          <a:off x="641409" y="844063"/>
          <a:ext cx="11228206" cy="5953799"/>
        </p:xfrm>
        <a:graphic>
          <a:graphicData uri="http://schemas.openxmlformats.org/drawingml/2006/table">
            <a:tbl>
              <a:tblPr firstRow="1" firstCol="1" bandRow="1">
                <a:tableStyleId>{5C22544A-7EE6-4342-B048-85BDC9FD1C3A}</a:tableStyleId>
              </a:tblPr>
              <a:tblGrid>
                <a:gridCol w="3382232"/>
                <a:gridCol w="1990297"/>
                <a:gridCol w="2919047"/>
                <a:gridCol w="1389184"/>
                <a:gridCol w="1547446"/>
              </a:tblGrid>
              <a:tr h="527088">
                <a:tc>
                  <a:txBody>
                    <a:bodyPr/>
                    <a:lstStyle/>
                    <a:p>
                      <a:pPr>
                        <a:lnSpc>
                          <a:spcPct val="107000"/>
                        </a:lnSpc>
                        <a:spcAft>
                          <a:spcPts val="0"/>
                        </a:spcAft>
                      </a:pPr>
                      <a:endParaRPr lang="id-ID" sz="1600" dirty="0" smtClean="0">
                        <a:effectLst/>
                        <a:latin typeface="Comic Sans MS" panose="030F0702030302020204" pitchFamily="66" charset="0"/>
                      </a:endParaRPr>
                    </a:p>
                    <a:p>
                      <a:pPr>
                        <a:lnSpc>
                          <a:spcPct val="107000"/>
                        </a:lnSpc>
                        <a:spcAft>
                          <a:spcPts val="0"/>
                        </a:spcAft>
                      </a:pPr>
                      <a:r>
                        <a:rPr lang="en-US" sz="1600" dirty="0" smtClean="0">
                          <a:effectLst/>
                          <a:latin typeface="Comic Sans MS" panose="030F0702030302020204" pitchFamily="66" charset="0"/>
                        </a:rPr>
                        <a:t>Parameter</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id-ID" sz="1600" dirty="0" smtClean="0">
                        <a:effectLst/>
                        <a:latin typeface="Comic Sans MS" panose="030F0702030302020204" pitchFamily="66" charset="0"/>
                      </a:endParaRPr>
                    </a:p>
                    <a:p>
                      <a:pPr>
                        <a:lnSpc>
                          <a:spcPct val="107000"/>
                        </a:lnSpc>
                        <a:spcAft>
                          <a:spcPts val="0"/>
                        </a:spcAft>
                      </a:pPr>
                      <a:r>
                        <a:rPr lang="en-US" sz="1600" dirty="0" smtClean="0">
                          <a:effectLst/>
                          <a:latin typeface="Comic Sans MS" panose="030F0702030302020204" pitchFamily="66" charset="0"/>
                        </a:rPr>
                        <a:t>Test </a:t>
                      </a:r>
                      <a:r>
                        <a:rPr lang="en-US" sz="1600" dirty="0">
                          <a:effectLst/>
                          <a:latin typeface="Comic Sans MS" panose="030F0702030302020204" pitchFamily="66" charset="0"/>
                        </a:rPr>
                        <a:t>Methods</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dirty="0">
                          <a:effectLst/>
                          <a:latin typeface="Comic Sans MS" panose="030F0702030302020204" pitchFamily="66" charset="0"/>
                        </a:rPr>
                        <a:t>Standard Value</a:t>
                      </a:r>
                      <a:endParaRPr lang="id-ID" sz="1600" dirty="0">
                        <a:effectLst/>
                        <a:latin typeface="Comic Sans MS" panose="030F0702030302020204" pitchFamily="66" charset="0"/>
                      </a:endParaRPr>
                    </a:p>
                    <a:p>
                      <a:pPr algn="ctr">
                        <a:lnSpc>
                          <a:spcPct val="107000"/>
                        </a:lnSpc>
                        <a:spcAft>
                          <a:spcPts val="0"/>
                        </a:spcAft>
                      </a:pPr>
                      <a:r>
                        <a:rPr lang="en-US" sz="1600" dirty="0">
                          <a:effectLst/>
                          <a:latin typeface="Comic Sans MS" panose="030F0702030302020204" pitchFamily="66" charset="0"/>
                        </a:rPr>
                        <a:t>BS 148:2009</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dirty="0">
                          <a:effectLst/>
                          <a:latin typeface="Comic Sans MS" panose="030F0702030302020204" pitchFamily="66" charset="0"/>
                        </a:rPr>
                        <a:t>Before regeneration</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dirty="0">
                          <a:effectLst/>
                          <a:latin typeface="Comic Sans MS" panose="030F0702030302020204" pitchFamily="66" charset="0"/>
                        </a:rPr>
                        <a:t>After regeneration</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r>
              <a:tr h="495310">
                <a:tc>
                  <a:txBody>
                    <a:bodyPr/>
                    <a:lstStyle/>
                    <a:p>
                      <a:pPr>
                        <a:lnSpc>
                          <a:spcPct val="107000"/>
                        </a:lnSpc>
                        <a:spcAft>
                          <a:spcPts val="0"/>
                        </a:spcAft>
                      </a:pPr>
                      <a:r>
                        <a:rPr lang="en-US" sz="1600" dirty="0">
                          <a:effectLst/>
                          <a:latin typeface="Comic Sans MS" panose="030F0702030302020204" pitchFamily="66" charset="0"/>
                        </a:rPr>
                        <a:t>Appearance</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600">
                          <a:effectLst/>
                          <a:latin typeface="Comic Sans MS" panose="030F0702030302020204" pitchFamily="66" charset="0"/>
                        </a:rPr>
                        <a:t>Visual</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600">
                          <a:effectLst/>
                          <a:latin typeface="Comic Sans MS" panose="030F0702030302020204" pitchFamily="66" charset="0"/>
                        </a:rPr>
                        <a:t>Clear, free from sediments and suspended matter</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600">
                          <a:effectLst/>
                          <a:latin typeface="Comic Sans MS" panose="030F0702030302020204" pitchFamily="66" charset="0"/>
                        </a:rPr>
                        <a:t>Cloudy brown</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600" dirty="0">
                          <a:effectLst/>
                          <a:latin typeface="Comic Sans MS" panose="030F0702030302020204" pitchFamily="66" charset="0"/>
                        </a:rPr>
                        <a:t>Clear and transparent</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r>
              <a:tr h="495310">
                <a:tc>
                  <a:txBody>
                    <a:bodyPr/>
                    <a:lstStyle/>
                    <a:p>
                      <a:pPr>
                        <a:lnSpc>
                          <a:spcPct val="107000"/>
                        </a:lnSpc>
                        <a:spcAft>
                          <a:spcPts val="0"/>
                        </a:spcAft>
                      </a:pPr>
                      <a:r>
                        <a:rPr lang="en-US" sz="1600" dirty="0">
                          <a:effectLst/>
                          <a:latin typeface="Comic Sans MS" panose="030F0702030302020204" pitchFamily="66" charset="0"/>
                        </a:rPr>
                        <a:t>Acid number, </a:t>
                      </a:r>
                      <a:r>
                        <a:rPr lang="id-ID" sz="1600" dirty="0" smtClean="0">
                          <a:effectLst/>
                          <a:latin typeface="Comic Sans MS" panose="030F0702030302020204" pitchFamily="66" charset="0"/>
                        </a:rPr>
                        <a:t> </a:t>
                      </a:r>
                      <a:r>
                        <a:rPr lang="en-US" sz="1600" dirty="0" smtClean="0">
                          <a:effectLst/>
                          <a:latin typeface="Comic Sans MS" panose="030F0702030302020204" pitchFamily="66" charset="0"/>
                        </a:rPr>
                        <a:t>mg </a:t>
                      </a:r>
                      <a:r>
                        <a:rPr lang="en-GB" sz="1600" dirty="0">
                          <a:effectLst/>
                          <a:latin typeface="Comic Sans MS" panose="030F0702030302020204" pitchFamily="66" charset="0"/>
                        </a:rPr>
                        <a:t>КОН</a:t>
                      </a:r>
                      <a:r>
                        <a:rPr lang="en-US" sz="1600" dirty="0">
                          <a:effectLst/>
                          <a:latin typeface="Comic Sans MS" panose="030F0702030302020204" pitchFamily="66" charset="0"/>
                        </a:rPr>
                        <a:t>/g</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600" dirty="0">
                          <a:effectLst/>
                          <a:latin typeface="Comic Sans MS" panose="030F0702030302020204" pitchFamily="66" charset="0"/>
                        </a:rPr>
                        <a:t>IEC 296; </a:t>
                      </a:r>
                      <a:r>
                        <a:rPr lang="id-ID" sz="1600" dirty="0" smtClean="0">
                          <a:effectLst/>
                          <a:latin typeface="Comic Sans MS" panose="030F0702030302020204" pitchFamily="66" charset="0"/>
                        </a:rPr>
                        <a:t> </a:t>
                      </a:r>
                    </a:p>
                    <a:p>
                      <a:pPr>
                        <a:lnSpc>
                          <a:spcPct val="107000"/>
                        </a:lnSpc>
                        <a:spcAft>
                          <a:spcPts val="0"/>
                        </a:spcAft>
                      </a:pPr>
                      <a:r>
                        <a:rPr lang="en-GB" sz="1600" dirty="0" smtClean="0">
                          <a:effectLst/>
                          <a:latin typeface="Comic Sans MS" panose="030F0702030302020204" pitchFamily="66" charset="0"/>
                        </a:rPr>
                        <a:t>ASTM </a:t>
                      </a:r>
                      <a:r>
                        <a:rPr lang="en-GB" sz="1600" dirty="0">
                          <a:effectLst/>
                          <a:latin typeface="Comic Sans MS" panose="030F0702030302020204" pitchFamily="66" charset="0"/>
                        </a:rPr>
                        <a:t>D-664</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ru-RU" sz="1600" dirty="0">
                          <a:effectLst/>
                          <a:latin typeface="Comic Sans MS" panose="030F0702030302020204" pitchFamily="66" charset="0"/>
                        </a:rPr>
                        <a:t>≤ 0.03</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GB" sz="1600">
                          <a:effectLst/>
                          <a:latin typeface="Comic Sans MS" panose="030F0702030302020204" pitchFamily="66" charset="0"/>
                        </a:rPr>
                        <a:t>0</a:t>
                      </a:r>
                      <a:r>
                        <a:rPr lang="en-US" sz="1600">
                          <a:effectLst/>
                          <a:latin typeface="Comic Sans MS" panose="030F0702030302020204" pitchFamily="66" charset="0"/>
                        </a:rPr>
                        <a:t>.</a:t>
                      </a:r>
                      <a:r>
                        <a:rPr lang="en-GB" sz="1600">
                          <a:effectLst/>
                          <a:latin typeface="Comic Sans MS" panose="030F0702030302020204" pitchFamily="66" charset="0"/>
                        </a:rPr>
                        <a:t>63</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GB" sz="1600" dirty="0">
                          <a:effectLst/>
                          <a:latin typeface="Comic Sans MS" panose="030F0702030302020204" pitchFamily="66" charset="0"/>
                        </a:rPr>
                        <a:t>0</a:t>
                      </a:r>
                      <a:r>
                        <a:rPr lang="en-US" sz="1600" dirty="0">
                          <a:effectLst/>
                          <a:latin typeface="Comic Sans MS" panose="030F0702030302020204" pitchFamily="66" charset="0"/>
                        </a:rPr>
                        <a:t>.</a:t>
                      </a:r>
                      <a:r>
                        <a:rPr lang="en-GB" sz="1600" dirty="0">
                          <a:effectLst/>
                          <a:latin typeface="Comic Sans MS" panose="030F0702030302020204" pitchFamily="66" charset="0"/>
                        </a:rPr>
                        <a:t>01</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r>
              <a:tr h="495310">
                <a:tc>
                  <a:txBody>
                    <a:bodyPr/>
                    <a:lstStyle/>
                    <a:p>
                      <a:pPr>
                        <a:lnSpc>
                          <a:spcPct val="107000"/>
                        </a:lnSpc>
                        <a:spcAft>
                          <a:spcPts val="0"/>
                        </a:spcAft>
                      </a:pPr>
                      <a:r>
                        <a:rPr lang="en-US" sz="1600" dirty="0">
                          <a:effectLst/>
                          <a:latin typeface="Comic Sans MS" panose="030F0702030302020204" pitchFamily="66" charset="0"/>
                        </a:rPr>
                        <a:t>Corrosive </a:t>
                      </a:r>
                      <a:r>
                        <a:rPr lang="en-US" sz="1600" dirty="0" err="1">
                          <a:effectLst/>
                          <a:latin typeface="Comic Sans MS" panose="030F0702030302020204" pitchFamily="66" charset="0"/>
                        </a:rPr>
                        <a:t>sulphur</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600" dirty="0">
                          <a:effectLst/>
                          <a:latin typeface="Comic Sans MS" panose="030F0702030302020204" pitchFamily="66" charset="0"/>
                        </a:rPr>
                        <a:t>ISO 5662; </a:t>
                      </a:r>
                      <a:endParaRPr lang="id-ID" sz="1600" dirty="0" smtClean="0">
                        <a:effectLst/>
                        <a:latin typeface="Comic Sans MS" panose="030F0702030302020204" pitchFamily="66" charset="0"/>
                      </a:endParaRPr>
                    </a:p>
                    <a:p>
                      <a:pPr>
                        <a:lnSpc>
                          <a:spcPct val="107000"/>
                        </a:lnSpc>
                        <a:spcAft>
                          <a:spcPts val="0"/>
                        </a:spcAft>
                      </a:pPr>
                      <a:r>
                        <a:rPr lang="en-GB" sz="1600" dirty="0" smtClean="0">
                          <a:effectLst/>
                          <a:latin typeface="Comic Sans MS" panose="030F0702030302020204" pitchFamily="66" charset="0"/>
                        </a:rPr>
                        <a:t>ASTM </a:t>
                      </a:r>
                      <a:r>
                        <a:rPr lang="en-GB" sz="1600" dirty="0">
                          <a:effectLst/>
                          <a:latin typeface="Comic Sans MS" panose="030F0702030302020204" pitchFamily="66" charset="0"/>
                        </a:rPr>
                        <a:t>D-1275</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ru-RU" sz="1600">
                          <a:effectLst/>
                          <a:latin typeface="Comic Sans MS" panose="030F0702030302020204" pitchFamily="66" charset="0"/>
                        </a:rPr>
                        <a:t>Non Corrosive</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dirty="0">
                          <a:effectLst/>
                          <a:latin typeface="Comic Sans MS" panose="030F0702030302020204" pitchFamily="66" charset="0"/>
                        </a:rPr>
                        <a:t>Present</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600" dirty="0">
                          <a:effectLst/>
                          <a:latin typeface="Comic Sans MS" panose="030F0702030302020204" pitchFamily="66" charset="0"/>
                        </a:rPr>
                        <a:t>None</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tc>
              </a:tr>
              <a:tr h="495310">
                <a:tc>
                  <a:txBody>
                    <a:bodyPr/>
                    <a:lstStyle/>
                    <a:p>
                      <a:pPr>
                        <a:lnSpc>
                          <a:spcPct val="107000"/>
                        </a:lnSpc>
                        <a:spcAft>
                          <a:spcPts val="0"/>
                        </a:spcAft>
                      </a:pPr>
                      <a:r>
                        <a:rPr lang="en-GB" sz="1600">
                          <a:effectLst/>
                          <a:latin typeface="Comic Sans MS" panose="030F0702030302020204" pitchFamily="66" charset="0"/>
                        </a:rPr>
                        <a:t>Moisture content, ppm</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n-GB" sz="1600" dirty="0">
                          <a:effectLst/>
                          <a:latin typeface="Comic Sans MS" panose="030F0702030302020204" pitchFamily="66" charset="0"/>
                        </a:rPr>
                        <a:t>IEC 733; </a:t>
                      </a:r>
                      <a:r>
                        <a:rPr lang="id-ID" sz="1600" dirty="0" smtClean="0">
                          <a:effectLst/>
                          <a:latin typeface="Comic Sans MS" panose="030F0702030302020204" pitchFamily="66" charset="0"/>
                        </a:rPr>
                        <a:t> </a:t>
                      </a:r>
                    </a:p>
                    <a:p>
                      <a:pPr>
                        <a:lnSpc>
                          <a:spcPct val="107000"/>
                        </a:lnSpc>
                        <a:spcAft>
                          <a:spcPts val="0"/>
                        </a:spcAft>
                      </a:pPr>
                      <a:r>
                        <a:rPr lang="en-GB" sz="1600" dirty="0" smtClean="0">
                          <a:effectLst/>
                          <a:latin typeface="Comic Sans MS" panose="030F0702030302020204" pitchFamily="66" charset="0"/>
                        </a:rPr>
                        <a:t>ASTM </a:t>
                      </a:r>
                      <a:r>
                        <a:rPr lang="en-GB" sz="1600" dirty="0">
                          <a:effectLst/>
                          <a:latin typeface="Comic Sans MS" panose="030F0702030302020204" pitchFamily="66" charset="0"/>
                        </a:rPr>
                        <a:t>D-1533</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600">
                          <a:effectLst/>
                          <a:latin typeface="Comic Sans MS" panose="030F0702030302020204" pitchFamily="66" charset="0"/>
                        </a:rPr>
                        <a:t>≤ 20</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marR="20955" algn="ctr">
                        <a:lnSpc>
                          <a:spcPct val="107000"/>
                        </a:lnSpc>
                        <a:spcAft>
                          <a:spcPts val="0"/>
                        </a:spcAft>
                      </a:pPr>
                      <a:r>
                        <a:rPr lang="en-GB" sz="1600" dirty="0">
                          <a:effectLst/>
                          <a:latin typeface="Comic Sans MS" panose="030F0702030302020204" pitchFamily="66" charset="0"/>
                        </a:rPr>
                        <a:t>170</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GB" sz="1600" dirty="0">
                          <a:effectLst/>
                          <a:latin typeface="Comic Sans MS" panose="030F0702030302020204" pitchFamily="66" charset="0"/>
                        </a:rPr>
                        <a:t>5</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r>
              <a:tr h="495310">
                <a:tc>
                  <a:txBody>
                    <a:bodyPr/>
                    <a:lstStyle/>
                    <a:p>
                      <a:pPr>
                        <a:lnSpc>
                          <a:spcPct val="107000"/>
                        </a:lnSpc>
                        <a:spcAft>
                          <a:spcPts val="0"/>
                        </a:spcAft>
                      </a:pPr>
                      <a:r>
                        <a:rPr lang="en-US" sz="1600">
                          <a:effectLst/>
                          <a:latin typeface="Comic Sans MS" panose="030F0702030302020204" pitchFamily="66" charset="0"/>
                        </a:rPr>
                        <a:t>Breakdown voltage</a:t>
                      </a:r>
                      <a:r>
                        <a:rPr lang="en-GB" sz="1600">
                          <a:effectLst/>
                          <a:latin typeface="Comic Sans MS" panose="030F0702030302020204" pitchFamily="66" charset="0"/>
                        </a:rPr>
                        <a:t>, </a:t>
                      </a:r>
                      <a:r>
                        <a:rPr lang="en-US" sz="1600">
                          <a:effectLst/>
                          <a:latin typeface="Comic Sans MS" panose="030F0702030302020204" pitchFamily="66" charset="0"/>
                        </a:rPr>
                        <a:t>kV</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n-GB" sz="1600" dirty="0">
                          <a:effectLst/>
                          <a:latin typeface="Comic Sans MS" panose="030F0702030302020204" pitchFamily="66" charset="0"/>
                        </a:rPr>
                        <a:t>IEC 156; </a:t>
                      </a:r>
                      <a:endParaRPr lang="id-ID" sz="1600" dirty="0" smtClean="0">
                        <a:effectLst/>
                        <a:latin typeface="Comic Sans MS" panose="030F0702030302020204" pitchFamily="66" charset="0"/>
                      </a:endParaRPr>
                    </a:p>
                    <a:p>
                      <a:pPr>
                        <a:lnSpc>
                          <a:spcPct val="107000"/>
                        </a:lnSpc>
                        <a:spcAft>
                          <a:spcPts val="0"/>
                        </a:spcAft>
                      </a:pPr>
                      <a:r>
                        <a:rPr lang="en-GB" sz="1600" dirty="0" smtClean="0">
                          <a:effectLst/>
                          <a:latin typeface="Comic Sans MS" panose="030F0702030302020204" pitchFamily="66" charset="0"/>
                        </a:rPr>
                        <a:t>ASTM </a:t>
                      </a:r>
                      <a:r>
                        <a:rPr lang="en-GB" sz="1600" dirty="0">
                          <a:effectLst/>
                          <a:latin typeface="Comic Sans MS" panose="030F0702030302020204" pitchFamily="66" charset="0"/>
                        </a:rPr>
                        <a:t>D-1816</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600">
                          <a:effectLst/>
                          <a:latin typeface="Comic Sans MS" panose="030F0702030302020204" pitchFamily="66" charset="0"/>
                        </a:rPr>
                        <a:t>≥ 30</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GB" sz="1600" dirty="0">
                          <a:effectLst/>
                          <a:latin typeface="Comic Sans MS" panose="030F0702030302020204" pitchFamily="66" charset="0"/>
                        </a:rPr>
                        <a:t>11</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GB" sz="1600" dirty="0">
                          <a:effectLst/>
                          <a:latin typeface="Comic Sans MS" panose="030F0702030302020204" pitchFamily="66" charset="0"/>
                        </a:rPr>
                        <a:t>73</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r>
              <a:tr h="495310">
                <a:tc>
                  <a:txBody>
                    <a:bodyPr/>
                    <a:lstStyle/>
                    <a:p>
                      <a:pPr>
                        <a:lnSpc>
                          <a:spcPct val="107000"/>
                        </a:lnSpc>
                        <a:spcAft>
                          <a:spcPts val="0"/>
                        </a:spcAft>
                      </a:pPr>
                      <a:r>
                        <a:rPr lang="en-US" sz="1600">
                          <a:effectLst/>
                          <a:latin typeface="Comic Sans MS" panose="030F0702030302020204" pitchFamily="66" charset="0"/>
                        </a:rPr>
                        <a:t>Dielectric loss tangent at 90º</a:t>
                      </a:r>
                      <a:r>
                        <a:rPr lang="en-GB" sz="1600">
                          <a:effectLst/>
                          <a:latin typeface="Comic Sans MS" panose="030F0702030302020204" pitchFamily="66" charset="0"/>
                        </a:rPr>
                        <a:t>С</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n-GB" sz="1600" dirty="0">
                          <a:effectLst/>
                          <a:latin typeface="Comic Sans MS" panose="030F0702030302020204" pitchFamily="66" charset="0"/>
                        </a:rPr>
                        <a:t>IEC 247; </a:t>
                      </a:r>
                      <a:r>
                        <a:rPr lang="id-ID" sz="1600" dirty="0" smtClean="0">
                          <a:effectLst/>
                          <a:latin typeface="Comic Sans MS" panose="030F0702030302020204" pitchFamily="66" charset="0"/>
                        </a:rPr>
                        <a:t> </a:t>
                      </a:r>
                    </a:p>
                    <a:p>
                      <a:pPr>
                        <a:lnSpc>
                          <a:spcPct val="107000"/>
                        </a:lnSpc>
                        <a:spcAft>
                          <a:spcPts val="0"/>
                        </a:spcAft>
                      </a:pPr>
                      <a:r>
                        <a:rPr lang="en-GB" sz="1600" dirty="0" smtClean="0">
                          <a:effectLst/>
                          <a:latin typeface="Comic Sans MS" panose="030F0702030302020204" pitchFamily="66" charset="0"/>
                        </a:rPr>
                        <a:t>ASTM </a:t>
                      </a:r>
                      <a:r>
                        <a:rPr lang="en-GB" sz="1600" dirty="0">
                          <a:effectLst/>
                          <a:latin typeface="Comic Sans MS" panose="030F0702030302020204" pitchFamily="66" charset="0"/>
                        </a:rPr>
                        <a:t>D-924</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600" dirty="0">
                          <a:effectLst/>
                          <a:latin typeface="Comic Sans MS" panose="030F0702030302020204" pitchFamily="66" charset="0"/>
                        </a:rPr>
                        <a:t>≤ 0.005</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GB" sz="1600">
                          <a:effectLst/>
                          <a:latin typeface="Comic Sans MS" panose="030F0702030302020204" pitchFamily="66" charset="0"/>
                        </a:rPr>
                        <a:t>4</a:t>
                      </a:r>
                      <a:r>
                        <a:rPr lang="en-US" sz="1600">
                          <a:effectLst/>
                          <a:latin typeface="Comic Sans MS" panose="030F0702030302020204" pitchFamily="66" charset="0"/>
                        </a:rPr>
                        <a:t>.</a:t>
                      </a:r>
                      <a:r>
                        <a:rPr lang="en-GB" sz="1600">
                          <a:effectLst/>
                          <a:latin typeface="Comic Sans MS" panose="030F0702030302020204" pitchFamily="66" charset="0"/>
                        </a:rPr>
                        <a:t>0</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GB" sz="1600" dirty="0">
                          <a:effectLst/>
                          <a:latin typeface="Comic Sans MS" panose="030F0702030302020204" pitchFamily="66" charset="0"/>
                        </a:rPr>
                        <a:t>0</a:t>
                      </a:r>
                      <a:r>
                        <a:rPr lang="en-US" sz="1600" dirty="0">
                          <a:effectLst/>
                          <a:latin typeface="Comic Sans MS" panose="030F0702030302020204" pitchFamily="66" charset="0"/>
                        </a:rPr>
                        <a:t>.</a:t>
                      </a:r>
                      <a:r>
                        <a:rPr lang="en-GB" sz="1600" dirty="0">
                          <a:effectLst/>
                          <a:latin typeface="Comic Sans MS" panose="030F0702030302020204" pitchFamily="66" charset="0"/>
                        </a:rPr>
                        <a:t>001</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r>
              <a:tr h="495310">
                <a:tc>
                  <a:txBody>
                    <a:bodyPr/>
                    <a:lstStyle/>
                    <a:p>
                      <a:pPr>
                        <a:lnSpc>
                          <a:spcPct val="107000"/>
                        </a:lnSpc>
                        <a:spcAft>
                          <a:spcPts val="0"/>
                        </a:spcAft>
                      </a:pPr>
                      <a:r>
                        <a:rPr lang="en-US" sz="1600">
                          <a:effectLst/>
                          <a:latin typeface="Comic Sans MS" panose="030F0702030302020204" pitchFamily="66" charset="0"/>
                        </a:rPr>
                        <a:t>Gas content, </a:t>
                      </a:r>
                      <a:r>
                        <a:rPr lang="en-GB" sz="1600">
                          <a:effectLst/>
                          <a:latin typeface="Comic Sans MS" panose="030F0702030302020204" pitchFamily="66" charset="0"/>
                        </a:rPr>
                        <a:t>%</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n-GB" sz="1600" dirty="0">
                          <a:effectLst/>
                          <a:latin typeface="Comic Sans MS" panose="030F0702030302020204" pitchFamily="66" charset="0"/>
                        </a:rPr>
                        <a:t>IEC 60599; </a:t>
                      </a:r>
                      <a:endParaRPr lang="id-ID" sz="1600" dirty="0" smtClean="0">
                        <a:effectLst/>
                        <a:latin typeface="Comic Sans MS" panose="030F0702030302020204" pitchFamily="66" charset="0"/>
                      </a:endParaRPr>
                    </a:p>
                    <a:p>
                      <a:pPr>
                        <a:lnSpc>
                          <a:spcPct val="107000"/>
                        </a:lnSpc>
                        <a:spcAft>
                          <a:spcPts val="0"/>
                        </a:spcAft>
                      </a:pPr>
                      <a:r>
                        <a:rPr lang="en-GB" sz="1600" dirty="0" smtClean="0">
                          <a:effectLst/>
                          <a:latin typeface="Comic Sans MS" panose="030F0702030302020204" pitchFamily="66" charset="0"/>
                        </a:rPr>
                        <a:t>ASTM </a:t>
                      </a:r>
                      <a:r>
                        <a:rPr lang="en-GB" sz="1600" dirty="0">
                          <a:effectLst/>
                          <a:latin typeface="Comic Sans MS" panose="030F0702030302020204" pitchFamily="66" charset="0"/>
                        </a:rPr>
                        <a:t>D-3612</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600" dirty="0">
                          <a:effectLst/>
                          <a:latin typeface="Comic Sans MS" panose="030F0702030302020204" pitchFamily="66" charset="0"/>
                        </a:rPr>
                        <a:t>---</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GB" sz="1600">
                          <a:effectLst/>
                          <a:latin typeface="Comic Sans MS" panose="030F0702030302020204" pitchFamily="66" charset="0"/>
                        </a:rPr>
                        <a:t>12</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GB" sz="1600" dirty="0">
                          <a:effectLst/>
                          <a:latin typeface="Comic Sans MS" panose="030F0702030302020204" pitchFamily="66" charset="0"/>
                        </a:rPr>
                        <a:t>0</a:t>
                      </a:r>
                      <a:r>
                        <a:rPr lang="en-US" sz="1600" dirty="0">
                          <a:effectLst/>
                          <a:latin typeface="Comic Sans MS" panose="030F0702030302020204" pitchFamily="66" charset="0"/>
                        </a:rPr>
                        <a:t>.</a:t>
                      </a:r>
                      <a:r>
                        <a:rPr lang="en-GB" sz="1600" dirty="0">
                          <a:effectLst/>
                          <a:latin typeface="Comic Sans MS" panose="030F0702030302020204" pitchFamily="66" charset="0"/>
                        </a:rPr>
                        <a:t>1</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r>
              <a:tr h="495310">
                <a:tc>
                  <a:txBody>
                    <a:bodyPr/>
                    <a:lstStyle/>
                    <a:p>
                      <a:pPr>
                        <a:lnSpc>
                          <a:spcPct val="107000"/>
                        </a:lnSpc>
                        <a:spcAft>
                          <a:spcPts val="0"/>
                        </a:spcAft>
                      </a:pPr>
                      <a:r>
                        <a:rPr lang="en-US" sz="1600">
                          <a:effectLst/>
                          <a:latin typeface="Comic Sans MS" panose="030F0702030302020204" pitchFamily="66" charset="0"/>
                        </a:rPr>
                        <a:t>Surface tension, m</a:t>
                      </a:r>
                      <a:r>
                        <a:rPr lang="en-GB" sz="1600">
                          <a:effectLst/>
                          <a:latin typeface="Comic Sans MS" panose="030F0702030302020204" pitchFamily="66" charset="0"/>
                        </a:rPr>
                        <a:t>Н</a:t>
                      </a:r>
                      <a:r>
                        <a:rPr lang="en-US" sz="1600">
                          <a:effectLst/>
                          <a:latin typeface="Comic Sans MS" panose="030F0702030302020204" pitchFamily="66" charset="0"/>
                        </a:rPr>
                        <a:t>/m, at 25º</a:t>
                      </a:r>
                      <a:r>
                        <a:rPr lang="en-GB" sz="1600">
                          <a:effectLst/>
                          <a:latin typeface="Comic Sans MS" panose="030F0702030302020204" pitchFamily="66" charset="0"/>
                        </a:rPr>
                        <a:t>С</a:t>
                      </a:r>
                      <a:r>
                        <a:rPr lang="id-ID" sz="1600" baseline="30000">
                          <a:effectLst/>
                          <a:latin typeface="Comic Sans MS" panose="030F0702030302020204" pitchFamily="66" charset="0"/>
                        </a:rPr>
                        <a:t> </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n-GB" sz="1600" dirty="0">
                          <a:effectLst/>
                          <a:latin typeface="Comic Sans MS" panose="030F0702030302020204" pitchFamily="66" charset="0"/>
                        </a:rPr>
                        <a:t>ISO 6295; </a:t>
                      </a:r>
                      <a:endParaRPr lang="id-ID" sz="1600" dirty="0" smtClean="0">
                        <a:effectLst/>
                        <a:latin typeface="Comic Sans MS" panose="030F0702030302020204" pitchFamily="66" charset="0"/>
                      </a:endParaRPr>
                    </a:p>
                    <a:p>
                      <a:pPr>
                        <a:lnSpc>
                          <a:spcPct val="107000"/>
                        </a:lnSpc>
                        <a:spcAft>
                          <a:spcPts val="0"/>
                        </a:spcAft>
                      </a:pPr>
                      <a:r>
                        <a:rPr lang="en-GB" sz="1600" dirty="0" smtClean="0">
                          <a:effectLst/>
                          <a:latin typeface="Comic Sans MS" panose="030F0702030302020204" pitchFamily="66" charset="0"/>
                        </a:rPr>
                        <a:t>ASTM </a:t>
                      </a:r>
                      <a:r>
                        <a:rPr lang="en-GB" sz="1600" dirty="0">
                          <a:effectLst/>
                          <a:latin typeface="Comic Sans MS" panose="030F0702030302020204" pitchFamily="66" charset="0"/>
                        </a:rPr>
                        <a:t>D-2285</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ru-RU" sz="1600" dirty="0">
                          <a:effectLst/>
                          <a:latin typeface="Comic Sans MS" panose="030F0702030302020204" pitchFamily="66" charset="0"/>
                        </a:rPr>
                        <a:t>---</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GB" sz="1600">
                          <a:effectLst/>
                          <a:latin typeface="Comic Sans MS" panose="030F0702030302020204" pitchFamily="66" charset="0"/>
                        </a:rPr>
                        <a:t>22</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GB" sz="1600" dirty="0">
                          <a:effectLst/>
                          <a:latin typeface="Comic Sans MS" panose="030F0702030302020204" pitchFamily="66" charset="0"/>
                        </a:rPr>
                        <a:t>45</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r>
              <a:tr h="730124">
                <a:tc>
                  <a:txBody>
                    <a:bodyPr/>
                    <a:lstStyle/>
                    <a:p>
                      <a:pPr>
                        <a:lnSpc>
                          <a:spcPct val="107000"/>
                        </a:lnSpc>
                        <a:spcAft>
                          <a:spcPts val="0"/>
                        </a:spcAft>
                      </a:pPr>
                      <a:r>
                        <a:rPr lang="en-US" sz="1600">
                          <a:effectLst/>
                          <a:latin typeface="Comic Sans MS" panose="030F0702030302020204" pitchFamily="66" charset="0"/>
                        </a:rPr>
                        <a:t>Mechanical contaminants size</a:t>
                      </a:r>
                      <a:r>
                        <a:rPr lang="en-GB" sz="1600">
                          <a:effectLst/>
                          <a:latin typeface="Comic Sans MS" panose="030F0702030302020204" pitchFamily="66" charset="0"/>
                        </a:rPr>
                        <a:t>, </a:t>
                      </a:r>
                      <a:r>
                        <a:rPr lang="en-US" sz="1600">
                          <a:effectLst/>
                          <a:latin typeface="Comic Sans MS" panose="030F0702030302020204" pitchFamily="66" charset="0"/>
                        </a:rPr>
                        <a:t>micron</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n-GB" sz="1600">
                          <a:effectLst/>
                          <a:latin typeface="Comic Sans MS" panose="030F0702030302020204" pitchFamily="66" charset="0"/>
                        </a:rPr>
                        <a:t> </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GB" sz="1600">
                          <a:effectLst/>
                          <a:latin typeface="Comic Sans MS" panose="030F0702030302020204" pitchFamily="66" charset="0"/>
                        </a:rPr>
                        <a:t>Clear, free from sediments and suspended matter</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marR="20955" algn="ctr">
                        <a:lnSpc>
                          <a:spcPct val="107000"/>
                        </a:lnSpc>
                        <a:spcAft>
                          <a:spcPts val="0"/>
                        </a:spcAft>
                      </a:pPr>
                      <a:r>
                        <a:rPr lang="en-GB" sz="1600" dirty="0">
                          <a:effectLst/>
                          <a:latin typeface="Comic Sans MS" panose="030F0702030302020204" pitchFamily="66" charset="0"/>
                        </a:rPr>
                        <a:t>50</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GB" sz="1600" dirty="0">
                          <a:effectLst/>
                          <a:latin typeface="Comic Sans MS" panose="030F0702030302020204" pitchFamily="66" charset="0"/>
                        </a:rPr>
                        <a:t>0.2</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r>
              <a:tr h="495310">
                <a:tc>
                  <a:txBody>
                    <a:bodyPr/>
                    <a:lstStyle/>
                    <a:p>
                      <a:pPr>
                        <a:lnSpc>
                          <a:spcPct val="107000"/>
                        </a:lnSpc>
                        <a:spcAft>
                          <a:spcPts val="0"/>
                        </a:spcAft>
                      </a:pPr>
                      <a:r>
                        <a:rPr lang="en-US" sz="1600" dirty="0">
                          <a:effectLst/>
                          <a:latin typeface="Comic Sans MS" panose="030F0702030302020204" pitchFamily="66" charset="0"/>
                        </a:rPr>
                        <a:t>Oxidation stability</a:t>
                      </a:r>
                      <a:r>
                        <a:rPr lang="en-US" sz="1600" dirty="0" smtClean="0">
                          <a:effectLst/>
                          <a:latin typeface="Comic Sans MS" panose="030F0702030302020204" pitchFamily="66" charset="0"/>
                        </a:rPr>
                        <a:t>:</a:t>
                      </a:r>
                      <a:r>
                        <a:rPr lang="id-ID" sz="1600" dirty="0" smtClean="0">
                          <a:effectLst/>
                          <a:latin typeface="Comic Sans MS" panose="030F0702030302020204" pitchFamily="66" charset="0"/>
                        </a:rPr>
                        <a:t> </a:t>
                      </a:r>
                      <a:r>
                        <a:rPr lang="en-US" sz="1600" dirty="0" smtClean="0">
                          <a:effectLst/>
                          <a:latin typeface="Comic Sans MS" panose="030F0702030302020204" pitchFamily="66" charset="0"/>
                        </a:rPr>
                        <a:t>mg </a:t>
                      </a:r>
                      <a:r>
                        <a:rPr lang="en-GB" sz="1600" dirty="0">
                          <a:effectLst/>
                          <a:latin typeface="Comic Sans MS" panose="030F0702030302020204" pitchFamily="66" charset="0"/>
                        </a:rPr>
                        <a:t>КОН</a:t>
                      </a:r>
                      <a:r>
                        <a:rPr lang="en-US" sz="1600" dirty="0">
                          <a:effectLst/>
                          <a:latin typeface="Comic Sans MS" panose="030F0702030302020204" pitchFamily="66" charset="0"/>
                        </a:rPr>
                        <a:t>/g</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n-GB" sz="1600" dirty="0">
                          <a:effectLst/>
                          <a:latin typeface="Comic Sans MS" panose="030F0702030302020204" pitchFamily="66" charset="0"/>
                        </a:rPr>
                        <a:t>IEC</a:t>
                      </a:r>
                      <a:r>
                        <a:rPr lang="en-US" sz="1600" dirty="0">
                          <a:effectLst/>
                          <a:latin typeface="Comic Sans MS" panose="030F0702030302020204" pitchFamily="66" charset="0"/>
                        </a:rPr>
                        <a:t> 1125</a:t>
                      </a:r>
                      <a:r>
                        <a:rPr lang="en-GB" sz="1600" dirty="0">
                          <a:effectLst/>
                          <a:latin typeface="Comic Sans MS" panose="030F0702030302020204" pitchFamily="66" charset="0"/>
                        </a:rPr>
                        <a:t>А</a:t>
                      </a:r>
                      <a:r>
                        <a:rPr lang="en-US" sz="1600" dirty="0" smtClean="0">
                          <a:effectLst/>
                          <a:latin typeface="Comic Sans MS" panose="030F0702030302020204" pitchFamily="66" charset="0"/>
                        </a:rPr>
                        <a:t>;</a:t>
                      </a:r>
                      <a:endParaRPr lang="id-ID" sz="1600" dirty="0" smtClean="0">
                        <a:effectLst/>
                        <a:latin typeface="Comic Sans MS" panose="030F0702030302020204" pitchFamily="66" charset="0"/>
                      </a:endParaRPr>
                    </a:p>
                    <a:p>
                      <a:pPr>
                        <a:lnSpc>
                          <a:spcPct val="107000"/>
                        </a:lnSpc>
                        <a:spcAft>
                          <a:spcPts val="0"/>
                        </a:spcAft>
                      </a:pPr>
                      <a:r>
                        <a:rPr lang="en-GB" sz="1600" dirty="0" smtClean="0">
                          <a:effectLst/>
                          <a:latin typeface="Comic Sans MS" panose="030F0702030302020204" pitchFamily="66" charset="0"/>
                        </a:rPr>
                        <a:t>IEC</a:t>
                      </a:r>
                      <a:r>
                        <a:rPr lang="en-US" sz="1600" dirty="0" smtClean="0">
                          <a:effectLst/>
                          <a:latin typeface="Comic Sans MS" panose="030F0702030302020204" pitchFamily="66" charset="0"/>
                        </a:rPr>
                        <a:t> </a:t>
                      </a:r>
                      <a:r>
                        <a:rPr lang="en-US" sz="1600" dirty="0">
                          <a:effectLst/>
                          <a:latin typeface="Comic Sans MS" panose="030F0702030302020204" pitchFamily="66" charset="0"/>
                        </a:rPr>
                        <a:t>1125</a:t>
                      </a:r>
                      <a:r>
                        <a:rPr lang="en-GB" sz="1600" dirty="0">
                          <a:effectLst/>
                          <a:latin typeface="Comic Sans MS" panose="030F0702030302020204" pitchFamily="66" charset="0"/>
                        </a:rPr>
                        <a:t>B</a:t>
                      </a:r>
                      <a:r>
                        <a:rPr lang="en-US" sz="1600" dirty="0">
                          <a:effectLst/>
                          <a:latin typeface="Comic Sans MS" panose="030F0702030302020204" pitchFamily="66" charset="0"/>
                        </a:rPr>
                        <a:t>; </a:t>
                      </a:r>
                      <a:r>
                        <a:rPr lang="en-GB" sz="1600" dirty="0">
                          <a:effectLst/>
                          <a:latin typeface="Comic Sans MS" panose="030F0702030302020204" pitchFamily="66" charset="0"/>
                        </a:rPr>
                        <a:t>IP</a:t>
                      </a:r>
                      <a:r>
                        <a:rPr lang="en-US" sz="1600" dirty="0">
                          <a:effectLst/>
                          <a:latin typeface="Comic Sans MS" panose="030F0702030302020204" pitchFamily="66" charset="0"/>
                        </a:rPr>
                        <a:t>-307</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US" sz="1600">
                          <a:effectLst/>
                          <a:latin typeface="Comic Sans MS" panose="030F0702030302020204" pitchFamily="66" charset="0"/>
                        </a:rPr>
                        <a:t>≤ 1.2</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GB" sz="1600">
                          <a:effectLst/>
                          <a:latin typeface="Comic Sans MS" panose="030F0702030302020204" pitchFamily="66" charset="0"/>
                        </a:rPr>
                        <a:t>---</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GB" sz="1600" dirty="0">
                          <a:effectLst/>
                          <a:latin typeface="Comic Sans MS" panose="030F0702030302020204" pitchFamily="66" charset="0"/>
                        </a:rPr>
                        <a:t>0</a:t>
                      </a:r>
                      <a:r>
                        <a:rPr lang="en-US" sz="1600" dirty="0">
                          <a:effectLst/>
                          <a:latin typeface="Comic Sans MS" panose="030F0702030302020204" pitchFamily="66" charset="0"/>
                        </a:rPr>
                        <a:t>.</a:t>
                      </a:r>
                      <a:r>
                        <a:rPr lang="en-GB" sz="1600" dirty="0">
                          <a:effectLst/>
                          <a:latin typeface="Comic Sans MS" panose="030F0702030302020204" pitchFamily="66" charset="0"/>
                        </a:rPr>
                        <a:t>2</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r>
            </a:tbl>
          </a:graphicData>
        </a:graphic>
      </p:graphicFrame>
    </p:spTree>
    <p:extLst>
      <p:ext uri="{BB962C8B-B14F-4D97-AF65-F5344CB8AC3E}">
        <p14:creationId xmlns:p14="http://schemas.microsoft.com/office/powerpoint/2010/main" val="3367461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5798"/>
          </a:xfrm>
        </p:spPr>
        <p:txBody>
          <a:bodyPr>
            <a:normAutofit/>
          </a:bodyPr>
          <a:lstStyle/>
          <a:p>
            <a:pPr algn="ctr"/>
            <a:r>
              <a:rPr lang="en-US" sz="3600" dirty="0" err="1" smtClean="0">
                <a:latin typeface="Comic Sans MS" panose="030F0702030302020204" pitchFamily="66" charset="0"/>
              </a:rPr>
              <a:t>Historiy</a:t>
            </a:r>
            <a:r>
              <a:rPr lang="en-US" sz="3600" dirty="0" smtClean="0">
                <a:latin typeface="Comic Sans MS" panose="030F0702030302020204" pitchFamily="66" charset="0"/>
              </a:rPr>
              <a:t> of Transformer Oil Regeneration</a:t>
            </a:r>
            <a:endParaRPr lang="id-ID" sz="3600" dirty="0">
              <a:latin typeface="Comic Sans MS" panose="030F0702030302020204" pitchFamily="66" charset="0"/>
            </a:endParaRPr>
          </a:p>
        </p:txBody>
      </p:sp>
      <p:sp>
        <p:nvSpPr>
          <p:cNvPr id="3" name="Content Placeholder 2"/>
          <p:cNvSpPr>
            <a:spLocks noGrp="1"/>
          </p:cNvSpPr>
          <p:nvPr>
            <p:ph idx="1"/>
          </p:nvPr>
        </p:nvSpPr>
        <p:spPr>
          <a:xfrm>
            <a:off x="838200" y="1230924"/>
            <a:ext cx="10515600" cy="4946039"/>
          </a:xfrm>
        </p:spPr>
        <p:txBody>
          <a:bodyPr>
            <a:normAutofit fontScale="85000" lnSpcReduction="10000"/>
          </a:bodyPr>
          <a:lstStyle/>
          <a:p>
            <a:pPr algn="just"/>
            <a:r>
              <a:rPr lang="en-US" dirty="0" smtClean="0">
                <a:latin typeface="Comic Sans MS" panose="030F0702030302020204" pitchFamily="66" charset="0"/>
              </a:rPr>
              <a:t>The use of Fuller’s Earth for regeneration of transformer oil dates back to 1965 when it was first used in the USA and the UK.</a:t>
            </a:r>
          </a:p>
          <a:p>
            <a:pPr algn="just"/>
            <a:r>
              <a:rPr lang="en-US" dirty="0" smtClean="0">
                <a:latin typeface="Comic Sans MS" panose="030F0702030302020204" pitchFamily="66" charset="0"/>
              </a:rPr>
              <a:t>In 1990, </a:t>
            </a:r>
            <a:r>
              <a:rPr lang="en-US" dirty="0" err="1" smtClean="0">
                <a:latin typeface="Comic Sans MS" panose="030F0702030302020204" pitchFamily="66" charset="0"/>
              </a:rPr>
              <a:t>Fluidex</a:t>
            </a:r>
            <a:r>
              <a:rPr lang="en-US" dirty="0" smtClean="0">
                <a:latin typeface="Comic Sans MS" panose="030F0702030302020204" pitchFamily="66" charset="0"/>
              </a:rPr>
              <a:t> Ltd, a South African engineering company, developed modern mobile regeneration plants utilizing automated reactivation processes. Since then they’ve been used by leading maintenance companies including ABB, SD Myers and General Electric for regeneration of oil in thousands of transformers worldwide.</a:t>
            </a:r>
          </a:p>
          <a:p>
            <a:pPr algn="just"/>
            <a:r>
              <a:rPr lang="en-US" dirty="0" smtClean="0">
                <a:latin typeface="Comic Sans MS" panose="030F0702030302020204" pitchFamily="66" charset="0"/>
              </a:rPr>
              <a:t>In 2009, with the Oil Regeneration Technology transfer from </a:t>
            </a:r>
            <a:r>
              <a:rPr lang="en-US" dirty="0" err="1" smtClean="0">
                <a:latin typeface="Comic Sans MS" panose="030F0702030302020204" pitchFamily="66" charset="0"/>
              </a:rPr>
              <a:t>Fluidex</a:t>
            </a:r>
            <a:r>
              <a:rPr lang="en-US" dirty="0" smtClean="0">
                <a:latin typeface="Comic Sans MS" panose="030F0702030302020204" pitchFamily="66" charset="0"/>
              </a:rPr>
              <a:t> to </a:t>
            </a:r>
            <a:r>
              <a:rPr lang="en-US" dirty="0" err="1" smtClean="0">
                <a:latin typeface="Comic Sans MS" panose="030F0702030302020204" pitchFamily="66" charset="0"/>
              </a:rPr>
              <a:t>GlobeCore</a:t>
            </a:r>
            <a:r>
              <a:rPr lang="en-US" dirty="0" smtClean="0">
                <a:latin typeface="Comic Sans MS" panose="030F0702030302020204" pitchFamily="66" charset="0"/>
              </a:rPr>
              <a:t>, Oil Regeneration Plants were redesigned and improved to make them yet more reliable and environmentally friendly.</a:t>
            </a:r>
          </a:p>
          <a:p>
            <a:pPr algn="just"/>
            <a:r>
              <a:rPr lang="en-US" dirty="0" smtClean="0">
                <a:latin typeface="Comic Sans MS" panose="030F0702030302020204" pitchFamily="66" charset="0"/>
              </a:rPr>
              <a:t>Table  below shows averaged data from more than 200 transformers treated by ABB in Norway and Sweden with 3 mobile regeneration units.  This table includes data for unused mineral insulating oil (from IEC 60422) to enable the effectiveness of regeneration to be seen.</a:t>
            </a:r>
          </a:p>
          <a:p>
            <a:endParaRPr lang="id-ID" dirty="0"/>
          </a:p>
        </p:txBody>
      </p:sp>
    </p:spTree>
    <p:extLst>
      <p:ext uri="{BB962C8B-B14F-4D97-AF65-F5344CB8AC3E}">
        <p14:creationId xmlns:p14="http://schemas.microsoft.com/office/powerpoint/2010/main" val="2026025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18552"/>
          </a:xfrm>
        </p:spPr>
        <p:txBody>
          <a:bodyPr>
            <a:normAutofit/>
          </a:bodyPr>
          <a:lstStyle/>
          <a:p>
            <a:pPr algn="ctr"/>
            <a:r>
              <a:rPr lang="en-US" sz="3600" dirty="0" smtClean="0">
                <a:latin typeface="Comic Sans MS" panose="030F0702030302020204" pitchFamily="66" charset="0"/>
              </a:rPr>
              <a:t>Advantages of Transformer Oil Regeneration </a:t>
            </a:r>
            <a:endParaRPr lang="id-ID" sz="3600" dirty="0">
              <a:latin typeface="Comic Sans MS" panose="030F0702030302020204" pitchFamily="66"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80439770"/>
              </p:ext>
            </p:extLst>
          </p:nvPr>
        </p:nvGraphicFramePr>
        <p:xfrm>
          <a:off x="1266091" y="1547447"/>
          <a:ext cx="10216662" cy="4484074"/>
        </p:xfrm>
        <a:graphic>
          <a:graphicData uri="http://schemas.openxmlformats.org/drawingml/2006/table">
            <a:tbl>
              <a:tblPr firstRow="1" firstCol="1" bandRow="1">
                <a:tableStyleId>{5C22544A-7EE6-4342-B048-85BDC9FD1C3A}</a:tableStyleId>
              </a:tblPr>
              <a:tblGrid>
                <a:gridCol w="3429001"/>
                <a:gridCol w="1631410"/>
                <a:gridCol w="996748"/>
                <a:gridCol w="719837"/>
                <a:gridCol w="641781"/>
                <a:gridCol w="248513"/>
                <a:gridCol w="629153"/>
                <a:gridCol w="797724"/>
                <a:gridCol w="914215"/>
                <a:gridCol w="208280"/>
              </a:tblGrid>
              <a:tr h="511704">
                <a:tc>
                  <a:txBody>
                    <a:bodyPr/>
                    <a:lstStyle/>
                    <a:p>
                      <a:endParaRPr lang="id-ID"/>
                    </a:p>
                  </a:txBody>
                  <a:tcPr marL="9525" marR="9525" marT="9525" marB="9525" anchor="ctr"/>
                </a:tc>
                <a:tc gridSpan="3">
                  <a:txBody>
                    <a:bodyPr/>
                    <a:lstStyle/>
                    <a:p>
                      <a:endParaRPr lang="id-ID"/>
                    </a:p>
                  </a:txBody>
                  <a:tcPr/>
                </a:tc>
                <a:tc hMerge="1">
                  <a:txBody>
                    <a:bodyPr/>
                    <a:lstStyle/>
                    <a:p>
                      <a:endParaRPr lang="id-ID"/>
                    </a:p>
                  </a:txBody>
                  <a:tcPr/>
                </a:tc>
                <a:tc hMerge="1">
                  <a:txBody>
                    <a:bodyPr/>
                    <a:lstStyle/>
                    <a:p>
                      <a:endParaRPr lang="id-ID"/>
                    </a:p>
                  </a:txBody>
                  <a:tcPr/>
                </a:tc>
                <a:tc>
                  <a:txBody>
                    <a:bodyPr/>
                    <a:lstStyle/>
                    <a:p>
                      <a:endParaRPr lang="id-ID"/>
                    </a:p>
                  </a:txBody>
                  <a:tcPr/>
                </a:tc>
                <a:tc gridSpan="2">
                  <a:txBody>
                    <a:bodyPr/>
                    <a:lstStyle/>
                    <a:p>
                      <a:endParaRPr lang="id-ID"/>
                    </a:p>
                  </a:txBody>
                  <a:tcPr/>
                </a:tc>
                <a:tc hMerge="1">
                  <a:txBody>
                    <a:bodyPr/>
                    <a:lstStyle/>
                    <a:p>
                      <a:endParaRPr lang="id-ID"/>
                    </a:p>
                  </a:txBody>
                  <a:tcPr/>
                </a:tc>
                <a:tc>
                  <a:txBody>
                    <a:bodyPr/>
                    <a:lstStyle/>
                    <a:p>
                      <a:endParaRPr lang="id-ID"/>
                    </a:p>
                  </a:txBody>
                  <a:tcPr/>
                </a:tc>
                <a:tc>
                  <a:txBody>
                    <a:bodyPr/>
                    <a:lstStyle/>
                    <a:p>
                      <a:endParaRPr lang="id-ID"/>
                    </a:p>
                  </a:txBody>
                  <a:tcPr/>
                </a:tc>
                <a:tc>
                  <a:txBody>
                    <a:bodyPr/>
                    <a:lstStyle/>
                    <a:p>
                      <a:endParaRPr lang="id-ID" dirty="0"/>
                    </a:p>
                  </a:txBody>
                  <a:tcPr/>
                </a:tc>
              </a:tr>
              <a:tr h="511704">
                <a:tc>
                  <a:txBody>
                    <a:bodyPr/>
                    <a:lstStyle/>
                    <a:p>
                      <a:pPr marL="635" marR="70485" algn="ctr">
                        <a:lnSpc>
                          <a:spcPct val="107000"/>
                        </a:lnSpc>
                        <a:spcAft>
                          <a:spcPts val="800"/>
                        </a:spcAft>
                      </a:pPr>
                      <a:r>
                        <a:rPr lang="en-US" sz="1600" dirty="0">
                          <a:effectLst/>
                          <a:latin typeface="Comic Sans MS" panose="030F0702030302020204" pitchFamily="66" charset="0"/>
                        </a:rPr>
                        <a:t>Classification</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gridSpan="8">
                  <a:txBody>
                    <a:bodyPr/>
                    <a:lstStyle/>
                    <a:p>
                      <a:pPr marL="16510" marR="70485" algn="ctr">
                        <a:lnSpc>
                          <a:spcPct val="107000"/>
                        </a:lnSpc>
                        <a:spcAft>
                          <a:spcPts val="800"/>
                        </a:spcAft>
                      </a:pPr>
                      <a:r>
                        <a:rPr lang="en-US" sz="1600" dirty="0">
                          <a:effectLst/>
                          <a:latin typeface="Comic Sans MS" panose="030F0702030302020204" pitchFamily="66" charset="0"/>
                        </a:rPr>
                        <a:t>Oil Property</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a:txBody>
                    <a:bodyPr/>
                    <a:lstStyle/>
                    <a:p>
                      <a:endParaRPr lang="id-ID" dirty="0"/>
                    </a:p>
                  </a:txBody>
                  <a:tcPr/>
                </a:tc>
              </a:tr>
              <a:tr h="741794">
                <a:tc>
                  <a:txBody>
                    <a:bodyPr/>
                    <a:lstStyle/>
                    <a:p>
                      <a:pPr>
                        <a:lnSpc>
                          <a:spcPct val="107000"/>
                        </a:lnSpc>
                      </a:pPr>
                      <a:endParaRPr lang="id-ID" sz="1600">
                        <a:effectLst/>
                        <a:latin typeface="Comic Sans MS" panose="030F0702030302020204" pitchFamily="66" charset="0"/>
                        <a:cs typeface="Times New Roman" panose="02020603050405020304" pitchFamily="18" charset="0"/>
                      </a:endParaRPr>
                    </a:p>
                  </a:txBody>
                  <a:tcPr marL="68580" marR="68580" marT="0" marB="0"/>
                </a:tc>
                <a:tc>
                  <a:txBody>
                    <a:bodyPr/>
                    <a:lstStyle/>
                    <a:p>
                      <a:pPr marL="17780" marR="70485" algn="ctr">
                        <a:lnSpc>
                          <a:spcPct val="107000"/>
                        </a:lnSpc>
                        <a:spcAft>
                          <a:spcPts val="0"/>
                        </a:spcAft>
                      </a:pPr>
                      <a:r>
                        <a:rPr lang="en-US" sz="1600" dirty="0">
                          <a:effectLst/>
                          <a:latin typeface="Comic Sans MS" panose="030F0702030302020204" pitchFamily="66" charset="0"/>
                        </a:rPr>
                        <a:t>Acidity</a:t>
                      </a:r>
                      <a:endParaRPr lang="id-ID" sz="1600" dirty="0">
                        <a:effectLst/>
                        <a:latin typeface="Comic Sans MS" panose="030F0702030302020204" pitchFamily="66" charset="0"/>
                      </a:endParaRPr>
                    </a:p>
                    <a:p>
                      <a:pPr marL="17780" algn="ctr">
                        <a:lnSpc>
                          <a:spcPct val="107000"/>
                        </a:lnSpc>
                        <a:spcAft>
                          <a:spcPts val="0"/>
                        </a:spcAft>
                      </a:pPr>
                      <a:r>
                        <a:rPr lang="en-US" sz="1600" dirty="0">
                          <a:effectLst/>
                          <a:latin typeface="Comic Sans MS" panose="030F0702030302020204" pitchFamily="66" charset="0"/>
                        </a:rPr>
                        <a:t>(mg KOH/g)</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marL="17780" algn="ctr">
                        <a:lnSpc>
                          <a:spcPct val="107000"/>
                        </a:lnSpc>
                        <a:spcAft>
                          <a:spcPts val="0"/>
                        </a:spcAft>
                      </a:pPr>
                      <a:r>
                        <a:rPr lang="en-GB" sz="1600" dirty="0">
                          <a:effectLst/>
                          <a:latin typeface="Comic Sans MS" panose="030F0702030302020204" pitchFamily="66" charset="0"/>
                        </a:rPr>
                        <a:t>Colour</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gridSpan="3">
                  <a:txBody>
                    <a:bodyPr/>
                    <a:lstStyle/>
                    <a:p>
                      <a:pPr marL="17780" algn="ctr">
                        <a:lnSpc>
                          <a:spcPct val="107000"/>
                        </a:lnSpc>
                        <a:spcAft>
                          <a:spcPts val="0"/>
                        </a:spcAft>
                      </a:pPr>
                      <a:r>
                        <a:rPr lang="en-US" sz="1600" dirty="0">
                          <a:effectLst/>
                          <a:latin typeface="Comic Sans MS" panose="030F0702030302020204" pitchFamily="66" charset="0"/>
                        </a:rPr>
                        <a:t>BDV (kV/2,5mm)</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hMerge="1">
                  <a:txBody>
                    <a:bodyPr/>
                    <a:lstStyle/>
                    <a:p>
                      <a:pPr marL="17780" algn="ctr">
                        <a:lnSpc>
                          <a:spcPct val="107000"/>
                        </a:lnSpc>
                        <a:spcAft>
                          <a:spcPts val="0"/>
                        </a:spcAft>
                      </a:pP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hMerge="1">
                  <a:txBody>
                    <a:bodyPr/>
                    <a:lstStyle/>
                    <a:p>
                      <a:pPr marL="17780" algn="ctr">
                        <a:lnSpc>
                          <a:spcPct val="107000"/>
                        </a:lnSpc>
                        <a:spcAft>
                          <a:spcPts val="0"/>
                        </a:spcAft>
                      </a:pP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gridSpan="2">
                  <a:txBody>
                    <a:bodyPr/>
                    <a:lstStyle/>
                    <a:p>
                      <a:pPr marL="17780" marR="70485" algn="ctr">
                        <a:lnSpc>
                          <a:spcPct val="107000"/>
                        </a:lnSpc>
                        <a:spcAft>
                          <a:spcPts val="0"/>
                        </a:spcAft>
                      </a:pPr>
                      <a:r>
                        <a:rPr lang="en-US" sz="1600" dirty="0">
                          <a:effectLst/>
                          <a:latin typeface="Comic Sans MS" panose="030F0702030302020204" pitchFamily="66" charset="0"/>
                        </a:rPr>
                        <a:t>DDF</a:t>
                      </a:r>
                      <a:endParaRPr lang="id-ID" sz="1600" dirty="0">
                        <a:effectLst/>
                        <a:latin typeface="Comic Sans MS" panose="030F0702030302020204" pitchFamily="66" charset="0"/>
                      </a:endParaRPr>
                    </a:p>
                    <a:p>
                      <a:pPr marL="17780" marR="70485" algn="ctr">
                        <a:lnSpc>
                          <a:spcPct val="107000"/>
                        </a:lnSpc>
                        <a:spcAft>
                          <a:spcPts val="0"/>
                        </a:spcAft>
                      </a:pPr>
                      <a:r>
                        <a:rPr lang="en-US" sz="1600" dirty="0">
                          <a:effectLst/>
                          <a:latin typeface="Comic Sans MS" panose="030F0702030302020204" pitchFamily="66" charset="0"/>
                        </a:rPr>
                        <a:t>at 90°C</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hMerge="1">
                  <a:txBody>
                    <a:bodyPr/>
                    <a:lstStyle/>
                    <a:p>
                      <a:pPr marL="17780" marR="70485" algn="ctr">
                        <a:lnSpc>
                          <a:spcPct val="107000"/>
                        </a:lnSpc>
                        <a:spcAft>
                          <a:spcPts val="0"/>
                        </a:spcAft>
                      </a:pP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marL="16510" marR="21590">
                        <a:lnSpc>
                          <a:spcPct val="107000"/>
                        </a:lnSpc>
                        <a:spcAft>
                          <a:spcPts val="0"/>
                        </a:spcAft>
                      </a:pPr>
                      <a:r>
                        <a:rPr lang="en-US" sz="1600">
                          <a:effectLst/>
                          <a:latin typeface="Comic Sans MS" panose="030F0702030302020204" pitchFamily="66" charset="0"/>
                        </a:rPr>
                        <a:t>IFT </a:t>
                      </a:r>
                      <a:endParaRPr lang="id-ID" sz="1600">
                        <a:effectLst/>
                        <a:latin typeface="Comic Sans MS" panose="030F0702030302020204" pitchFamily="66" charset="0"/>
                      </a:endParaRPr>
                    </a:p>
                    <a:p>
                      <a:pPr marL="16510" marR="21590">
                        <a:lnSpc>
                          <a:spcPct val="107000"/>
                        </a:lnSpc>
                        <a:spcAft>
                          <a:spcPts val="0"/>
                        </a:spcAft>
                      </a:pPr>
                      <a:r>
                        <a:rPr lang="en-US" sz="1600">
                          <a:effectLst/>
                          <a:latin typeface="Comic Sans MS" panose="030F0702030302020204" pitchFamily="66" charset="0"/>
                        </a:rPr>
                        <a:t>(mN/m)</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id-ID" dirty="0"/>
                    </a:p>
                  </a:txBody>
                  <a:tcPr/>
                </a:tc>
              </a:tr>
              <a:tr h="544574">
                <a:tc>
                  <a:txBody>
                    <a:bodyPr/>
                    <a:lstStyle/>
                    <a:p>
                      <a:pPr marL="17780" marR="70485">
                        <a:lnSpc>
                          <a:spcPct val="107000"/>
                        </a:lnSpc>
                        <a:spcAft>
                          <a:spcPts val="0"/>
                        </a:spcAft>
                      </a:pPr>
                      <a:r>
                        <a:rPr lang="en-US" sz="1600" dirty="0">
                          <a:effectLst/>
                          <a:latin typeface="Comic Sans MS" panose="030F0702030302020204" pitchFamily="66" charset="0"/>
                        </a:rPr>
                        <a:t>Before </a:t>
                      </a:r>
                      <a:r>
                        <a:rPr lang="id-ID" sz="1600" dirty="0" smtClean="0">
                          <a:effectLst/>
                          <a:latin typeface="Comic Sans MS" panose="030F0702030302020204" pitchFamily="66" charset="0"/>
                        </a:rPr>
                        <a:t> </a:t>
                      </a:r>
                      <a:r>
                        <a:rPr lang="en-US" sz="1600" dirty="0" smtClean="0">
                          <a:effectLst/>
                          <a:latin typeface="Comic Sans MS" panose="030F0702030302020204" pitchFamily="66" charset="0"/>
                        </a:rPr>
                        <a:t>Regeneration</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marL="17780" marR="70485" algn="ctr">
                        <a:lnSpc>
                          <a:spcPct val="107000"/>
                        </a:lnSpc>
                        <a:spcAft>
                          <a:spcPts val="0"/>
                        </a:spcAft>
                      </a:pPr>
                      <a:r>
                        <a:rPr lang="en-US" sz="1600" dirty="0">
                          <a:effectLst/>
                          <a:latin typeface="Comic Sans MS" panose="030F0702030302020204" pitchFamily="66" charset="0"/>
                        </a:rPr>
                        <a:t>0,157</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marL="17780" marR="70485" algn="ctr">
                        <a:lnSpc>
                          <a:spcPct val="107000"/>
                        </a:lnSpc>
                        <a:spcAft>
                          <a:spcPts val="0"/>
                        </a:spcAft>
                      </a:pPr>
                      <a:r>
                        <a:rPr lang="en-US" sz="1600" dirty="0">
                          <a:effectLst/>
                          <a:latin typeface="Comic Sans MS" panose="030F0702030302020204" pitchFamily="66" charset="0"/>
                        </a:rPr>
                        <a:t>4,1</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gridSpan="3">
                  <a:txBody>
                    <a:bodyPr/>
                    <a:lstStyle/>
                    <a:p>
                      <a:pPr marL="17780" marR="70485" algn="ctr">
                        <a:lnSpc>
                          <a:spcPct val="107000"/>
                        </a:lnSpc>
                        <a:spcAft>
                          <a:spcPts val="0"/>
                        </a:spcAft>
                      </a:pPr>
                      <a:r>
                        <a:rPr lang="en-US" sz="1600" dirty="0">
                          <a:effectLst/>
                          <a:latin typeface="Comic Sans MS" panose="030F0702030302020204" pitchFamily="66" charset="0"/>
                        </a:rPr>
                        <a:t>68</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hMerge="1">
                  <a:txBody>
                    <a:bodyPr/>
                    <a:lstStyle/>
                    <a:p>
                      <a:pPr marL="17780" marR="70485" algn="ctr">
                        <a:lnSpc>
                          <a:spcPct val="107000"/>
                        </a:lnSpc>
                        <a:spcAft>
                          <a:spcPts val="0"/>
                        </a:spcAft>
                      </a:pP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hMerge="1">
                  <a:txBody>
                    <a:bodyPr/>
                    <a:lstStyle/>
                    <a:p>
                      <a:pPr marL="17780" marR="70485" algn="ctr">
                        <a:lnSpc>
                          <a:spcPct val="107000"/>
                        </a:lnSpc>
                        <a:spcAft>
                          <a:spcPts val="0"/>
                        </a:spcAft>
                      </a:pP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gridSpan="2">
                  <a:txBody>
                    <a:bodyPr/>
                    <a:lstStyle/>
                    <a:p>
                      <a:pPr marL="17780" marR="70485" algn="ctr">
                        <a:lnSpc>
                          <a:spcPct val="107000"/>
                        </a:lnSpc>
                        <a:spcAft>
                          <a:spcPts val="0"/>
                        </a:spcAft>
                      </a:pPr>
                      <a:r>
                        <a:rPr lang="en-US" sz="1600">
                          <a:effectLst/>
                          <a:latin typeface="Comic Sans MS" panose="030F0702030302020204" pitchFamily="66" charset="0"/>
                        </a:rPr>
                        <a:t>0,0812</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hMerge="1">
                  <a:txBody>
                    <a:bodyPr/>
                    <a:lstStyle/>
                    <a:p>
                      <a:pPr marL="17780" marR="70485" algn="ctr">
                        <a:lnSpc>
                          <a:spcPct val="107000"/>
                        </a:lnSpc>
                        <a:spcAft>
                          <a:spcPts val="0"/>
                        </a:spcAft>
                      </a:pP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marL="16510" marR="21590" algn="ctr">
                        <a:lnSpc>
                          <a:spcPct val="107000"/>
                        </a:lnSpc>
                        <a:spcAft>
                          <a:spcPts val="800"/>
                        </a:spcAft>
                      </a:pPr>
                      <a:r>
                        <a:rPr lang="en-US" sz="1600">
                          <a:effectLst/>
                          <a:latin typeface="Comic Sans MS" panose="030F0702030302020204" pitchFamily="66" charset="0"/>
                        </a:rPr>
                        <a:t>23,5</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id-ID" dirty="0"/>
                    </a:p>
                  </a:txBody>
                  <a:tcPr/>
                </a:tc>
              </a:tr>
              <a:tr h="511704">
                <a:tc>
                  <a:txBody>
                    <a:bodyPr/>
                    <a:lstStyle/>
                    <a:p>
                      <a:pPr marL="17780" marR="70485">
                        <a:lnSpc>
                          <a:spcPct val="107000"/>
                        </a:lnSpc>
                        <a:spcAft>
                          <a:spcPts val="0"/>
                        </a:spcAft>
                      </a:pPr>
                      <a:r>
                        <a:rPr lang="en-US" sz="1600" dirty="0">
                          <a:effectLst/>
                          <a:latin typeface="Comic Sans MS" panose="030F0702030302020204" pitchFamily="66" charset="0"/>
                        </a:rPr>
                        <a:t>After </a:t>
                      </a:r>
                      <a:r>
                        <a:rPr lang="id-ID" sz="1600" dirty="0" smtClean="0">
                          <a:effectLst/>
                          <a:latin typeface="Comic Sans MS" panose="030F0702030302020204" pitchFamily="66" charset="0"/>
                        </a:rPr>
                        <a:t> </a:t>
                      </a:r>
                      <a:r>
                        <a:rPr lang="en-US" sz="1600" dirty="0" smtClean="0">
                          <a:effectLst/>
                          <a:latin typeface="Comic Sans MS" panose="030F0702030302020204" pitchFamily="66" charset="0"/>
                        </a:rPr>
                        <a:t>Regeneration</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marL="17780" marR="70485" algn="ctr">
                        <a:lnSpc>
                          <a:spcPct val="107000"/>
                        </a:lnSpc>
                        <a:spcAft>
                          <a:spcPts val="0"/>
                        </a:spcAft>
                      </a:pPr>
                      <a:r>
                        <a:rPr lang="en-US" sz="1600" dirty="0">
                          <a:effectLst/>
                          <a:latin typeface="Comic Sans MS" panose="030F0702030302020204" pitchFamily="66" charset="0"/>
                        </a:rPr>
                        <a:t>0,009</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marL="17780" marR="70485" algn="ctr">
                        <a:lnSpc>
                          <a:spcPct val="107000"/>
                        </a:lnSpc>
                        <a:spcAft>
                          <a:spcPts val="0"/>
                        </a:spcAft>
                      </a:pPr>
                      <a:r>
                        <a:rPr lang="en-US" sz="1600" dirty="0">
                          <a:effectLst/>
                          <a:latin typeface="Comic Sans MS" panose="030F0702030302020204" pitchFamily="66" charset="0"/>
                        </a:rPr>
                        <a:t>1,5</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gridSpan="3">
                  <a:txBody>
                    <a:bodyPr/>
                    <a:lstStyle/>
                    <a:p>
                      <a:pPr marL="17780" marR="70485" algn="ctr">
                        <a:lnSpc>
                          <a:spcPct val="107000"/>
                        </a:lnSpc>
                        <a:spcAft>
                          <a:spcPts val="0"/>
                        </a:spcAft>
                      </a:pPr>
                      <a:r>
                        <a:rPr lang="en-US" sz="1600" dirty="0">
                          <a:effectLst/>
                          <a:latin typeface="Comic Sans MS" panose="030F0702030302020204" pitchFamily="66" charset="0"/>
                        </a:rPr>
                        <a:t>80</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hMerge="1">
                  <a:txBody>
                    <a:bodyPr/>
                    <a:lstStyle/>
                    <a:p>
                      <a:pPr marL="17780" marR="70485" algn="ctr">
                        <a:lnSpc>
                          <a:spcPct val="107000"/>
                        </a:lnSpc>
                        <a:spcAft>
                          <a:spcPts val="0"/>
                        </a:spcAft>
                      </a:pP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hMerge="1">
                  <a:txBody>
                    <a:bodyPr/>
                    <a:lstStyle/>
                    <a:p>
                      <a:pPr marL="17780" marR="70485" algn="ctr">
                        <a:lnSpc>
                          <a:spcPct val="107000"/>
                        </a:lnSpc>
                        <a:spcAft>
                          <a:spcPts val="0"/>
                        </a:spcAft>
                      </a:pP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gridSpan="2">
                  <a:txBody>
                    <a:bodyPr/>
                    <a:lstStyle/>
                    <a:p>
                      <a:pPr marL="17780" marR="70485" algn="ctr">
                        <a:lnSpc>
                          <a:spcPct val="107000"/>
                        </a:lnSpc>
                        <a:spcAft>
                          <a:spcPts val="0"/>
                        </a:spcAft>
                      </a:pPr>
                      <a:r>
                        <a:rPr lang="en-US" sz="1600" dirty="0">
                          <a:effectLst/>
                          <a:latin typeface="Comic Sans MS" panose="030F0702030302020204" pitchFamily="66" charset="0"/>
                        </a:rPr>
                        <a:t>0,0033</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hMerge="1">
                  <a:txBody>
                    <a:bodyPr/>
                    <a:lstStyle/>
                    <a:p>
                      <a:pPr marL="17780" marR="70485" algn="ctr">
                        <a:lnSpc>
                          <a:spcPct val="107000"/>
                        </a:lnSpc>
                        <a:spcAft>
                          <a:spcPts val="0"/>
                        </a:spcAft>
                      </a:pP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marL="16510" marR="21590" algn="ctr">
                        <a:lnSpc>
                          <a:spcPct val="107000"/>
                        </a:lnSpc>
                        <a:spcAft>
                          <a:spcPts val="800"/>
                        </a:spcAft>
                      </a:pPr>
                      <a:r>
                        <a:rPr lang="en-US" sz="1600">
                          <a:effectLst/>
                          <a:latin typeface="Comic Sans MS" panose="030F0702030302020204" pitchFamily="66" charset="0"/>
                        </a:rPr>
                        <a:t>46,0</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id-ID" dirty="0"/>
                    </a:p>
                  </a:txBody>
                  <a:tcPr/>
                </a:tc>
              </a:tr>
              <a:tr h="669835">
                <a:tc>
                  <a:txBody>
                    <a:bodyPr/>
                    <a:lstStyle/>
                    <a:p>
                      <a:pPr marL="17780" marR="70485">
                        <a:lnSpc>
                          <a:spcPct val="107000"/>
                        </a:lnSpc>
                        <a:spcAft>
                          <a:spcPts val="0"/>
                        </a:spcAft>
                      </a:pPr>
                      <a:r>
                        <a:rPr lang="en-US" sz="1600" dirty="0" smtClean="0">
                          <a:effectLst/>
                          <a:latin typeface="Comic Sans MS" panose="030F0702030302020204" pitchFamily="66" charset="0"/>
                        </a:rPr>
                        <a:t>Follow-up</a:t>
                      </a:r>
                      <a:r>
                        <a:rPr lang="id-ID" sz="1600" dirty="0" smtClean="0">
                          <a:effectLst/>
                          <a:latin typeface="Comic Sans MS" panose="030F0702030302020204" pitchFamily="66" charset="0"/>
                        </a:rPr>
                        <a:t> </a:t>
                      </a:r>
                      <a:r>
                        <a:rPr lang="en-US" sz="1600" dirty="0" smtClean="0">
                          <a:effectLst/>
                          <a:latin typeface="Comic Sans MS" panose="030F0702030302020204" pitchFamily="66" charset="0"/>
                        </a:rPr>
                        <a:t>(</a:t>
                      </a:r>
                      <a:r>
                        <a:rPr lang="en-US" sz="1600" dirty="0" err="1">
                          <a:effectLst/>
                          <a:latin typeface="Comic Sans MS" panose="030F0702030302020204" pitchFamily="66" charset="0"/>
                        </a:rPr>
                        <a:t>Approx</a:t>
                      </a:r>
                      <a:r>
                        <a:rPr lang="en-US" sz="1600" dirty="0">
                          <a:effectLst/>
                          <a:latin typeface="Comic Sans MS" panose="030F0702030302020204" pitchFamily="66" charset="0"/>
                        </a:rPr>
                        <a:t> 6-9 months)</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marL="17780" marR="70485" algn="ctr">
                        <a:lnSpc>
                          <a:spcPct val="107000"/>
                        </a:lnSpc>
                        <a:spcAft>
                          <a:spcPts val="0"/>
                        </a:spcAft>
                      </a:pPr>
                      <a:r>
                        <a:rPr lang="en-US" sz="1600">
                          <a:effectLst/>
                          <a:latin typeface="Comic Sans MS" panose="030F0702030302020204" pitchFamily="66" charset="0"/>
                        </a:rPr>
                        <a:t>0,014</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marL="17780" marR="70485" algn="ctr">
                        <a:lnSpc>
                          <a:spcPct val="107000"/>
                        </a:lnSpc>
                        <a:spcAft>
                          <a:spcPts val="0"/>
                        </a:spcAft>
                      </a:pPr>
                      <a:r>
                        <a:rPr lang="en-US" sz="1600" dirty="0">
                          <a:effectLst/>
                          <a:latin typeface="Comic Sans MS" panose="030F0702030302020204" pitchFamily="66" charset="0"/>
                        </a:rPr>
                        <a:t>1,6</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gridSpan="3">
                  <a:txBody>
                    <a:bodyPr/>
                    <a:lstStyle/>
                    <a:p>
                      <a:pPr marL="17780" marR="70485" algn="ctr">
                        <a:lnSpc>
                          <a:spcPct val="107000"/>
                        </a:lnSpc>
                        <a:spcAft>
                          <a:spcPts val="0"/>
                        </a:spcAft>
                      </a:pPr>
                      <a:r>
                        <a:rPr lang="en-US" sz="1600" dirty="0">
                          <a:effectLst/>
                          <a:latin typeface="Comic Sans MS" panose="030F0702030302020204" pitchFamily="66" charset="0"/>
                        </a:rPr>
                        <a:t>74</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hMerge="1">
                  <a:txBody>
                    <a:bodyPr/>
                    <a:lstStyle/>
                    <a:p>
                      <a:pPr marL="17780" marR="70485" algn="ctr">
                        <a:lnSpc>
                          <a:spcPct val="107000"/>
                        </a:lnSpc>
                        <a:spcAft>
                          <a:spcPts val="0"/>
                        </a:spcAft>
                      </a:pP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hMerge="1">
                  <a:txBody>
                    <a:bodyPr/>
                    <a:lstStyle/>
                    <a:p>
                      <a:pPr marL="17780" marR="70485" algn="ctr">
                        <a:lnSpc>
                          <a:spcPct val="107000"/>
                        </a:lnSpc>
                        <a:spcAft>
                          <a:spcPts val="0"/>
                        </a:spcAft>
                      </a:pP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gridSpan="2">
                  <a:txBody>
                    <a:bodyPr/>
                    <a:lstStyle/>
                    <a:p>
                      <a:pPr marL="17780" marR="70485" algn="ctr">
                        <a:lnSpc>
                          <a:spcPct val="107000"/>
                        </a:lnSpc>
                        <a:spcAft>
                          <a:spcPts val="0"/>
                        </a:spcAft>
                      </a:pPr>
                      <a:r>
                        <a:rPr lang="en-US" sz="1600" dirty="0">
                          <a:effectLst/>
                          <a:latin typeface="Comic Sans MS" panose="030F0702030302020204" pitchFamily="66" charset="0"/>
                        </a:rPr>
                        <a:t>0,0063</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hMerge="1">
                  <a:txBody>
                    <a:bodyPr/>
                    <a:lstStyle/>
                    <a:p>
                      <a:pPr marL="17780" marR="70485" algn="ctr">
                        <a:lnSpc>
                          <a:spcPct val="107000"/>
                        </a:lnSpc>
                        <a:spcAft>
                          <a:spcPts val="0"/>
                        </a:spcAft>
                      </a:pP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marL="16510" marR="21590" algn="ctr">
                        <a:lnSpc>
                          <a:spcPct val="107000"/>
                        </a:lnSpc>
                        <a:spcAft>
                          <a:spcPts val="800"/>
                        </a:spcAft>
                      </a:pPr>
                      <a:r>
                        <a:rPr lang="en-US" sz="1600" dirty="0">
                          <a:effectLst/>
                          <a:latin typeface="Comic Sans MS" panose="030F0702030302020204" pitchFamily="66" charset="0"/>
                        </a:rPr>
                        <a:t>42,3</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id-ID" dirty="0"/>
                    </a:p>
                  </a:txBody>
                  <a:tcPr/>
                </a:tc>
              </a:tr>
              <a:tr h="992759">
                <a:tc>
                  <a:txBody>
                    <a:bodyPr/>
                    <a:lstStyle/>
                    <a:p>
                      <a:pPr marL="17780" marR="70485">
                        <a:lnSpc>
                          <a:spcPct val="107000"/>
                        </a:lnSpc>
                        <a:spcAft>
                          <a:spcPts val="0"/>
                        </a:spcAft>
                      </a:pPr>
                      <a:r>
                        <a:rPr lang="en-US" sz="1600" dirty="0">
                          <a:effectLst/>
                          <a:latin typeface="Comic Sans MS" panose="030F0702030302020204" pitchFamily="66" charset="0"/>
                        </a:rPr>
                        <a:t>IEC </a:t>
                      </a:r>
                      <a:r>
                        <a:rPr lang="en-US" sz="1600" dirty="0" smtClean="0">
                          <a:effectLst/>
                          <a:latin typeface="Comic Sans MS" panose="030F0702030302020204" pitchFamily="66" charset="0"/>
                        </a:rPr>
                        <a:t>60422</a:t>
                      </a:r>
                      <a:r>
                        <a:rPr lang="id-ID" sz="1600" dirty="0" smtClean="0">
                          <a:effectLst/>
                          <a:latin typeface="Comic Sans MS" panose="030F0702030302020204" pitchFamily="66" charset="0"/>
                        </a:rPr>
                        <a:t> </a:t>
                      </a:r>
                      <a:r>
                        <a:rPr lang="en-US" sz="1600" dirty="0" err="1" smtClean="0">
                          <a:effectLst/>
                          <a:latin typeface="Comic Sans MS" panose="030F0702030302020204" pitchFamily="66" charset="0"/>
                        </a:rPr>
                        <a:t>Std</a:t>
                      </a:r>
                      <a:r>
                        <a:rPr lang="en-US" sz="1600" dirty="0" smtClean="0">
                          <a:effectLst/>
                          <a:latin typeface="Comic Sans MS" panose="030F0702030302020204" pitchFamily="66" charset="0"/>
                        </a:rPr>
                        <a:t> </a:t>
                      </a:r>
                      <a:r>
                        <a:rPr lang="en-US" sz="1600" dirty="0">
                          <a:effectLst/>
                          <a:latin typeface="Comic Sans MS" panose="030F0702030302020204" pitchFamily="66" charset="0"/>
                        </a:rPr>
                        <a:t>Specification</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marL="17780" marR="70485" algn="ctr">
                        <a:lnSpc>
                          <a:spcPct val="107000"/>
                        </a:lnSpc>
                        <a:spcAft>
                          <a:spcPts val="0"/>
                        </a:spcAft>
                      </a:pPr>
                      <a:r>
                        <a:rPr lang="en-US" sz="1600">
                          <a:effectLst/>
                          <a:latin typeface="Comic Sans MS" panose="030F0702030302020204" pitchFamily="66" charset="0"/>
                        </a:rPr>
                        <a:t>0,03</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marL="17780" marR="70485" algn="ctr">
                        <a:lnSpc>
                          <a:spcPct val="107000"/>
                        </a:lnSpc>
                        <a:spcAft>
                          <a:spcPts val="0"/>
                        </a:spcAft>
                      </a:pPr>
                      <a:r>
                        <a:rPr lang="en-US" sz="1600">
                          <a:effectLst/>
                          <a:latin typeface="Comic Sans MS" panose="030F0702030302020204" pitchFamily="66" charset="0"/>
                        </a:rPr>
                        <a:t>2,0</a:t>
                      </a:r>
                      <a:endParaRPr lang="id-ID" sz="160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gridSpan="3">
                  <a:txBody>
                    <a:bodyPr/>
                    <a:lstStyle/>
                    <a:p>
                      <a:pPr marL="17780" marR="70485" algn="ctr">
                        <a:lnSpc>
                          <a:spcPct val="107000"/>
                        </a:lnSpc>
                        <a:spcAft>
                          <a:spcPts val="0"/>
                        </a:spcAft>
                      </a:pPr>
                      <a:r>
                        <a:rPr lang="en-US" sz="1600" dirty="0">
                          <a:effectLst/>
                          <a:latin typeface="Comic Sans MS" panose="030F0702030302020204" pitchFamily="66" charset="0"/>
                        </a:rPr>
                        <a:t>55-60</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hMerge="1">
                  <a:txBody>
                    <a:bodyPr/>
                    <a:lstStyle/>
                    <a:p>
                      <a:pPr marL="17780" marR="70485" algn="ctr">
                        <a:lnSpc>
                          <a:spcPct val="107000"/>
                        </a:lnSpc>
                        <a:spcAft>
                          <a:spcPts val="0"/>
                        </a:spcAft>
                      </a:pP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hMerge="1">
                  <a:txBody>
                    <a:bodyPr/>
                    <a:lstStyle/>
                    <a:p>
                      <a:pPr marL="17780" marR="70485" algn="ctr">
                        <a:lnSpc>
                          <a:spcPct val="107000"/>
                        </a:lnSpc>
                        <a:spcAft>
                          <a:spcPts val="0"/>
                        </a:spcAft>
                      </a:pP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gridSpan="2">
                  <a:txBody>
                    <a:bodyPr/>
                    <a:lstStyle/>
                    <a:p>
                      <a:pPr marL="17780" marR="70485" algn="ctr">
                        <a:lnSpc>
                          <a:spcPct val="107000"/>
                        </a:lnSpc>
                        <a:spcAft>
                          <a:spcPts val="0"/>
                        </a:spcAft>
                      </a:pPr>
                      <a:r>
                        <a:rPr lang="en-US" sz="1600" dirty="0">
                          <a:effectLst/>
                          <a:latin typeface="Comic Sans MS" panose="030F0702030302020204" pitchFamily="66" charset="0"/>
                        </a:rPr>
                        <a:t>0,010-0,015</a:t>
                      </a: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hMerge="1">
                  <a:txBody>
                    <a:bodyPr/>
                    <a:lstStyle/>
                    <a:p>
                      <a:pPr marL="17780" marR="70485" algn="ctr">
                        <a:lnSpc>
                          <a:spcPct val="107000"/>
                        </a:lnSpc>
                        <a:spcAft>
                          <a:spcPts val="0"/>
                        </a:spcAft>
                      </a:pPr>
                      <a:endParaRPr lang="id-ID" sz="1600" dirty="0">
                        <a:effectLst/>
                        <a:latin typeface="Comic Sans MS" panose="030F0702030302020204" pitchFamily="66" charset="0"/>
                        <a:ea typeface="Calibri" panose="020F0502020204030204" pitchFamily="34" charset="0"/>
                        <a:cs typeface="Times New Roman" panose="02020603050405020304" pitchFamily="18" charset="0"/>
                      </a:endParaRPr>
                    </a:p>
                  </a:txBody>
                  <a:tcPr marL="68580" marR="68580" marT="0" marB="0" anchor="ctr"/>
                </a:tc>
                <a:tc>
                  <a:txBody>
                    <a:bodyPr/>
                    <a:lstStyle/>
                    <a:p>
                      <a:pPr marL="16510" marR="21590" algn="ctr">
                        <a:lnSpc>
                          <a:spcPct val="107000"/>
                        </a:lnSpc>
                        <a:spcAft>
                          <a:spcPts val="800"/>
                        </a:spcAft>
                      </a:pPr>
                      <a:r>
                        <a:rPr lang="en-US" sz="1600" dirty="0">
                          <a:effectLst/>
                          <a:latin typeface="Comic Sans MS" panose="030F0702030302020204" pitchFamily="66" charset="0"/>
                        </a:rPr>
                        <a:t>35</a:t>
                      </a:r>
                      <a:endParaRPr lang="id-ID" sz="1600" dirty="0">
                        <a:effectLst/>
                        <a:latin typeface="Comic Sans MS" panose="030F0702030302020204" pitchFamily="66" charset="0"/>
                      </a:endParaRPr>
                    </a:p>
                    <a:p>
                      <a:pPr algn="ctr">
                        <a:lnSpc>
                          <a:spcPct val="107000"/>
                        </a:lnSpc>
                      </a:pPr>
                      <a:r>
                        <a:rPr lang="id-ID" sz="1600" dirty="0">
                          <a:effectLst/>
                          <a:latin typeface="Comic Sans MS" panose="030F0702030302020204" pitchFamily="66" charset="0"/>
                        </a:rPr>
                        <a:t>   </a:t>
                      </a:r>
                      <a:endParaRPr lang="id-ID" sz="1600" dirty="0">
                        <a:effectLst/>
                        <a:latin typeface="Comic Sans MS" panose="030F0702030302020204" pitchFamily="66" charset="0"/>
                        <a:cs typeface="Times New Roman" panose="02020603050405020304" pitchFamily="18" charset="0"/>
                      </a:endParaRPr>
                    </a:p>
                  </a:txBody>
                  <a:tcPr marL="68580" marR="68580" marT="0" marB="0" anchor="ctr"/>
                </a:tc>
                <a:tc>
                  <a:txBody>
                    <a:bodyPr/>
                    <a:lstStyle/>
                    <a:p>
                      <a:pPr marR="70485">
                        <a:lnSpc>
                          <a:spcPct val="107000"/>
                        </a:lnSpc>
                        <a:spcAft>
                          <a:spcPts val="800"/>
                        </a:spcAft>
                      </a:pPr>
                      <a:r>
                        <a:rPr lang="id-ID" sz="1100" dirty="0">
                          <a:effectLst/>
                        </a:rPr>
                        <a:t> </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spTree>
    <p:extLst>
      <p:ext uri="{BB962C8B-B14F-4D97-AF65-F5344CB8AC3E}">
        <p14:creationId xmlns:p14="http://schemas.microsoft.com/office/powerpoint/2010/main" val="41016306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dirty="0" smtClean="0">
                <a:latin typeface="Comic Sans MS" panose="030F0702030302020204" pitchFamily="66" charset="0"/>
              </a:rPr>
              <a:t>Advantages of Transformer Oil Regeneration </a:t>
            </a:r>
            <a:endParaRPr lang="id-ID" sz="3600" dirty="0">
              <a:latin typeface="Comic Sans MS" panose="030F0702030302020204" pitchFamily="66" charset="0"/>
            </a:endParaRPr>
          </a:p>
        </p:txBody>
      </p:sp>
      <p:sp>
        <p:nvSpPr>
          <p:cNvPr id="3" name="Content Placeholder 2"/>
          <p:cNvSpPr>
            <a:spLocks noGrp="1"/>
          </p:cNvSpPr>
          <p:nvPr>
            <p:ph idx="1"/>
          </p:nvPr>
        </p:nvSpPr>
        <p:spPr/>
        <p:txBody>
          <a:bodyPr>
            <a:normAutofit fontScale="85000" lnSpcReduction="20000"/>
          </a:bodyPr>
          <a:lstStyle/>
          <a:p>
            <a:pPr algn="just"/>
            <a:r>
              <a:rPr lang="en-US" dirty="0">
                <a:latin typeface="Comic Sans MS" panose="030F0702030302020204" pitchFamily="66" charset="0"/>
              </a:rPr>
              <a:t>Regeneration has several attractive features as compared to oil replacement. Although safety regulations require to de-</a:t>
            </a:r>
            <a:r>
              <a:rPr lang="en-GB" dirty="0">
                <a:latin typeface="Comic Sans MS" panose="030F0702030302020204" pitchFamily="66" charset="0"/>
              </a:rPr>
              <a:t>energise</a:t>
            </a:r>
            <a:r>
              <a:rPr lang="en-US" dirty="0">
                <a:latin typeface="Comic Sans MS" panose="030F0702030302020204" pitchFamily="66" charset="0"/>
              </a:rPr>
              <a:t> transformer while oil regeneration plant is being connected and disconnected, it is recommended to carry out regeneration on energized transformer. This means disruption in power supply to customers is minimal. </a:t>
            </a:r>
            <a:endParaRPr lang="id-ID" dirty="0">
              <a:latin typeface="Comic Sans MS" panose="030F0702030302020204" pitchFamily="66" charset="0"/>
            </a:endParaRPr>
          </a:p>
          <a:p>
            <a:pPr algn="just"/>
            <a:r>
              <a:rPr lang="en-US" dirty="0">
                <a:latin typeface="Comic Sans MS" panose="030F0702030302020204" pitchFamily="66" charset="0"/>
              </a:rPr>
              <a:t>From a technical point of view, recirculation of oil within a transformer removes traces of old oil from paper insulation, In the case of oil replacement, there will be a significant trace of the old oil in the solid insulation that will contaminate the new oil. Transformer’s paper insulation acts just like the paper in a car’s oil filter – it filters oil decay products out of the oil and holds them. These products will dissolve in a new oil shortly after oil replacement. Oil Regeneration Plant will remove products of oil and paper degradations extracted from cellulose insulation during treatment</a:t>
            </a:r>
            <a:endParaRPr lang="id-ID" dirty="0">
              <a:latin typeface="Comic Sans MS" panose="030F0702030302020204" pitchFamily="66" charset="0"/>
            </a:endParaRPr>
          </a:p>
        </p:txBody>
      </p:sp>
    </p:spTree>
    <p:extLst>
      <p:ext uri="{BB962C8B-B14F-4D97-AF65-F5344CB8AC3E}">
        <p14:creationId xmlns:p14="http://schemas.microsoft.com/office/powerpoint/2010/main" val="1843423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dirty="0" smtClean="0">
                <a:latin typeface="Comic Sans MS" panose="030F0702030302020204" pitchFamily="66" charset="0"/>
              </a:rPr>
              <a:t>Advantages of Transformer Oil Regeneration </a:t>
            </a:r>
            <a:endParaRPr lang="id-ID" sz="3600" dirty="0">
              <a:latin typeface="Comic Sans MS" panose="030F0702030302020204" pitchFamily="66" charset="0"/>
            </a:endParaRPr>
          </a:p>
        </p:txBody>
      </p:sp>
      <p:sp>
        <p:nvSpPr>
          <p:cNvPr id="3" name="Content Placeholder 2"/>
          <p:cNvSpPr>
            <a:spLocks noGrp="1"/>
          </p:cNvSpPr>
          <p:nvPr>
            <p:ph idx="1"/>
          </p:nvPr>
        </p:nvSpPr>
        <p:spPr/>
        <p:txBody>
          <a:bodyPr>
            <a:normAutofit fontScale="92500" lnSpcReduction="20000"/>
          </a:bodyPr>
          <a:lstStyle/>
          <a:p>
            <a:pPr algn="just"/>
            <a:r>
              <a:rPr lang="en-US" dirty="0" smtClean="0">
                <a:latin typeface="Comic Sans MS" panose="030F0702030302020204" pitchFamily="66" charset="0"/>
              </a:rPr>
              <a:t>Regeneration restores the oil’s properties to close to those of new oil.</a:t>
            </a:r>
          </a:p>
          <a:p>
            <a:pPr algn="just"/>
            <a:r>
              <a:rPr lang="en-US" dirty="0" smtClean="0">
                <a:latin typeface="Comic Sans MS" panose="030F0702030302020204" pitchFamily="66" charset="0"/>
              </a:rPr>
              <a:t>The oxidation stability of the regenerated oil is good when the treatment is combined with inhibitor injection.</a:t>
            </a:r>
          </a:p>
          <a:p>
            <a:pPr algn="just"/>
            <a:r>
              <a:rPr lang="en-US" dirty="0" smtClean="0">
                <a:latin typeface="Comic Sans MS" panose="030F0702030302020204" pitchFamily="66" charset="0"/>
              </a:rPr>
              <a:t>The changes in properties after treatment (due to recontamination from degraded products in the solid insulation) are small.</a:t>
            </a:r>
          </a:p>
          <a:p>
            <a:pPr algn="just"/>
            <a:r>
              <a:rPr lang="en-US" dirty="0" smtClean="0">
                <a:latin typeface="Comic Sans MS" panose="030F0702030302020204" pitchFamily="66" charset="0"/>
              </a:rPr>
              <a:t>From an environmental point of view, the advantages compared to oil exchange or traditional regeneration technologies are indisputable. The most important reasons are that oil is not a renewable resource and the new technology causes much less waste of oil and sorbent than traditional methods.</a:t>
            </a:r>
          </a:p>
          <a:p>
            <a:pPr algn="just"/>
            <a:r>
              <a:rPr lang="en-US" dirty="0" smtClean="0">
                <a:latin typeface="Comic Sans MS" panose="030F0702030302020204" pitchFamily="66" charset="0"/>
              </a:rPr>
              <a:t>Thousands of transformers successfully treated worldwide.</a:t>
            </a:r>
            <a:r>
              <a:rPr lang="en-US" dirty="0" smtClean="0"/>
              <a:t> </a:t>
            </a:r>
            <a:endParaRPr lang="id-ID" dirty="0"/>
          </a:p>
        </p:txBody>
      </p:sp>
    </p:spTree>
    <p:extLst>
      <p:ext uri="{BB962C8B-B14F-4D97-AF65-F5344CB8AC3E}">
        <p14:creationId xmlns:p14="http://schemas.microsoft.com/office/powerpoint/2010/main" val="20111008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id-ID" sz="3600" dirty="0" smtClean="0">
                <a:latin typeface="Comic Sans MS" panose="030F0702030302020204" pitchFamily="66" charset="0"/>
              </a:rPr>
              <a:t>Bagaimana proses regenerasi bisa mengilangkan segala macam kotoran ?</a:t>
            </a:r>
            <a:endParaRPr lang="id-ID" sz="3600" dirty="0">
              <a:latin typeface="Comic Sans MS" panose="030F0702030302020204" pitchFamily="66" charset="0"/>
            </a:endParaRPr>
          </a:p>
        </p:txBody>
      </p:sp>
      <p:pic>
        <p:nvPicPr>
          <p:cNvPr id="4" name="Content Placeholder 3"/>
          <p:cNvPicPr>
            <a:picLocks noGrp="1" noChangeAspect="1"/>
          </p:cNvPicPr>
          <p:nvPr>
            <p:ph idx="1"/>
          </p:nvPr>
        </p:nvPicPr>
        <p:blipFill>
          <a:blip r:embed="rId2"/>
          <a:stretch>
            <a:fillRect/>
          </a:stretch>
        </p:blipFill>
        <p:spPr>
          <a:xfrm>
            <a:off x="2157047" y="1690688"/>
            <a:ext cx="7877906" cy="4972049"/>
          </a:xfrm>
          <a:prstGeom prst="rect">
            <a:avLst/>
          </a:prstGeom>
        </p:spPr>
      </p:pic>
    </p:spTree>
    <p:extLst>
      <p:ext uri="{BB962C8B-B14F-4D97-AF65-F5344CB8AC3E}">
        <p14:creationId xmlns:p14="http://schemas.microsoft.com/office/powerpoint/2010/main" val="1005627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id-ID" sz="3600" dirty="0" smtClean="0">
                <a:latin typeface="Comic Sans MS" panose="030F0702030302020204" pitchFamily="66" charset="0"/>
              </a:rPr>
              <a:t>Bagaimana proses regenerasi bisa mengilangkan segala macam kotoran ?</a:t>
            </a:r>
            <a:endParaRPr lang="id-ID" sz="3600" dirty="0">
              <a:latin typeface="Comic Sans MS" panose="030F0702030302020204" pitchFamily="66" charset="0"/>
            </a:endParaRPr>
          </a:p>
        </p:txBody>
      </p:sp>
      <p:sp>
        <p:nvSpPr>
          <p:cNvPr id="3" name="Content Placeholder 2"/>
          <p:cNvSpPr>
            <a:spLocks noGrp="1"/>
          </p:cNvSpPr>
          <p:nvPr>
            <p:ph idx="1"/>
          </p:nvPr>
        </p:nvSpPr>
        <p:spPr/>
        <p:txBody>
          <a:bodyPr>
            <a:normAutofit fontScale="92500" lnSpcReduction="20000"/>
          </a:bodyPr>
          <a:lstStyle/>
          <a:p>
            <a:pPr algn="just"/>
            <a:r>
              <a:rPr lang="id-ID" dirty="0" smtClean="0">
                <a:latin typeface="Comic Sans MS" panose="030F0702030302020204" pitchFamily="66" charset="0"/>
              </a:rPr>
              <a:t>Minyak trafo dialirkan kedalam unit regenerasi untuk dipanaskan, setelah itu dibersihkan dari kotoran2 yang cukup “besar”. Kemudian dimasukkan kedalam fuller earth untuk diambil “bahan2 kimia”, setelah disaring dengan memakai saringan yang lebih halus baru masuk kedalam “vaccuum chamber” untuk diuapkan, diambil moisture dan gas2 yang tak tersaring dalam fuller earth. Terakhir masuk lagi ketransformator, minyak yang masuk kedalam transformator lagi masih dalam kondisi </a:t>
            </a:r>
            <a:r>
              <a:rPr lang="id-ID" dirty="0" smtClean="0">
                <a:latin typeface="Comic Sans MS" panose="030F0702030302020204" pitchFamily="66" charset="0"/>
              </a:rPr>
              <a:t>panas. </a:t>
            </a:r>
            <a:r>
              <a:rPr lang="id-ID" dirty="0" smtClean="0">
                <a:latin typeface="Comic Sans MS" panose="030F0702030302020204" pitchFamily="66" charset="0"/>
              </a:rPr>
              <a:t>Inilah proses singkat unit regenerasi secara umum.</a:t>
            </a:r>
          </a:p>
          <a:p>
            <a:pPr algn="just"/>
            <a:r>
              <a:rPr lang="id-ID" dirty="0" smtClean="0">
                <a:latin typeface="Comic Sans MS" panose="030F0702030302020204" pitchFamily="66" charset="0"/>
              </a:rPr>
              <a:t>Pemanas dipergunakan selain untuk mencairkan sludge yang terdapat dalam minyak, juga untuk mencairkan sludge yang menempel didinding atau diisolasi transformator. Agar sludge tersebut bisa ikut aliran minyak </a:t>
            </a:r>
            <a:r>
              <a:rPr lang="id-ID" dirty="0" smtClean="0">
                <a:latin typeface="Comic Sans MS" panose="030F0702030302020204" pitchFamily="66" charset="0"/>
              </a:rPr>
              <a:t>masu</a:t>
            </a:r>
            <a:r>
              <a:rPr lang="en-US" smtClean="0">
                <a:latin typeface="Comic Sans MS" panose="030F0702030302020204" pitchFamily="66" charset="0"/>
              </a:rPr>
              <a:t>k</a:t>
            </a:r>
            <a:r>
              <a:rPr lang="id-ID" smtClean="0">
                <a:latin typeface="Comic Sans MS" panose="030F0702030302020204" pitchFamily="66" charset="0"/>
              </a:rPr>
              <a:t> </a:t>
            </a:r>
            <a:r>
              <a:rPr lang="id-ID" dirty="0" smtClean="0">
                <a:latin typeface="Comic Sans MS" panose="030F0702030302020204" pitchFamily="66" charset="0"/>
              </a:rPr>
              <a:t>ke Unit regenerasi untuk “dibuang”</a:t>
            </a:r>
          </a:p>
          <a:p>
            <a:endParaRPr lang="id-ID" dirty="0"/>
          </a:p>
        </p:txBody>
      </p:sp>
    </p:spTree>
    <p:extLst>
      <p:ext uri="{BB962C8B-B14F-4D97-AF65-F5344CB8AC3E}">
        <p14:creationId xmlns:p14="http://schemas.microsoft.com/office/powerpoint/2010/main" val="3128794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sv-SE" sz="3600" dirty="0" smtClean="0">
                <a:latin typeface="Comic Sans MS" panose="030F0702030302020204" pitchFamily="66" charset="0"/>
              </a:rPr>
              <a:t>Aturan2 yang mungkin bisa dipakai :</a:t>
            </a:r>
            <a:endParaRPr lang="id-ID" sz="3600" dirty="0">
              <a:latin typeface="Comic Sans MS" panose="030F0702030302020204" pitchFamily="66" charset="0"/>
            </a:endParaRPr>
          </a:p>
        </p:txBody>
      </p:sp>
      <p:sp>
        <p:nvSpPr>
          <p:cNvPr id="3" name="Content Placeholder 2"/>
          <p:cNvSpPr>
            <a:spLocks noGrp="1"/>
          </p:cNvSpPr>
          <p:nvPr>
            <p:ph idx="1"/>
          </p:nvPr>
        </p:nvSpPr>
        <p:spPr/>
        <p:txBody>
          <a:bodyPr>
            <a:normAutofit fontScale="92500" lnSpcReduction="10000"/>
          </a:bodyPr>
          <a:lstStyle/>
          <a:p>
            <a:pPr algn="just"/>
            <a:r>
              <a:rPr lang="en-US" dirty="0" smtClean="0"/>
              <a:t>http://ieeexplore.ieee.org/xpl/articleDetails.jsp?tp=&amp;arnumber=414142</a:t>
            </a:r>
          </a:p>
          <a:p>
            <a:pPr algn="just"/>
            <a:r>
              <a:rPr lang="en-US" dirty="0" smtClean="0"/>
              <a:t>Transformer life extension by in-situ oil reclamation</a:t>
            </a:r>
          </a:p>
          <a:p>
            <a:pPr algn="just"/>
            <a:r>
              <a:rPr lang="en-US" dirty="0" smtClean="0"/>
              <a:t>National Grid Company's experience (UK) confirms that power transformers can be de-</a:t>
            </a:r>
            <a:r>
              <a:rPr lang="en-US" dirty="0" err="1" smtClean="0"/>
              <a:t>sludged</a:t>
            </a:r>
            <a:r>
              <a:rPr lang="en-US" dirty="0" smtClean="0"/>
              <a:t> while </a:t>
            </a:r>
            <a:r>
              <a:rPr lang="en-US" dirty="0" err="1" smtClean="0"/>
              <a:t>energised</a:t>
            </a:r>
            <a:r>
              <a:rPr lang="en-US" dirty="0" smtClean="0"/>
              <a:t>. This process can extend the life of transformers by providing higher quality processed oil to the transformer, assisting preservation of solid insulating materials within the transformer. The process has proved to be economic by ensuring minimal outage times together with </a:t>
            </a:r>
            <a:r>
              <a:rPr lang="en-US" dirty="0" err="1" smtClean="0"/>
              <a:t>maximising</a:t>
            </a:r>
            <a:r>
              <a:rPr lang="en-US" dirty="0" smtClean="0"/>
              <a:t> transformer integrity and performance. It is an environmentally acceptable process as the used clay is regenerated on site. The oil is processed in a totally enclosed manner, thus eliminating risk of oil spillage and exposing core and winding to atmosphere.</a:t>
            </a:r>
          </a:p>
          <a:p>
            <a:endParaRPr lang="id-ID" dirty="0"/>
          </a:p>
        </p:txBody>
      </p:sp>
    </p:spTree>
    <p:extLst>
      <p:ext uri="{BB962C8B-B14F-4D97-AF65-F5344CB8AC3E}">
        <p14:creationId xmlns:p14="http://schemas.microsoft.com/office/powerpoint/2010/main" val="629397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sv-SE" sz="3600" dirty="0" smtClean="0">
                <a:latin typeface="Comic Sans MS" panose="030F0702030302020204" pitchFamily="66" charset="0"/>
              </a:rPr>
              <a:t>Aturan2 yang mungkin bisa dipakai :</a:t>
            </a:r>
            <a:endParaRPr lang="id-ID" sz="3600" dirty="0">
              <a:latin typeface="Comic Sans MS" panose="030F0702030302020204" pitchFamily="66" charset="0"/>
            </a:endParaRPr>
          </a:p>
        </p:txBody>
      </p:sp>
      <p:sp>
        <p:nvSpPr>
          <p:cNvPr id="3" name="Content Placeholder 2"/>
          <p:cNvSpPr>
            <a:spLocks noGrp="1"/>
          </p:cNvSpPr>
          <p:nvPr>
            <p:ph idx="1"/>
          </p:nvPr>
        </p:nvSpPr>
        <p:spPr/>
        <p:txBody>
          <a:bodyPr>
            <a:normAutofit fontScale="92500" lnSpcReduction="20000"/>
          </a:bodyPr>
          <a:lstStyle/>
          <a:p>
            <a:pPr algn="just"/>
            <a:r>
              <a:rPr lang="en-US" dirty="0" smtClean="0">
                <a:latin typeface="Comic Sans MS" panose="030F0702030302020204" pitchFamily="66" charset="0"/>
              </a:rPr>
              <a:t>http://ieeexplore.ieee.org/xpl/articleDetails.jsp?tp=&amp;arnumber=29075</a:t>
            </a:r>
          </a:p>
          <a:p>
            <a:pPr algn="just"/>
            <a:r>
              <a:rPr lang="en-US" dirty="0" smtClean="0">
                <a:latin typeface="Comic Sans MS" panose="030F0702030302020204" pitchFamily="66" charset="0"/>
              </a:rPr>
              <a:t>637-1985  -  IEEE Guide For the Reclamation of Insulating Oil and Criteria for Its Use </a:t>
            </a:r>
          </a:p>
          <a:p>
            <a:pPr algn="just"/>
            <a:r>
              <a:rPr lang="en-US" dirty="0" smtClean="0">
                <a:latin typeface="Comic Sans MS" panose="030F0702030302020204" pitchFamily="66" charset="0"/>
              </a:rPr>
              <a:t>The scope of this guide covers: mineral insulating oil commonly defined as transformer oil; definition and description of reclaiming procedures; the test methods used to evaluate the progress and end point of the reclamation process; and what criteria recommended for the use of reclaimed oils are considered suitable. The greatest benefit derived from widespread reclamation may be in the substitution of suitably reclaimed oil for large quantities of new oil which are normally required in service for maintenance or make-up oil. This will free a considerable volume of new oil for use in new apparatus.&lt;&gt;</a:t>
            </a:r>
          </a:p>
          <a:p>
            <a:endParaRPr lang="id-ID" dirty="0"/>
          </a:p>
        </p:txBody>
      </p:sp>
    </p:spTree>
    <p:extLst>
      <p:ext uri="{BB962C8B-B14F-4D97-AF65-F5344CB8AC3E}">
        <p14:creationId xmlns:p14="http://schemas.microsoft.com/office/powerpoint/2010/main" val="12064665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id-ID" sz="3600" dirty="0" smtClean="0">
                <a:latin typeface="Comic Sans MS" panose="030F0702030302020204" pitchFamily="66" charset="0"/>
              </a:rPr>
              <a:t>Keunggulan dari proses ini antara lain :</a:t>
            </a:r>
            <a:endParaRPr lang="id-ID" sz="3600" dirty="0">
              <a:latin typeface="Comic Sans MS" panose="030F0702030302020204" pitchFamily="66" charset="0"/>
            </a:endParaRPr>
          </a:p>
        </p:txBody>
      </p:sp>
      <p:sp>
        <p:nvSpPr>
          <p:cNvPr id="3" name="Content Placeholder 2"/>
          <p:cNvSpPr>
            <a:spLocks noGrp="1"/>
          </p:cNvSpPr>
          <p:nvPr>
            <p:ph idx="1"/>
          </p:nvPr>
        </p:nvSpPr>
        <p:spPr>
          <a:xfrm>
            <a:off x="838200" y="1424354"/>
            <a:ext cx="10943492" cy="5205046"/>
          </a:xfrm>
        </p:spPr>
        <p:txBody>
          <a:bodyPr>
            <a:normAutofit fontScale="47500" lnSpcReduction="20000"/>
          </a:bodyPr>
          <a:lstStyle/>
          <a:p>
            <a:pPr marL="0" indent="0" algn="just">
              <a:buNone/>
            </a:pPr>
            <a:r>
              <a:rPr lang="en-US" sz="5100" dirty="0" smtClean="0">
                <a:latin typeface="Comic Sans MS" panose="030F0702030302020204" pitchFamily="66" charset="0"/>
              </a:rPr>
              <a:t>1.       </a:t>
            </a:r>
            <a:r>
              <a:rPr lang="id-ID" sz="5100" dirty="0" smtClean="0">
                <a:latin typeface="Comic Sans MS" panose="030F0702030302020204" pitchFamily="66" charset="0"/>
              </a:rPr>
              <a:t>Tidak mengganggu proses operasi</a:t>
            </a:r>
          </a:p>
          <a:p>
            <a:pPr marL="0" indent="0" algn="just">
              <a:buNone/>
            </a:pPr>
            <a:r>
              <a:rPr lang="id-ID" sz="5100" dirty="0" smtClean="0">
                <a:latin typeface="Comic Sans MS" panose="030F0702030302020204" pitchFamily="66" charset="0"/>
              </a:rPr>
              <a:t>2.	Tidak mengganggu lingkungan</a:t>
            </a:r>
          </a:p>
          <a:p>
            <a:pPr marL="514350" indent="-514350" algn="just">
              <a:buAutoNum type="arabicPeriod" startAt="3"/>
            </a:pPr>
            <a:r>
              <a:rPr lang="id-ID" sz="5100" dirty="0" smtClean="0">
                <a:latin typeface="Comic Sans MS" panose="030F0702030302020204" pitchFamily="66" charset="0"/>
              </a:rPr>
              <a:t>    Bisa membersihkan isolasi trafo</a:t>
            </a:r>
          </a:p>
          <a:p>
            <a:pPr marL="514350" indent="-514350" algn="just">
              <a:buFont typeface="Arial" panose="020B0604020202020204" pitchFamily="34" charset="0"/>
              <a:buAutoNum type="arabicPeriod" startAt="3"/>
            </a:pPr>
            <a:r>
              <a:rPr lang="id-ID" sz="5100" dirty="0" smtClean="0">
                <a:latin typeface="Comic Sans MS" panose="030F0702030302020204" pitchFamily="66" charset="0"/>
              </a:rPr>
              <a:t>    Bisa juga menghilangkan atau mengurangi moisture baik di minyak </a:t>
            </a:r>
          </a:p>
          <a:p>
            <a:pPr marL="0" indent="0" algn="just">
              <a:buNone/>
            </a:pPr>
            <a:r>
              <a:rPr lang="id-ID" sz="5100" dirty="0">
                <a:latin typeface="Comic Sans MS" panose="030F0702030302020204" pitchFamily="66" charset="0"/>
              </a:rPr>
              <a:t> </a:t>
            </a:r>
            <a:r>
              <a:rPr lang="id-ID" sz="5100" dirty="0" smtClean="0">
                <a:latin typeface="Comic Sans MS" panose="030F0702030302020204" pitchFamily="66" charset="0"/>
              </a:rPr>
              <a:t>         maupun isolasi</a:t>
            </a:r>
          </a:p>
          <a:p>
            <a:pPr marL="0" indent="0" algn="just">
              <a:buNone/>
            </a:pPr>
            <a:r>
              <a:rPr lang="id-ID" sz="5100" dirty="0" smtClean="0">
                <a:latin typeface="Comic Sans MS" panose="030F0702030302020204" pitchFamily="66" charset="0"/>
              </a:rPr>
              <a:t>5.	Bisa tetap bersih untuk waktu yang cukup lama</a:t>
            </a:r>
          </a:p>
          <a:p>
            <a:pPr marL="0" indent="0" algn="just">
              <a:buNone/>
            </a:pPr>
            <a:r>
              <a:rPr lang="id-ID" sz="5100" dirty="0" smtClean="0">
                <a:latin typeface="Comic Sans MS" panose="030F0702030302020204" pitchFamily="66" charset="0"/>
              </a:rPr>
              <a:t>6.	Kemungkinan juga akan menurunkan temperature trafo </a:t>
            </a:r>
          </a:p>
          <a:p>
            <a:pPr marL="914400" indent="-914400" algn="just">
              <a:buAutoNum type="arabicPeriod" startAt="7"/>
            </a:pPr>
            <a:r>
              <a:rPr lang="id-ID" sz="5100" dirty="0" smtClean="0">
                <a:latin typeface="Comic Sans MS" panose="030F0702030302020204" pitchFamily="66" charset="0"/>
              </a:rPr>
              <a:t>Kemungkinan juga akan membersihkan sludge yang membandel.</a:t>
            </a:r>
            <a:endParaRPr lang="en-US" sz="5100" dirty="0" smtClean="0">
              <a:latin typeface="Comic Sans MS" panose="030F0702030302020204" pitchFamily="66" charset="0"/>
            </a:endParaRPr>
          </a:p>
          <a:p>
            <a:pPr marL="914400" indent="-914400" algn="just">
              <a:buAutoNum type="arabicPeriod" startAt="7"/>
            </a:pPr>
            <a:endParaRPr lang="id-ID" sz="5100" dirty="0" smtClean="0">
              <a:latin typeface="Comic Sans MS" panose="030F0702030302020204" pitchFamily="66" charset="0"/>
            </a:endParaRPr>
          </a:p>
          <a:p>
            <a:pPr marL="0" indent="0" algn="just">
              <a:buNone/>
            </a:pPr>
            <a:r>
              <a:rPr lang="id-ID" sz="5100" dirty="0" smtClean="0">
                <a:latin typeface="Comic Sans MS" panose="030F0702030302020204" pitchFamily="66" charset="0"/>
              </a:rPr>
              <a:t>Untuk tambahan bisa juga dipakai untuk menambahkan anti oksidan (bagi minyak yang memang mengandung antioksidan sejak awalnya – inhibited oil-) dan menambahkan passivator yang bersifat menghambat corrosive sulfur.</a:t>
            </a:r>
          </a:p>
          <a:p>
            <a:pPr marL="0" indent="0" algn="just">
              <a:buNone/>
            </a:pPr>
            <a:endParaRPr lang="id-ID" sz="5100" dirty="0" smtClean="0">
              <a:latin typeface="Comic Sans MS" panose="030F0702030302020204" pitchFamily="66" charset="0"/>
            </a:endParaRPr>
          </a:p>
          <a:p>
            <a:pPr marL="0" indent="0" algn="just">
              <a:buNone/>
            </a:pPr>
            <a:r>
              <a:rPr lang="id-ID" sz="5900" b="1" i="1" dirty="0" smtClean="0">
                <a:solidFill>
                  <a:srgbClr val="00B050"/>
                </a:solidFill>
                <a:latin typeface="Comic Sans MS" panose="030F0702030302020204" pitchFamily="66" charset="0"/>
              </a:rPr>
              <a:t>Yang pada gilirannya umur trafo akan bertambah panjang.</a:t>
            </a:r>
          </a:p>
          <a:p>
            <a:endParaRPr lang="id-ID" dirty="0"/>
          </a:p>
        </p:txBody>
      </p:sp>
    </p:spTree>
    <p:extLst>
      <p:ext uri="{BB962C8B-B14F-4D97-AF65-F5344CB8AC3E}">
        <p14:creationId xmlns:p14="http://schemas.microsoft.com/office/powerpoint/2010/main" val="13157101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TotalTime>
  <Words>1733</Words>
  <Application>Microsoft Office PowerPoint</Application>
  <PresentationFormat>Widescreen</PresentationFormat>
  <Paragraphs>197</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Arial Black</vt:lpstr>
      <vt:lpstr>Calibri</vt:lpstr>
      <vt:lpstr>Calibri Light</vt:lpstr>
      <vt:lpstr>Comic Sans MS</vt:lpstr>
      <vt:lpstr>Times New Roman</vt:lpstr>
      <vt:lpstr>Office Theme</vt:lpstr>
      <vt:lpstr>     REGENERASI MEMBUAT MINYAK TRANSFORMER  TETAP BISA DIPAKAI</vt:lpstr>
      <vt:lpstr> keuntungan2 yang didapat</vt:lpstr>
      <vt:lpstr>Gangguan atau kerusakan pada isolasi kertas</vt:lpstr>
      <vt:lpstr> </vt:lpstr>
      <vt:lpstr> PROSES REGENERASI </vt:lpstr>
      <vt:lpstr>Bagaimana proses itu dilakukan ?</vt:lpstr>
      <vt:lpstr>Typical oil flow</vt:lpstr>
      <vt:lpstr>Bagaimana proses itu dilakukan ?</vt:lpstr>
      <vt:lpstr>Bagaimana proses itu dilakukan ?</vt:lpstr>
      <vt:lpstr>Bagaimana proses itu dilakukan ?</vt:lpstr>
      <vt:lpstr>Bagaimana pengamanan proses itu dilakukan ?</vt:lpstr>
      <vt:lpstr>Bagaimana proses itu dilakukan ?</vt:lpstr>
      <vt:lpstr>PowerPoint Presentation</vt:lpstr>
      <vt:lpstr>Hasil regenerasi bisa sebagai berikut :</vt:lpstr>
      <vt:lpstr>PowerPoint Presentation</vt:lpstr>
      <vt:lpstr>Summary of typical oil parameters before and after regeneration treatment on Globe Core transfomer oil regeneration plant </vt:lpstr>
      <vt:lpstr>Historiy of Transformer Oil Regeneration</vt:lpstr>
      <vt:lpstr>Advantages of Transformer Oil Regeneration </vt:lpstr>
      <vt:lpstr>Advantages of Transformer Oil Regeneration </vt:lpstr>
      <vt:lpstr>Advantages of Transformer Oil Regeneration </vt:lpstr>
      <vt:lpstr>Bagaimana proses regenerasi bisa mengilangkan segala macam kotoran ?</vt:lpstr>
      <vt:lpstr>Bagaimana proses regenerasi bisa mengilangkan segala macam kotoran ?</vt:lpstr>
      <vt:lpstr>Aturan2 yang mungkin bisa dipakai :</vt:lpstr>
      <vt:lpstr>Aturan2 yang mungkin bisa dipakai :</vt:lpstr>
      <vt:lpstr>Keunggulan dari proses ini antara lain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REGENERASI MEMBUAT MINYAK TRANSFORMER  TETAP BISA DIPAKAI</dc:title>
  <dc:creator>owner</dc:creator>
  <cp:lastModifiedBy>Owner</cp:lastModifiedBy>
  <cp:revision>48</cp:revision>
  <dcterms:created xsi:type="dcterms:W3CDTF">2015-04-09T00:13:46Z</dcterms:created>
  <dcterms:modified xsi:type="dcterms:W3CDTF">2016-05-19T06:54:50Z</dcterms:modified>
</cp:coreProperties>
</file>