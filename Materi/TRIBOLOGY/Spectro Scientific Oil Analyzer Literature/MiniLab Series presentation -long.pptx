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ti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7" r:id="rId2"/>
    <p:sldMasterId id="2147483685" r:id="rId3"/>
    <p:sldMasterId id="2147483710" r:id="rId4"/>
  </p:sldMasterIdLst>
  <p:notesMasterIdLst>
    <p:notesMasterId r:id="rId28"/>
  </p:notesMasterIdLst>
  <p:handoutMasterIdLst>
    <p:handoutMasterId r:id="rId29"/>
  </p:handoutMasterIdLst>
  <p:sldIdLst>
    <p:sldId id="269" r:id="rId5"/>
    <p:sldId id="587" r:id="rId6"/>
    <p:sldId id="597" r:id="rId7"/>
    <p:sldId id="589" r:id="rId8"/>
    <p:sldId id="600" r:id="rId9"/>
    <p:sldId id="517" r:id="rId10"/>
    <p:sldId id="604" r:id="rId11"/>
    <p:sldId id="605" r:id="rId12"/>
    <p:sldId id="606" r:id="rId13"/>
    <p:sldId id="598" r:id="rId14"/>
    <p:sldId id="599" r:id="rId15"/>
    <p:sldId id="579" r:id="rId16"/>
    <p:sldId id="523" r:id="rId17"/>
    <p:sldId id="538" r:id="rId18"/>
    <p:sldId id="383" r:id="rId19"/>
    <p:sldId id="515" r:id="rId20"/>
    <p:sldId id="607" r:id="rId21"/>
    <p:sldId id="608" r:id="rId22"/>
    <p:sldId id="609" r:id="rId23"/>
    <p:sldId id="610" r:id="rId24"/>
    <p:sldId id="611" r:id="rId25"/>
    <p:sldId id="603" r:id="rId26"/>
    <p:sldId id="602" r:id="rId27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465F167-60E8-4DAF-B3FD-1A936363BFCA}">
          <p14:sldIdLst>
            <p14:sldId id="269"/>
            <p14:sldId id="587"/>
            <p14:sldId id="597"/>
            <p14:sldId id="589"/>
            <p14:sldId id="600"/>
            <p14:sldId id="517"/>
            <p14:sldId id="604"/>
            <p14:sldId id="605"/>
            <p14:sldId id="606"/>
            <p14:sldId id="598"/>
            <p14:sldId id="599"/>
            <p14:sldId id="579"/>
            <p14:sldId id="523"/>
            <p14:sldId id="538"/>
            <p14:sldId id="383"/>
            <p14:sldId id="515"/>
            <p14:sldId id="607"/>
            <p14:sldId id="608"/>
            <p14:sldId id="609"/>
            <p14:sldId id="610"/>
            <p14:sldId id="611"/>
            <p14:sldId id="603"/>
            <p14:sldId id="602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1152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544" userDrawn="1">
          <p15:clr>
            <a:srgbClr val="A4A3A4"/>
          </p15:clr>
        </p15:guide>
        <p15:guide id="4" pos="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4722"/>
    <a:srgbClr val="61AA34"/>
    <a:srgbClr val="00517B"/>
    <a:srgbClr val="75BA22"/>
    <a:srgbClr val="BF4522"/>
    <a:srgbClr val="008085"/>
    <a:srgbClr val="5E5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39" autoAdjust="0"/>
    <p:restoredTop sz="98046" autoAdjust="0"/>
  </p:normalViewPr>
  <p:slideViewPr>
    <p:cSldViewPr snapToObjects="1" showGuides="1">
      <p:cViewPr>
        <p:scale>
          <a:sx n="60" d="100"/>
          <a:sy n="60" d="100"/>
        </p:scale>
        <p:origin x="522" y="-270"/>
      </p:cViewPr>
      <p:guideLst>
        <p:guide orient="horz" pos="1152"/>
        <p:guide pos="2880"/>
        <p:guide pos="5544"/>
        <p:guide pos="336"/>
      </p:guideLst>
    </p:cSldViewPr>
  </p:slideViewPr>
  <p:outlineViewPr>
    <p:cViewPr>
      <p:scale>
        <a:sx n="33" d="100"/>
        <a:sy n="33" d="100"/>
      </p:scale>
      <p:origin x="0" y="114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4" d="100"/>
        <a:sy n="74" d="100"/>
      </p:scale>
      <p:origin x="0" y="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5E03F84-25BB-49BF-A451-D864769BFFFE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BE6651E-F2FB-451C-8D51-227B4B303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25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77BB50C-9F73-4ED6-BDE1-502C60A6205E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093C411-C0A8-4243-B8A2-D7554528F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4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80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66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87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56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57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07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90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90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90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16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36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65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41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14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74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41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6A234-6BA1-45DE-8733-AB490B0C192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661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6A234-6BA1-45DE-8733-AB490B0C192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661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224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zh-CN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8466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66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3C411-C0A8-4243-B8A2-D7554528F4D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65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jpeg"/><Relationship Id="rId4" Type="http://schemas.openxmlformats.org/officeDocument/2006/relationships/image" Target="../media/image5.emf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895601"/>
            <a:ext cx="4724400" cy="685799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3657600"/>
            <a:ext cx="4724400" cy="381000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SUBHEAD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114800"/>
            <a:ext cx="4724400" cy="457200"/>
          </a:xfrm>
        </p:spPr>
        <p:txBody>
          <a:bodyPr/>
          <a:lstStyle>
            <a:lvl1pPr marL="0" indent="0">
              <a:buNone/>
              <a:defRPr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Date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5181600" y="1905000"/>
            <a:ext cx="3733800" cy="36576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A02F450-5466-4001-A26A-6556D71A41F0}" type="datetime1">
              <a:rPr lang="en-US" smtClean="0"/>
              <a:t>8/25/2016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3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D53C3EC-390B-4494-998A-2089F07CC04A}" type="datetime1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28600" y="609601"/>
            <a:ext cx="8686800" cy="5791199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89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832DD07-C7D1-4084-8517-80FD846845D4}" type="datetime1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28600" y="609601"/>
            <a:ext cx="4248151" cy="5638799"/>
          </a:xfrm>
          <a:prstGeom prst="rect">
            <a:avLst/>
          </a:prstGeom>
        </p:spPr>
        <p:txBody>
          <a:bodyPr lIns="182880" tIns="91440" rIns="182880" bIns="91440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8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5127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  <a:lvl4pPr marL="687388" indent="-174625">
              <a:spcBef>
                <a:spcPts val="600"/>
              </a:spcBef>
              <a:defRPr sz="1600">
                <a:solidFill>
                  <a:schemeClr val="tx1"/>
                </a:solidFill>
              </a:defRPr>
            </a:lvl4pPr>
            <a:lvl5pPr marL="8556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667249" y="609601"/>
            <a:ext cx="4248151" cy="5638799"/>
          </a:xfrm>
          <a:prstGeom prst="rect">
            <a:avLst/>
          </a:prstGeom>
        </p:spPr>
        <p:txBody>
          <a:bodyPr lIns="182880" tIns="91440" rIns="182880" bIns="91440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8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5127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  <a:lvl4pPr marL="687388" indent="-174625">
              <a:spcBef>
                <a:spcPts val="600"/>
              </a:spcBef>
              <a:defRPr sz="1600">
                <a:solidFill>
                  <a:schemeClr val="tx1"/>
                </a:solidFill>
              </a:defRPr>
            </a:lvl4pPr>
            <a:lvl5pPr marL="8556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00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lumn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E01755-83D4-4C61-8FA6-AA76F2005433}" type="datetime1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28600" y="609601"/>
            <a:ext cx="4248151" cy="5638799"/>
          </a:xfrm>
          <a:prstGeom prst="rect">
            <a:avLst/>
          </a:prstGeom>
        </p:spPr>
        <p:txBody>
          <a:bodyPr lIns="182880" tIns="91440" rIns="182880" bIns="91440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8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5127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  <a:lvl4pPr marL="687388" indent="-174625">
              <a:spcBef>
                <a:spcPts val="600"/>
              </a:spcBef>
              <a:defRPr sz="1600">
                <a:solidFill>
                  <a:schemeClr val="tx1"/>
                </a:solidFill>
              </a:defRPr>
            </a:lvl4pPr>
            <a:lvl5pPr marL="8556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648200" y="609601"/>
            <a:ext cx="4267200" cy="563879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0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&amp;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60E6F9A-6089-47F1-9675-CAAE7074DBF0}" type="datetime1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667249" y="609601"/>
            <a:ext cx="4248151" cy="5638799"/>
          </a:xfrm>
          <a:prstGeom prst="rect">
            <a:avLst/>
          </a:prstGeom>
        </p:spPr>
        <p:txBody>
          <a:bodyPr lIns="182880" tIns="91440" rIns="182880" bIns="91440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8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5127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  <a:lvl4pPr marL="687388" indent="-174625">
              <a:spcBef>
                <a:spcPts val="600"/>
              </a:spcBef>
              <a:defRPr sz="1600">
                <a:solidFill>
                  <a:schemeClr val="tx1"/>
                </a:solidFill>
              </a:defRPr>
            </a:lvl4pPr>
            <a:lvl5pPr marL="8556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228600" y="609601"/>
            <a:ext cx="4267200" cy="563879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4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Column 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CA2F145-05F7-4541-B3B0-64B6BA7A2CC8}" type="datetime1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985760"/>
            <a:ext cx="4267200" cy="4415040"/>
          </a:xfrm>
          <a:prstGeom prst="rect">
            <a:avLst/>
          </a:prstGeom>
        </p:spPr>
        <p:txBody>
          <a:bodyPr vert="horz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228600" y="1297680"/>
            <a:ext cx="42672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Body Copy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228600" y="609600"/>
            <a:ext cx="42672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 b="1" i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Header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4724400" y="1985760"/>
            <a:ext cx="4191000" cy="4415040"/>
          </a:xfrm>
          <a:prstGeom prst="rect">
            <a:avLst/>
          </a:prstGeom>
        </p:spPr>
        <p:txBody>
          <a:bodyPr vert="horz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7" hasCustomPrompt="1"/>
          </p:nvPr>
        </p:nvSpPr>
        <p:spPr>
          <a:xfrm>
            <a:off x="4724400" y="1297680"/>
            <a:ext cx="41910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Body Copy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 hasCustomPrompt="1"/>
          </p:nvPr>
        </p:nvSpPr>
        <p:spPr>
          <a:xfrm>
            <a:off x="4724400" y="609600"/>
            <a:ext cx="41910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 b="1" i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34861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lumn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BCCD93D-7697-411C-B943-4493F4BA7AE3}" type="datetime1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985760"/>
            <a:ext cx="4267200" cy="4415040"/>
          </a:xfrm>
          <a:prstGeom prst="rect">
            <a:avLst/>
          </a:prstGeom>
        </p:spPr>
        <p:txBody>
          <a:bodyPr vert="horz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228600" y="1297680"/>
            <a:ext cx="42672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Body Copy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228600" y="609600"/>
            <a:ext cx="42672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 b="1" i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Header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4800600" y="609600"/>
            <a:ext cx="4114800" cy="28194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4800600" y="3581400"/>
            <a:ext cx="4114800" cy="2819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5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803275" y="2860155"/>
            <a:ext cx="7724775" cy="542925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2800" b="1" i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5pPr>
          </a:lstStyle>
          <a:p>
            <a:pPr lvl="0"/>
            <a:r>
              <a:rPr lang="en-US" dirty="0" smtClean="0"/>
              <a:t>Divider page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-414704" y="648864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8805335" y="6515100"/>
            <a:ext cx="338666" cy="342900"/>
          </a:xfrm>
        </p:spPr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2"/>
          </p:nvPr>
        </p:nvSpPr>
        <p:spPr>
          <a:xfrm>
            <a:off x="114300" y="6515101"/>
            <a:ext cx="2057400" cy="342900"/>
          </a:xfrm>
        </p:spPr>
        <p:txBody>
          <a:bodyPr/>
          <a:lstStyle/>
          <a:p>
            <a:fld id="{D7D20C48-7B9C-490D-9EA3-4D17D3225D0F}" type="datetime1">
              <a:rPr lang="en-US" smtClean="0"/>
              <a:t>8/25/2016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1143000" y="6515100"/>
            <a:ext cx="6858000" cy="342900"/>
          </a:xfrm>
        </p:spPr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802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Picture Coll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852293" y="2293037"/>
            <a:ext cx="1209676" cy="10416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5161610" y="1457608"/>
            <a:ext cx="3639270" cy="187709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51932" y="3429000"/>
            <a:ext cx="1362075" cy="9667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551932" y="4486276"/>
            <a:ext cx="1362075" cy="202882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2010461" y="3419475"/>
            <a:ext cx="1745379" cy="30956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3852294" y="3429000"/>
            <a:ext cx="4948586" cy="30956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FF78A69-C8A1-4FB0-A9B8-CFA9A8FBAFD9}" type="datetime1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Picture Coll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882424" y="2166140"/>
            <a:ext cx="1029944" cy="87985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981788" y="1447800"/>
            <a:ext cx="3097942" cy="1598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1054747" y="3126288"/>
            <a:ext cx="1169226" cy="8231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054747" y="4026476"/>
            <a:ext cx="1169225" cy="172738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2310150" y="3126288"/>
            <a:ext cx="1486054" cy="262757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3882424" y="3126287"/>
            <a:ext cx="4197306" cy="262757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16E7F5-D19D-484B-8912-BEBA5B9934AF}" type="datetime1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10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A38508E-FDBF-4447-AF9F-1331FF5B9655}" type="datetime1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10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BE28CC-331D-4302-B59C-BD0056E7D8F1}" type="datetime1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65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Mark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638550" y="1752600"/>
            <a:ext cx="4953000" cy="4191000"/>
          </a:xfrm>
        </p:spPr>
        <p:txBody>
          <a:bodyPr/>
          <a:lstStyle>
            <a:lvl1pPr marL="285750" indent="-285750">
              <a:spcBef>
                <a:spcPts val="1200"/>
              </a:spcBef>
              <a:defRPr sz="1800"/>
            </a:lvl1pPr>
            <a:lvl2pPr marL="514350" indent="-228600">
              <a:spcBef>
                <a:spcPts val="1200"/>
              </a:spcBef>
              <a:defRPr sz="1600"/>
            </a:lvl2pPr>
            <a:lvl3pPr marL="685800" indent="-171450">
              <a:spcBef>
                <a:spcPts val="1200"/>
              </a:spcBef>
              <a:defRPr sz="1600"/>
            </a:lvl3pPr>
            <a:lvl4pPr marL="857250" indent="-171450">
              <a:spcBef>
                <a:spcPts val="1200"/>
              </a:spcBef>
              <a:defRPr sz="1600"/>
            </a:lvl4pPr>
            <a:lvl5pPr marL="1028700" indent="-171450">
              <a:spcBef>
                <a:spcPts val="1200"/>
              </a:spcBef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8" name="Picture 7" descr="Spectro_Logo_C_tag.ti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447800"/>
            <a:ext cx="2300940" cy="407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51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D35F0BA-AD84-45C7-A307-824915439D15}" type="datetime1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  <p:pic>
        <p:nvPicPr>
          <p:cNvPr id="6" name="Picture 5" descr="Spectro_Logo_C_tag.t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3094" y="2057400"/>
            <a:ext cx="7017812" cy="257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7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31973" y="95599"/>
            <a:ext cx="7724775" cy="542925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2500" b="1" i="0">
                <a:solidFill>
                  <a:srgbClr val="008085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5pPr>
          </a:lstStyle>
          <a:p>
            <a:pPr lvl="0"/>
            <a:r>
              <a:rPr lang="en-US" dirty="0" smtClean="0"/>
              <a:t>Divider page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515100"/>
            <a:ext cx="7634377" cy="3429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98241" y="6412242"/>
            <a:ext cx="571500" cy="457200"/>
          </a:xfrm>
          <a:prstGeom prst="rect">
            <a:avLst/>
          </a:prstGeom>
        </p:spPr>
      </p:pic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5334" y="6515100"/>
            <a:ext cx="1693333" cy="365125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bg1"/>
                </a:solidFill>
                <a:latin typeface="Univers 55"/>
                <a:cs typeface="Univers 55"/>
              </a:defRPr>
            </a:lvl1pPr>
          </a:lstStyle>
          <a:p>
            <a:pPr defTabSz="457200"/>
            <a:fld id="{11B48625-5C6B-794F-9261-D96E023D5BA9}" type="slidenum">
              <a:rPr lang="en-US" smtClean="0">
                <a:solidFill>
                  <a:prstClr val="white"/>
                </a:solidFill>
              </a:rPr>
              <a:pPr defTabSz="457200"/>
              <a:t>‹#›</a:t>
            </a:fld>
            <a:r>
              <a:rPr lang="en-US" dirty="0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03385" y="6532825"/>
            <a:ext cx="1063864" cy="295176"/>
          </a:xfrm>
          <a:prstGeom prst="rect">
            <a:avLst/>
          </a:prstGeom>
        </p:spPr>
      </p:pic>
      <p:sp>
        <p:nvSpPr>
          <p:cNvPr id="26" name="TextBox 25"/>
          <p:cNvSpPr txBox="1"/>
          <p:nvPr userDrawn="1"/>
        </p:nvSpPr>
        <p:spPr>
          <a:xfrm>
            <a:off x="-414704" y="648864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0800000">
            <a:off x="379562" y="655777"/>
            <a:ext cx="8229600" cy="17780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155943"/>
            <a:ext cx="3871913" cy="5046453"/>
          </a:xfrm>
          <a:prstGeom prst="rect">
            <a:avLst/>
          </a:prstGeom>
        </p:spPr>
        <p:txBody>
          <a:bodyPr vert="horz"/>
          <a:lstStyle>
            <a:lvl1pPr marL="285750" indent="-285750">
              <a:buClr>
                <a:srgbClr val="00517B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42950" indent="-285750">
              <a:buClr>
                <a:srgbClr val="00517B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4"/>
          </p:nvPr>
        </p:nvSpPr>
        <p:spPr>
          <a:xfrm>
            <a:off x="4737249" y="1155943"/>
            <a:ext cx="3871913" cy="5046453"/>
          </a:xfrm>
          <a:prstGeom prst="rect">
            <a:avLst/>
          </a:prstGeom>
        </p:spPr>
        <p:txBody>
          <a:bodyPr vert="horz"/>
          <a:lstStyle>
            <a:lvl1pPr marL="285750" indent="-285750">
              <a:buClr>
                <a:srgbClr val="00517B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42950" indent="-285750">
              <a:buClr>
                <a:srgbClr val="00517B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696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2928959"/>
            <a:ext cx="3871913" cy="3252765"/>
          </a:xfrm>
          <a:prstGeom prst="rect">
            <a:avLst/>
          </a:prstGeom>
        </p:spPr>
        <p:txBody>
          <a:bodyPr vert="horz"/>
          <a:lstStyle>
            <a:lvl1pPr marL="285750" indent="-285750">
              <a:buClr>
                <a:schemeClr val="accent1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42950" indent="-285750">
              <a:buClr>
                <a:schemeClr val="accent1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457200" y="2255040"/>
            <a:ext cx="3871913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Body Copy</a:t>
            </a:r>
          </a:p>
        </p:txBody>
      </p:sp>
      <p:sp>
        <p:nvSpPr>
          <p:cNvPr id="33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457200" y="1566960"/>
            <a:ext cx="3871913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 b="1" i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Header</a:t>
            </a:r>
          </a:p>
        </p:txBody>
      </p:sp>
      <p:sp>
        <p:nvSpPr>
          <p:cNvPr id="35" name="Content Placeholder 2"/>
          <p:cNvSpPr>
            <a:spLocks noGrp="1"/>
          </p:cNvSpPr>
          <p:nvPr>
            <p:ph sz="quarter" idx="10"/>
          </p:nvPr>
        </p:nvSpPr>
        <p:spPr>
          <a:xfrm>
            <a:off x="457200" y="372940"/>
            <a:ext cx="7724775" cy="542925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2500" b="1" i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15100"/>
            <a:ext cx="8805335" cy="342900"/>
          </a:xfrm>
          <a:prstGeom prst="rect">
            <a:avLst/>
          </a:prstGeom>
          <a:solidFill>
            <a:srgbClr val="75B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© 2014</a:t>
            </a:r>
            <a:r>
              <a:rPr lang="en-US" sz="900" baseline="0" dirty="0" smtClean="0">
                <a:solidFill>
                  <a:schemeClr val="bg1"/>
                </a:solidFill>
              </a:rPr>
              <a:t> Spectro Scientific    |    CONFIDENTIAL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8805335" y="6515100"/>
            <a:ext cx="338666" cy="3429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>
              <a:defRPr sz="1200" b="0" i="0">
                <a:solidFill>
                  <a:schemeClr val="bg1"/>
                </a:solidFill>
                <a:latin typeface="Univers 55"/>
                <a:cs typeface="Univers 55"/>
              </a:defRPr>
            </a:lvl1pPr>
          </a:lstStyle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66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65C26-EA16-490E-B4C7-B2B8B7AED0A8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0F99-A7FF-4C58-8D18-5FB80FC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06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 &amp; C 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006475"/>
          </a:xfrm>
          <a:prstGeom prst="rect">
            <a:avLst/>
          </a:prstGeom>
        </p:spPr>
        <p:txBody>
          <a:bodyPr anchor="ctr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28649" y="1515532"/>
            <a:ext cx="7886701" cy="4332113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685800" indent="-228600">
              <a:spcBef>
                <a:spcPts val="1200"/>
              </a:spcBef>
              <a:defRPr sz="1100">
                <a:solidFill>
                  <a:schemeClr val="bg1">
                    <a:lumMod val="50000"/>
                  </a:schemeClr>
                </a:solidFill>
              </a:defRPr>
            </a:lvl2pPr>
            <a:lvl3pPr marL="1084263" indent="-169863">
              <a:spcBef>
                <a:spcPts val="1200"/>
              </a:spcBef>
              <a:defRPr sz="1050">
                <a:solidFill>
                  <a:schemeClr val="bg1">
                    <a:lumMod val="50000"/>
                  </a:schemeClr>
                </a:solidFill>
              </a:defRPr>
            </a:lvl3pPr>
            <a:lvl4pPr marL="1600200" indent="-169863">
              <a:spcBef>
                <a:spcPts val="1200"/>
              </a:spcBef>
              <a:defRPr sz="1000">
                <a:solidFill>
                  <a:schemeClr val="bg1">
                    <a:lumMod val="50000"/>
                  </a:schemeClr>
                </a:solidFill>
              </a:defRPr>
            </a:lvl4pPr>
            <a:lvl5pPr marL="2057400" indent="-169863">
              <a:spcBef>
                <a:spcPts val="1200"/>
              </a:spcBef>
              <a:defRPr sz="10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6515100"/>
            <a:ext cx="8807570" cy="342900"/>
          </a:xfrm>
          <a:prstGeom prst="rect">
            <a:avLst/>
          </a:prstGeom>
          <a:solidFill>
            <a:srgbClr val="75B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prstClr val="white"/>
                </a:solidFill>
              </a:rPr>
              <a:t>© 2014 Spectro Scientific    |    CONFIDENTIAL</a:t>
            </a:r>
            <a:endParaRPr lang="en-US" sz="900" dirty="0">
              <a:solidFill>
                <a:prstClr val="white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3804" y="5960682"/>
            <a:ext cx="1590811" cy="441381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8805335" y="6515100"/>
            <a:ext cx="338666" cy="3429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>
              <a:defRPr sz="1200" b="0" i="0">
                <a:solidFill>
                  <a:schemeClr val="bg1"/>
                </a:solidFill>
                <a:latin typeface="Univers 55"/>
                <a:cs typeface="Univers 55"/>
              </a:defRPr>
            </a:lvl1pPr>
          </a:lstStyle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dirty="0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532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3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0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0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4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3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1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0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2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7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0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7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1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2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6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3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3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8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0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0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3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895601"/>
            <a:ext cx="4724400" cy="685799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3657600"/>
            <a:ext cx="4724400" cy="381000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SUBHEAD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114800"/>
            <a:ext cx="4724400" cy="457200"/>
          </a:xfrm>
        </p:spPr>
        <p:txBody>
          <a:bodyPr/>
          <a:lstStyle>
            <a:lvl1pPr marL="0" indent="0">
              <a:buNone/>
              <a:defRPr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Date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5181600" y="1905000"/>
            <a:ext cx="3733800" cy="36576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A02F450-5466-4001-A26A-6556D71A41F0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dirty="0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99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D53C3EC-390B-4494-998A-2089F07CC04A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28600" y="609601"/>
            <a:ext cx="8686800" cy="5791199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3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832DD07-C7D1-4084-8517-80FD846845D4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28600" y="609601"/>
            <a:ext cx="4248151" cy="5638799"/>
          </a:xfrm>
          <a:prstGeom prst="rect">
            <a:avLst/>
          </a:prstGeom>
        </p:spPr>
        <p:txBody>
          <a:bodyPr lIns="182880" tIns="91440" rIns="182880" bIns="91440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8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5127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  <a:lvl4pPr marL="687388" indent="-174625">
              <a:spcBef>
                <a:spcPts val="600"/>
              </a:spcBef>
              <a:defRPr sz="1600">
                <a:solidFill>
                  <a:schemeClr val="tx1"/>
                </a:solidFill>
              </a:defRPr>
            </a:lvl4pPr>
            <a:lvl5pPr marL="8556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667249" y="609601"/>
            <a:ext cx="4248151" cy="5638799"/>
          </a:xfrm>
          <a:prstGeom prst="rect">
            <a:avLst/>
          </a:prstGeom>
        </p:spPr>
        <p:txBody>
          <a:bodyPr lIns="182880" tIns="91440" rIns="182880" bIns="91440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8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5127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  <a:lvl4pPr marL="687388" indent="-174625">
              <a:spcBef>
                <a:spcPts val="600"/>
              </a:spcBef>
              <a:defRPr sz="1600">
                <a:solidFill>
                  <a:schemeClr val="tx1"/>
                </a:solidFill>
              </a:defRPr>
            </a:lvl4pPr>
            <a:lvl5pPr marL="8556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67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lumn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E01755-83D4-4C61-8FA6-AA76F2005433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28600" y="609601"/>
            <a:ext cx="4248151" cy="5638799"/>
          </a:xfrm>
          <a:prstGeom prst="rect">
            <a:avLst/>
          </a:prstGeom>
        </p:spPr>
        <p:txBody>
          <a:bodyPr lIns="182880" tIns="91440" rIns="182880" bIns="91440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8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5127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  <a:lvl4pPr marL="687388" indent="-174625">
              <a:spcBef>
                <a:spcPts val="600"/>
              </a:spcBef>
              <a:defRPr sz="1600">
                <a:solidFill>
                  <a:schemeClr val="tx1"/>
                </a:solidFill>
              </a:defRPr>
            </a:lvl4pPr>
            <a:lvl5pPr marL="8556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648200" y="609601"/>
            <a:ext cx="4267200" cy="563879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9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&amp;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60E6F9A-6089-47F1-9675-CAAE7074DBF0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667249" y="609601"/>
            <a:ext cx="4248151" cy="5638799"/>
          </a:xfrm>
          <a:prstGeom prst="rect">
            <a:avLst/>
          </a:prstGeom>
        </p:spPr>
        <p:txBody>
          <a:bodyPr lIns="182880" tIns="91440" rIns="182880" bIns="91440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8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5127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  <a:lvl4pPr marL="687388" indent="-174625">
              <a:spcBef>
                <a:spcPts val="600"/>
              </a:spcBef>
              <a:defRPr sz="1600">
                <a:solidFill>
                  <a:schemeClr val="tx1"/>
                </a:solidFill>
              </a:defRPr>
            </a:lvl4pPr>
            <a:lvl5pPr marL="855663" indent="-168275">
              <a:spcBef>
                <a:spcPts val="600"/>
              </a:spcBef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228600" y="609601"/>
            <a:ext cx="4267200" cy="563879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5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Column 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dirty="0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CA2F145-05F7-4541-B3B0-64B6BA7A2CC8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985760"/>
            <a:ext cx="4267200" cy="4415040"/>
          </a:xfrm>
          <a:prstGeom prst="rect">
            <a:avLst/>
          </a:prstGeom>
        </p:spPr>
        <p:txBody>
          <a:bodyPr vert="horz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228600" y="1297680"/>
            <a:ext cx="42672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Body Copy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228600" y="609600"/>
            <a:ext cx="42672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 b="1" i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Header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4724400" y="1985760"/>
            <a:ext cx="4191000" cy="4415040"/>
          </a:xfrm>
          <a:prstGeom prst="rect">
            <a:avLst/>
          </a:prstGeom>
        </p:spPr>
        <p:txBody>
          <a:bodyPr vert="horz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7" hasCustomPrompt="1"/>
          </p:nvPr>
        </p:nvSpPr>
        <p:spPr>
          <a:xfrm>
            <a:off x="4724400" y="1297680"/>
            <a:ext cx="41910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Body Copy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 hasCustomPrompt="1"/>
          </p:nvPr>
        </p:nvSpPr>
        <p:spPr>
          <a:xfrm>
            <a:off x="4724400" y="609600"/>
            <a:ext cx="41910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 b="1" i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32481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lumn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dirty="0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BCCD93D-7697-411C-B943-4493F4BA7AE3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985760"/>
            <a:ext cx="4267200" cy="4415040"/>
          </a:xfrm>
          <a:prstGeom prst="rect">
            <a:avLst/>
          </a:prstGeom>
        </p:spPr>
        <p:txBody>
          <a:bodyPr vert="horz"/>
          <a:lstStyle>
            <a:lvl1pPr marL="168275" indent="-168275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1pPr>
            <a:lvl2pPr marL="344488" indent="-176213">
              <a:spcBef>
                <a:spcPts val="600"/>
              </a:spcBef>
              <a:buClr>
                <a:schemeClr val="accent1"/>
              </a:buClr>
              <a:buFont typeface="Lucida Grande"/>
              <a:buChar char="■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228600" y="1297680"/>
            <a:ext cx="42672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Body Copy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228600" y="609600"/>
            <a:ext cx="4267200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 b="1" i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Header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4800600" y="609600"/>
            <a:ext cx="4114800" cy="28194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4800600" y="3581400"/>
            <a:ext cx="4114800" cy="2819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3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803275" y="2860155"/>
            <a:ext cx="7724775" cy="542925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2800" b="1" i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5pPr>
          </a:lstStyle>
          <a:p>
            <a:pPr lvl="0"/>
            <a:r>
              <a:rPr lang="en-US" dirty="0" smtClean="0"/>
              <a:t>Divider page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-414704" y="648864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8805335" y="6515100"/>
            <a:ext cx="338666" cy="342900"/>
          </a:xfrm>
        </p:spPr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dirty="0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2"/>
          </p:nvPr>
        </p:nvSpPr>
        <p:spPr>
          <a:xfrm>
            <a:off x="114300" y="6515101"/>
            <a:ext cx="2057400" cy="342900"/>
          </a:xfrm>
        </p:spPr>
        <p:txBody>
          <a:bodyPr/>
          <a:lstStyle/>
          <a:p>
            <a:fld id="{D7D20C48-7B9C-490D-9EA3-4D17D3225D0F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1143000" y="6515100"/>
            <a:ext cx="6858000" cy="342900"/>
          </a:xfrm>
        </p:spPr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13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Picture Coll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852293" y="2293037"/>
            <a:ext cx="1209676" cy="10416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5161610" y="1457608"/>
            <a:ext cx="3639270" cy="187709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51932" y="3429000"/>
            <a:ext cx="1362075" cy="9667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551932" y="4486276"/>
            <a:ext cx="1362075" cy="202882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2010461" y="3419475"/>
            <a:ext cx="1745379" cy="30956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3852294" y="3429000"/>
            <a:ext cx="4948586" cy="30956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FF78A69-C8A1-4FB0-A9B8-CFA9A8FBAFD9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14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Picture Coll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882424" y="2166140"/>
            <a:ext cx="1029944" cy="87985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981788" y="1447800"/>
            <a:ext cx="3097942" cy="1598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1054747" y="3126288"/>
            <a:ext cx="1169226" cy="8231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054747" y="4026476"/>
            <a:ext cx="1169225" cy="172738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2310150" y="3126288"/>
            <a:ext cx="1486054" cy="262757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3882424" y="3126287"/>
            <a:ext cx="4197306" cy="262757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16E7F5-D19D-484B-8912-BEBA5B9934AF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15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A38508E-FDBF-4447-AF9F-1331FF5B9655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16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BE28CC-331D-4302-B59C-BD0056E7D8F1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72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Mark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807F373-A518-4924-B3D5-3A468C40E3DB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638550" y="1752600"/>
            <a:ext cx="4953000" cy="4191000"/>
          </a:xfrm>
        </p:spPr>
        <p:txBody>
          <a:bodyPr/>
          <a:lstStyle>
            <a:lvl1pPr marL="285750" indent="-285750">
              <a:spcBef>
                <a:spcPts val="1200"/>
              </a:spcBef>
              <a:defRPr sz="1800"/>
            </a:lvl1pPr>
            <a:lvl2pPr marL="514350" indent="-228600">
              <a:spcBef>
                <a:spcPts val="1200"/>
              </a:spcBef>
              <a:defRPr sz="1600"/>
            </a:lvl2pPr>
            <a:lvl3pPr marL="685800" indent="-171450">
              <a:spcBef>
                <a:spcPts val="1200"/>
              </a:spcBef>
              <a:defRPr sz="1600"/>
            </a:lvl3pPr>
            <a:lvl4pPr marL="857250" indent="-171450">
              <a:spcBef>
                <a:spcPts val="1200"/>
              </a:spcBef>
              <a:defRPr sz="1600"/>
            </a:lvl4pPr>
            <a:lvl5pPr marL="1028700" indent="-171450">
              <a:spcBef>
                <a:spcPts val="1200"/>
              </a:spcBef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8" name="Picture 7" descr="Spectro_Logo_C_tag.ti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447800"/>
            <a:ext cx="2300940" cy="407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4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D35F0BA-AD84-45C7-A307-824915439D15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6" name="Picture 5" descr="Spectro_Logo_C_tag.t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3094" y="2057400"/>
            <a:ext cx="7017812" cy="257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06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31973" y="95599"/>
            <a:ext cx="7724775" cy="542925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2500" b="1" i="0">
                <a:solidFill>
                  <a:srgbClr val="008085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5pPr>
          </a:lstStyle>
          <a:p>
            <a:pPr lvl="0"/>
            <a:r>
              <a:rPr lang="en-US" dirty="0" smtClean="0"/>
              <a:t>Divider page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515100"/>
            <a:ext cx="7634377" cy="3429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98241" y="6412242"/>
            <a:ext cx="571500" cy="457200"/>
          </a:xfrm>
          <a:prstGeom prst="rect">
            <a:avLst/>
          </a:prstGeom>
        </p:spPr>
      </p:pic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5334" y="6515100"/>
            <a:ext cx="1693333" cy="365125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bg1"/>
                </a:solidFill>
                <a:latin typeface="Univers 55"/>
                <a:cs typeface="Univers 55"/>
              </a:defRPr>
            </a:lvl1pPr>
          </a:lstStyle>
          <a:p>
            <a:fld id="{11B48625-5C6B-794F-9261-D96E023D5BA9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r>
              <a:rPr lang="en-US" dirty="0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03385" y="6532825"/>
            <a:ext cx="1063864" cy="295176"/>
          </a:xfrm>
          <a:prstGeom prst="rect">
            <a:avLst/>
          </a:prstGeom>
        </p:spPr>
      </p:pic>
      <p:sp>
        <p:nvSpPr>
          <p:cNvPr id="26" name="TextBox 25"/>
          <p:cNvSpPr txBox="1"/>
          <p:nvPr userDrawn="1"/>
        </p:nvSpPr>
        <p:spPr>
          <a:xfrm>
            <a:off x="-414704" y="648864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0800000">
            <a:off x="379562" y="655777"/>
            <a:ext cx="8229600" cy="17780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155943"/>
            <a:ext cx="3871913" cy="5046453"/>
          </a:xfrm>
          <a:prstGeom prst="rect">
            <a:avLst/>
          </a:prstGeom>
        </p:spPr>
        <p:txBody>
          <a:bodyPr vert="horz"/>
          <a:lstStyle>
            <a:lvl1pPr marL="285750" indent="-285750">
              <a:buClr>
                <a:srgbClr val="00517B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42950" indent="-285750">
              <a:buClr>
                <a:srgbClr val="00517B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4"/>
          </p:nvPr>
        </p:nvSpPr>
        <p:spPr>
          <a:xfrm>
            <a:off x="4737249" y="1155943"/>
            <a:ext cx="3871913" cy="5046453"/>
          </a:xfrm>
          <a:prstGeom prst="rect">
            <a:avLst/>
          </a:prstGeom>
        </p:spPr>
        <p:txBody>
          <a:bodyPr vert="horz"/>
          <a:lstStyle>
            <a:lvl1pPr marL="285750" indent="-285750">
              <a:buClr>
                <a:srgbClr val="00517B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42950" indent="-285750">
              <a:buClr>
                <a:srgbClr val="00517B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2191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2928959"/>
            <a:ext cx="3871913" cy="3252765"/>
          </a:xfrm>
          <a:prstGeom prst="rect">
            <a:avLst/>
          </a:prstGeom>
        </p:spPr>
        <p:txBody>
          <a:bodyPr vert="horz"/>
          <a:lstStyle>
            <a:lvl1pPr marL="285750" indent="-285750">
              <a:buClr>
                <a:schemeClr val="accent1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42950" indent="-285750">
              <a:buClr>
                <a:schemeClr val="accent1"/>
              </a:buClr>
              <a:buFont typeface="Lucida Grande"/>
              <a:buChar char="■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457200" y="2255040"/>
            <a:ext cx="3871913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Body Copy</a:t>
            </a:r>
          </a:p>
        </p:txBody>
      </p:sp>
      <p:sp>
        <p:nvSpPr>
          <p:cNvPr id="33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457200" y="1566960"/>
            <a:ext cx="3871913" cy="688080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1800" b="1" i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Header</a:t>
            </a:r>
          </a:p>
        </p:txBody>
      </p:sp>
      <p:sp>
        <p:nvSpPr>
          <p:cNvPr id="35" name="Content Placeholder 2"/>
          <p:cNvSpPr>
            <a:spLocks noGrp="1"/>
          </p:cNvSpPr>
          <p:nvPr>
            <p:ph sz="quarter" idx="10"/>
          </p:nvPr>
        </p:nvSpPr>
        <p:spPr>
          <a:xfrm>
            <a:off x="457200" y="372940"/>
            <a:ext cx="7724775" cy="542925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FontTx/>
              <a:buNone/>
              <a:defRPr sz="2500" b="1" i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2500" b="1" i="0">
                <a:solidFill>
                  <a:srgbClr val="00517B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15100"/>
            <a:ext cx="8805335" cy="342900"/>
          </a:xfrm>
          <a:prstGeom prst="rect">
            <a:avLst/>
          </a:prstGeom>
          <a:solidFill>
            <a:srgbClr val="75B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prstClr val="white"/>
                </a:solidFill>
              </a:rPr>
              <a:t>© 2014 Spectro Scientific    |    CONFIDENTIAL</a:t>
            </a:r>
            <a:endParaRPr lang="en-US" sz="900" dirty="0">
              <a:solidFill>
                <a:prstClr val="white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8805335" y="6515100"/>
            <a:ext cx="338666" cy="3429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>
              <a:defRPr sz="1200" b="0" i="0">
                <a:solidFill>
                  <a:schemeClr val="bg1"/>
                </a:solidFill>
                <a:latin typeface="Univers 55"/>
                <a:cs typeface="Univers 55"/>
              </a:defRPr>
            </a:lvl1pPr>
          </a:lstStyle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dirty="0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91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/>
        </p:nvSpPr>
        <p:spPr>
          <a:xfrm>
            <a:off x="8802286" y="6515101"/>
            <a:ext cx="338666" cy="342900"/>
          </a:xfrm>
          <a:prstGeom prst="rect">
            <a:avLst/>
          </a:prstGeom>
          <a:solidFill>
            <a:schemeClr val="accent1"/>
          </a:solidFill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200" b="0" i="0" kern="1200">
                <a:solidFill>
                  <a:schemeClr val="bg1"/>
                </a:solidFill>
                <a:latin typeface="Univers 55"/>
                <a:ea typeface="+mn-ea"/>
                <a:cs typeface="Univers 55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6515100"/>
            <a:ext cx="8805335" cy="342900"/>
          </a:xfrm>
          <a:prstGeom prst="rect">
            <a:avLst/>
          </a:prstGeom>
          <a:solidFill>
            <a:srgbClr val="75B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5335" y="6515100"/>
            <a:ext cx="338666" cy="342900"/>
          </a:xfrm>
          <a:prstGeom prst="rect">
            <a:avLst/>
          </a:prstGeom>
          <a:noFill/>
        </p:spPr>
        <p:txBody>
          <a:bodyPr wrap="none" anchor="ctr"/>
          <a:lstStyle>
            <a:lvl1pPr>
              <a:defRPr sz="1200" b="0" i="0">
                <a:solidFill>
                  <a:schemeClr val="bg1"/>
                </a:solidFill>
                <a:latin typeface="Univers 55"/>
                <a:cs typeface="Univers 55"/>
              </a:defRPr>
            </a:lvl1pPr>
          </a:lstStyle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‹#›</a:t>
            </a:fld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114300" y="6515101"/>
            <a:ext cx="20574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143000" y="6515100"/>
            <a:ext cx="68580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114300" y="1"/>
            <a:ext cx="9026652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237744" y="609600"/>
            <a:ext cx="8677656" cy="5791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18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53" r:id="rId8"/>
    <p:sldLayoutId id="2147483670" r:id="rId9"/>
    <p:sldLayoutId id="2147483671" r:id="rId10"/>
    <p:sldLayoutId id="2147483672" r:id="rId11"/>
    <p:sldLayoutId id="2147483673" r:id="rId12"/>
    <p:sldLayoutId id="2147483675" r:id="rId13"/>
    <p:sldLayoutId id="2147483674" r:id="rId14"/>
    <p:sldLayoutId id="2147483681" r:id="rId15"/>
    <p:sldLayoutId id="2147483709" r:id="rId16"/>
    <p:sldLayoutId id="2147483731" r:id="rId17"/>
    <p:sldLayoutId id="2147483732" r:id="rId18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44488" indent="-176213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2763" indent="-168275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74625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5663" indent="-168275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E0F9F-3498-41C0-9C69-B15D38485B16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36931-7A8F-4639-97E0-57D77D20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64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CE208-A376-44AF-99EA-03B5E078BD11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769E0-999B-411B-888A-7E67CB05C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3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/>
        </p:nvSpPr>
        <p:spPr>
          <a:xfrm>
            <a:off x="8802286" y="6515101"/>
            <a:ext cx="338666" cy="342900"/>
          </a:xfrm>
          <a:prstGeom prst="rect">
            <a:avLst/>
          </a:prstGeom>
          <a:solidFill>
            <a:schemeClr val="accent1"/>
          </a:solidFill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200" b="0" i="0" kern="1200">
                <a:solidFill>
                  <a:schemeClr val="bg1"/>
                </a:solidFill>
                <a:latin typeface="Univers 55"/>
                <a:ea typeface="+mn-ea"/>
                <a:cs typeface="Univers 55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515100"/>
            <a:ext cx="8805335" cy="342900"/>
          </a:xfrm>
          <a:prstGeom prst="rect">
            <a:avLst/>
          </a:prstGeom>
          <a:solidFill>
            <a:srgbClr val="75B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prstClr val="white"/>
              </a:solidFill>
            </a:endParaRP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5335" y="6515100"/>
            <a:ext cx="338666" cy="342900"/>
          </a:xfrm>
          <a:prstGeom prst="rect">
            <a:avLst/>
          </a:prstGeom>
          <a:noFill/>
        </p:spPr>
        <p:txBody>
          <a:bodyPr wrap="none" anchor="ctr"/>
          <a:lstStyle>
            <a:lvl1pPr>
              <a:defRPr sz="1200" b="0" i="0">
                <a:solidFill>
                  <a:schemeClr val="bg1"/>
                </a:solidFill>
                <a:latin typeface="Univers 55"/>
                <a:cs typeface="Univers 55"/>
              </a:defRPr>
            </a:lvl1pPr>
          </a:lstStyle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‹#›</a:t>
            </a:fld>
            <a:r>
              <a:rPr lang="en-US" dirty="0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114300" y="6515101"/>
            <a:ext cx="20574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D24AFB83-3C8A-4687-9424-C15FF7E911EC}" type="datetime1">
              <a:rPr lang="en-US" smtClean="0">
                <a:solidFill>
                  <a:prstClr val="white"/>
                </a:solidFill>
              </a:rPr>
              <a:pPr/>
              <a:t>8/25/2016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143000" y="6515100"/>
            <a:ext cx="68580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smtClean="0">
                <a:solidFill>
                  <a:prstClr val="white"/>
                </a:solidFill>
              </a:rPr>
              <a:t>Use the command - INSERT - SLIDE NUMBER - FOOTER - type text into box - APPLY TO ALL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114300" y="1"/>
            <a:ext cx="9026652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237744" y="609600"/>
            <a:ext cx="8677656" cy="5791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7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6" r:id="rId15"/>
    <p:sldLayoutId id="2147483728" r:id="rId16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44488" indent="-176213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2763" indent="-168275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74625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5663" indent="-168275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39.png"/><Relationship Id="rId4" Type="http://schemas.openxmlformats.org/officeDocument/2006/relationships/image" Target="../media/image3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2.xml"/><Relationship Id="rId6" Type="http://schemas.microsoft.com/office/2007/relationships/hdphoto" Target="../media/hdphoto1.wdp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47.png"/><Relationship Id="rId5" Type="http://schemas.microsoft.com/office/2007/relationships/hdphoto" Target="../media/hdphoto3.wdp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752600"/>
            <a:ext cx="4724400" cy="685799"/>
          </a:xfrm>
        </p:spPr>
        <p:txBody>
          <a:bodyPr/>
          <a:lstStyle/>
          <a:p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MiniLab Series for  Industrial Plants</a:t>
            </a:r>
            <a:endParaRPr lang="en-US" sz="3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609600"/>
            <a:ext cx="3193829" cy="802277"/>
          </a:xfrm>
          <a:prstGeom prst="rect">
            <a:avLst/>
          </a:prstGeom>
        </p:spPr>
      </p:pic>
      <p:sp>
        <p:nvSpPr>
          <p:cNvPr id="57" name="Slide Number Placeholder 5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1</a:t>
            </a:fld>
            <a:r>
              <a:rPr lang="en-US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572" y="3429000"/>
            <a:ext cx="3255264" cy="2170176"/>
          </a:xfrm>
          <a:prstGeom prst="rect">
            <a:avLst/>
          </a:prstGeom>
        </p:spPr>
      </p:pic>
      <p:pic>
        <p:nvPicPr>
          <p:cNvPr id="7" name="Picture 6" descr="C:\Users\rwopperer\AppData\Local\Microsoft\Windows\Temporary Internet Files\Content.Outlook\X37PS253\TrivectorGRAPHIC_201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42846"/>
            <a:ext cx="1908457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54"/>
          <p:cNvSpPr>
            <a:spLocks noGrp="1"/>
          </p:cNvSpPr>
          <p:nvPr>
            <p:ph type="body" sz="quarter" idx="13"/>
          </p:nvPr>
        </p:nvSpPr>
        <p:spPr>
          <a:xfrm>
            <a:off x="76200" y="5943600"/>
            <a:ext cx="3657600" cy="533400"/>
          </a:xfrm>
        </p:spPr>
        <p:txBody>
          <a:bodyPr/>
          <a:lstStyle/>
          <a:p>
            <a:pPr>
              <a:spcBef>
                <a:spcPts val="0"/>
              </a:spcBef>
            </a:pPr>
            <a:endParaRPr lang="en-US" sz="1200" dirty="0"/>
          </a:p>
          <a:p>
            <a:pPr>
              <a:spcBef>
                <a:spcPts val="0"/>
              </a:spcBef>
            </a:pPr>
            <a:r>
              <a:rPr lang="en-US" sz="1200" dirty="0" smtClean="0"/>
              <a:t>March 2016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6025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2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Use the command - INSERT - SLIDE NUMBER - FOOTER - type text into box - APPLY TO ALL</a:t>
            </a:r>
            <a:endParaRPr lang="en-US" dirty="0"/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266700" y="152401"/>
            <a:ext cx="9026652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78AE"/>
                </a:solidFill>
                <a:latin typeface="Arial Narrow bold"/>
              </a:rPr>
              <a:t>In service oil analysis for Machine Condition Monitoring</a:t>
            </a:r>
            <a:endParaRPr lang="en-US" dirty="0">
              <a:solidFill>
                <a:srgbClr val="0078AE"/>
              </a:solidFill>
              <a:latin typeface="Arial Narrow bold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780026" y="1524000"/>
            <a:ext cx="4363975" cy="57911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Early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identification and trending of machinery wear and failure modes allows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maintenance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before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catastrophic failure occurs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Oil analysis complements vibration, thermography and other predictive technologies </a:t>
            </a:r>
          </a:p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Increases confidence in decision to remove machinery from service.</a:t>
            </a:r>
            <a:endParaRPr lang="en-US" sz="2000" b="0" i="0" u="none" strike="noStrike" kern="1200" dirty="0" smtClean="0">
              <a:solidFill>
                <a:schemeClr val="bg1">
                  <a:lumMod val="50000"/>
                </a:schemeClr>
              </a:solidFill>
              <a:effectLst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7400"/>
            <a:ext cx="3725008" cy="283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286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3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Use the command - INSERT - SLIDE NUMBER - FOOTER - type text into box - APPLY TO ALL</a:t>
            </a:r>
            <a:endParaRPr lang="en-US" dirty="0"/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125787" y="76200"/>
            <a:ext cx="9026652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Oil Analysis answers the critical questions </a:t>
            </a:r>
            <a:r>
              <a:rPr lang="en-US" dirty="0" smtClean="0"/>
              <a:t>...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28" y="838200"/>
            <a:ext cx="8704971" cy="4888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936532" y="5926857"/>
            <a:ext cx="53521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Trivector graph of machinery health</a:t>
            </a:r>
          </a:p>
        </p:txBody>
      </p:sp>
    </p:spTree>
    <p:extLst>
      <p:ext uri="{BB962C8B-B14F-4D97-AF65-F5344CB8AC3E}">
        <p14:creationId xmlns:p14="http://schemas.microsoft.com/office/powerpoint/2010/main" val="331405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limits for machinery types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0F99-A7FF-4C58-8D18-5FB80FC30C57}" type="slidenum">
              <a:rPr lang="en-US" smtClean="0"/>
              <a:t>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914400"/>
            <a:ext cx="81153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535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Analysis Parameters of the MiniLab 153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0F99-A7FF-4C58-8D18-5FB80FC30C57}" type="slidenum">
              <a:rPr lang="en-US" smtClean="0"/>
              <a:t>5</a:t>
            </a:fld>
            <a:endParaRPr lang="en-US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426533"/>
            <a:ext cx="8677275" cy="415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187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6</a:t>
            </a:fld>
            <a:r>
              <a:rPr lang="en-US" smtClean="0"/>
              <a:t>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87" y="533400"/>
            <a:ext cx="8610600" cy="5767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29000" y="1828800"/>
            <a:ext cx="144780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61AA34"/>
                </a:solidFill>
              </a:rPr>
              <a:t>Elemental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5257800"/>
            <a:ext cx="160020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61AA34"/>
                </a:solidFill>
              </a:rPr>
              <a:t>Viscosity</a:t>
            </a:r>
          </a:p>
          <a:p>
            <a:endParaRPr lang="en-US" sz="2000" dirty="0">
              <a:solidFill>
                <a:srgbClr val="61AA3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8767" y="4572000"/>
            <a:ext cx="1326004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61AA34"/>
                </a:solidFill>
              </a:rPr>
              <a:t>Chemical</a:t>
            </a:r>
            <a:r>
              <a:rPr lang="en-US" sz="2000" dirty="0" smtClean="0">
                <a:solidFill>
                  <a:srgbClr val="61AA34"/>
                </a:solidFill>
              </a:rPr>
              <a:t> </a:t>
            </a:r>
          </a:p>
          <a:p>
            <a:r>
              <a:rPr lang="en-US" sz="2000" dirty="0" smtClean="0">
                <a:solidFill>
                  <a:srgbClr val="61AA34"/>
                </a:solidFill>
              </a:rP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3556337"/>
            <a:ext cx="1737976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61AA34"/>
                </a:solidFill>
              </a:defRPr>
            </a:lvl1pPr>
          </a:lstStyle>
          <a:p>
            <a:r>
              <a:rPr lang="en-US" dirty="0"/>
              <a:t>Particle </a:t>
            </a:r>
            <a:r>
              <a:rPr lang="en-US" dirty="0" smtClean="0"/>
              <a:t>Count and Ferrous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6801" y="5334000"/>
            <a:ext cx="457200" cy="277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sz="12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1211982" y="3456057"/>
            <a:ext cx="693018" cy="277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sz="1200" dirty="0" smtClean="0"/>
          </a:p>
        </p:txBody>
      </p:sp>
      <p:sp>
        <p:nvSpPr>
          <p:cNvPr id="13" name="Text Placeholder 4"/>
          <p:cNvSpPr txBox="1">
            <a:spLocks/>
          </p:cNvSpPr>
          <p:nvPr/>
        </p:nvSpPr>
        <p:spPr>
          <a:xfrm>
            <a:off x="152400" y="76201"/>
            <a:ext cx="8686800" cy="609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8275" indent="-168275" algn="l" defTabSz="4572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4488" indent="-176213" algn="l" defTabSz="4572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2763" indent="-168275" algn="l" defTabSz="4572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74625" algn="l" defTabSz="4572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5663" indent="-168275" algn="l" defTabSz="4572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4 simple tests to quantify machinery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1091625"/>
            <a:ext cx="2528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rgbClr val="FF0000"/>
                </a:solidFill>
              </a:defRPr>
            </a:lvl1pPr>
          </a:lstStyle>
          <a:p>
            <a:r>
              <a:rPr lang="en-US" sz="3200" b="1" i="1" dirty="0" smtClean="0">
                <a:solidFill>
                  <a:schemeClr val="accent1"/>
                </a:solidFill>
              </a:rPr>
              <a:t>MiniLab 153</a:t>
            </a:r>
            <a:endParaRPr lang="en-US" sz="3200" b="1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43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dirty="0" smtClean="0">
                <a:solidFill>
                  <a:schemeClr val="bg1"/>
                </a:solidFill>
              </a:rPr>
              <a:t>11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28600" y="20235"/>
            <a:ext cx="7658100" cy="58936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Four simple </a:t>
            </a:r>
            <a:r>
              <a:rPr lang="en-US" dirty="0" smtClean="0"/>
              <a:t>tests - </a:t>
            </a:r>
            <a:r>
              <a:rPr lang="en-US" dirty="0"/>
              <a:t>E</a:t>
            </a:r>
            <a:r>
              <a:rPr lang="en-US" dirty="0" smtClean="0"/>
              <a:t>lemental </a:t>
            </a:r>
            <a:r>
              <a:rPr lang="en-US" dirty="0"/>
              <a:t>A</a:t>
            </a:r>
            <a:r>
              <a:rPr lang="en-US" dirty="0" smtClean="0"/>
              <a:t>nalysis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685800" y="1143000"/>
            <a:ext cx="7696200" cy="4419600"/>
          </a:xfrm>
        </p:spPr>
        <p:txBody>
          <a:bodyPr>
            <a:noAutofit/>
          </a:bodyPr>
          <a:lstStyle/>
          <a:p>
            <a:pPr marL="0" lvl="1" indent="0">
              <a:buNone/>
              <a:tabLst>
                <a:tab pos="169863" algn="l"/>
              </a:tabLst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 </a:t>
            </a:r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1: Elemental analysis 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Sharpen electrode and install with disk</a:t>
            </a:r>
          </a:p>
          <a:p>
            <a:pPr lvl="2"/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Pipette oil sample into cup</a:t>
            </a:r>
          </a:p>
          <a:p>
            <a:pPr lvl="2"/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Run sample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683172" y="3654364"/>
            <a:ext cx="7546428" cy="2289236"/>
            <a:chOff x="1635906" y="3906155"/>
            <a:chExt cx="6362967" cy="2289236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2635279" y="3976268"/>
              <a:ext cx="457200" cy="0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4760378" y="4995062"/>
              <a:ext cx="20047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00517B"/>
                  </a:solidFill>
                </a:rPr>
                <a:t>Load sample into cup</a:t>
              </a:r>
              <a:endParaRPr lang="en-US" dirty="0">
                <a:solidFill>
                  <a:srgbClr val="00517B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635906" y="4995062"/>
              <a:ext cx="118577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>
                  <a:solidFill>
                    <a:srgbClr val="00517B"/>
                  </a:solidFill>
                </a:rPr>
                <a:t>Sharpen electrode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467730" y="4995062"/>
              <a:ext cx="1283786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>
                  <a:solidFill>
                    <a:srgbClr val="00517B"/>
                  </a:solidFill>
                </a:rPr>
                <a:t>Insert electrode and disk</a:t>
              </a:r>
            </a:p>
            <a:p>
              <a:endParaRPr lang="en-US" dirty="0">
                <a:solidFill>
                  <a:srgbClr val="00517B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486287" y="4995062"/>
              <a:ext cx="5125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00517B"/>
                  </a:solidFill>
                </a:rPr>
                <a:t>Test</a:t>
              </a:r>
              <a:endParaRPr lang="en-US" dirty="0">
                <a:solidFill>
                  <a:srgbClr val="00517B"/>
                </a:solidFill>
              </a:endParaRP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4395132" y="3906155"/>
              <a:ext cx="457200" cy="0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39" y="3150553"/>
            <a:ext cx="1007268" cy="1005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667" y="3089953"/>
            <a:ext cx="756976" cy="126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758" y="3089953"/>
            <a:ext cx="1371600" cy="1000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Straight Arrow Connector 23"/>
          <p:cNvCxnSpPr/>
          <p:nvPr/>
        </p:nvCxnSpPr>
        <p:spPr>
          <a:xfrm>
            <a:off x="6705600" y="3657600"/>
            <a:ext cx="542236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698" y="2972825"/>
            <a:ext cx="720003" cy="1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268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dirty="0" smtClean="0">
                <a:solidFill>
                  <a:schemeClr val="bg1"/>
                </a:solidFill>
              </a:rPr>
              <a:t>11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28600" y="20235"/>
            <a:ext cx="7658100" cy="58936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Four simple </a:t>
            </a:r>
            <a:r>
              <a:rPr lang="en-US" dirty="0" smtClean="0"/>
              <a:t>tests - </a:t>
            </a:r>
            <a:r>
              <a:rPr lang="en-US" dirty="0"/>
              <a:t>P</a:t>
            </a:r>
            <a:r>
              <a:rPr lang="en-US" dirty="0" smtClean="0"/>
              <a:t>article </a:t>
            </a:r>
            <a:r>
              <a:rPr lang="en-US" dirty="0"/>
              <a:t>C</a:t>
            </a:r>
            <a:r>
              <a:rPr lang="en-US" dirty="0" smtClean="0"/>
              <a:t>ount </a:t>
            </a:r>
            <a:r>
              <a:rPr lang="en-US" dirty="0"/>
              <a:t>and </a:t>
            </a:r>
            <a:r>
              <a:rPr lang="en-US" dirty="0" smtClean="0"/>
              <a:t>Ferrous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685800" y="1143000"/>
            <a:ext cx="7696200" cy="4419600"/>
          </a:xfrm>
        </p:spPr>
        <p:txBody>
          <a:bodyPr>
            <a:noAutofit/>
          </a:bodyPr>
          <a:lstStyle/>
          <a:p>
            <a:pPr marL="0" lvl="1" indent="0">
              <a:buNone/>
              <a:tabLst>
                <a:tab pos="169863" algn="l"/>
              </a:tabLst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 </a:t>
            </a:r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2: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Particle Count and Wear </a:t>
            </a:r>
          </a:p>
          <a:p>
            <a:pPr lvl="2"/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Dilute sample if viscosity &gt;320 cSt</a:t>
            </a:r>
          </a:p>
          <a:p>
            <a:pPr lvl="2"/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Shake 30 seconds by hand</a:t>
            </a:r>
          </a:p>
          <a:p>
            <a:pPr lvl="2"/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30 seconds in ultrasound to remove bubbles</a:t>
            </a:r>
          </a:p>
          <a:p>
            <a:pPr lvl="2"/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 minutes test through LNF particle analyzer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131621" y="3141318"/>
            <a:ext cx="6945579" cy="2013826"/>
            <a:chOff x="1131621" y="3141318"/>
            <a:chExt cx="6945579" cy="2013826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2438400" y="3941211"/>
              <a:ext cx="457200" cy="0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/>
            <p:cNvGrpSpPr/>
            <p:nvPr/>
          </p:nvGrpSpPr>
          <p:grpSpPr>
            <a:xfrm>
              <a:off x="4760378" y="3420200"/>
              <a:ext cx="1335622" cy="1734944"/>
              <a:chOff x="4760378" y="3113873"/>
              <a:chExt cx="1335622" cy="1734944"/>
            </a:xfrm>
          </p:grpSpPr>
          <p:pic>
            <p:nvPicPr>
              <p:cNvPr id="3076" name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33751" y="3113873"/>
                <a:ext cx="1188877" cy="8718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Rectangle 17"/>
              <p:cNvSpPr/>
              <p:nvPr/>
            </p:nvSpPr>
            <p:spPr>
              <a:xfrm>
                <a:off x="4760378" y="4264042"/>
                <a:ext cx="133562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solidFill>
                      <a:srgbClr val="00517B"/>
                    </a:solidFill>
                  </a:rPr>
                  <a:t>Ultrasound</a:t>
                </a:r>
              </a:p>
              <a:p>
                <a:r>
                  <a:rPr lang="en-US" sz="1600" dirty="0" smtClean="0">
                    <a:solidFill>
                      <a:srgbClr val="00517B"/>
                    </a:solidFill>
                  </a:rPr>
                  <a:t>(</a:t>
                </a:r>
                <a:r>
                  <a:rPr lang="en-US" sz="1600" dirty="0" err="1" smtClean="0">
                    <a:solidFill>
                      <a:srgbClr val="00517B"/>
                    </a:solidFill>
                  </a:rPr>
                  <a:t>deaeration</a:t>
                </a:r>
                <a:r>
                  <a:rPr lang="en-US" sz="1600" dirty="0" smtClean="0">
                    <a:solidFill>
                      <a:srgbClr val="00517B"/>
                    </a:solidFill>
                  </a:rPr>
                  <a:t>)</a:t>
                </a:r>
                <a:endParaRPr lang="en-US" sz="1600" dirty="0">
                  <a:solidFill>
                    <a:srgbClr val="00517B"/>
                  </a:solidFill>
                </a:endParaRPr>
              </a:p>
            </p:txBody>
          </p:sp>
        </p:grpSp>
        <p:cxnSp>
          <p:nvCxnSpPr>
            <p:cNvPr id="19" name="Straight Arrow Connector 18"/>
            <p:cNvCxnSpPr/>
            <p:nvPr/>
          </p:nvCxnSpPr>
          <p:spPr>
            <a:xfrm>
              <a:off x="6120274" y="3941211"/>
              <a:ext cx="457200" cy="0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/>
            <p:cNvGrpSpPr/>
            <p:nvPr/>
          </p:nvGrpSpPr>
          <p:grpSpPr>
            <a:xfrm>
              <a:off x="1131621" y="3406431"/>
              <a:ext cx="1179162" cy="1748713"/>
              <a:chOff x="1131621" y="3100104"/>
              <a:chExt cx="1179162" cy="1748713"/>
            </a:xfrm>
          </p:grpSpPr>
          <p:pic>
            <p:nvPicPr>
              <p:cNvPr id="3074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1" y="3100104"/>
                <a:ext cx="1179162" cy="10837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" name="Rectangle 22"/>
              <p:cNvSpPr/>
              <p:nvPr/>
            </p:nvSpPr>
            <p:spPr>
              <a:xfrm>
                <a:off x="1252623" y="4264042"/>
                <a:ext cx="93715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 smtClean="0">
                    <a:solidFill>
                      <a:srgbClr val="00517B"/>
                    </a:solidFill>
                  </a:rPr>
                  <a:t>Dilute </a:t>
                </a:r>
              </a:p>
              <a:p>
                <a:r>
                  <a:rPr lang="en-US" sz="1600" dirty="0" smtClean="0">
                    <a:solidFill>
                      <a:srgbClr val="00517B"/>
                    </a:solidFill>
                  </a:rPr>
                  <a:t>Sample</a:t>
                </a:r>
              </a:p>
            </p:txBody>
          </p:sp>
        </p:grpSp>
        <p:sp>
          <p:nvSpPr>
            <p:cNvPr id="21" name="Rectangle 20"/>
            <p:cNvSpPr/>
            <p:nvPr/>
          </p:nvSpPr>
          <p:spPr>
            <a:xfrm>
              <a:off x="3143067" y="4570369"/>
              <a:ext cx="91403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solidFill>
                    <a:srgbClr val="00517B"/>
                  </a:solidFill>
                </a:rPr>
                <a:t>Shake </a:t>
              </a:r>
            </a:p>
            <a:p>
              <a:r>
                <a:rPr lang="en-US" sz="1600" dirty="0" smtClean="0">
                  <a:solidFill>
                    <a:srgbClr val="00517B"/>
                  </a:solidFill>
                </a:rPr>
                <a:t>by hand</a:t>
              </a:r>
              <a:endParaRPr lang="en-US" sz="1600" dirty="0">
                <a:solidFill>
                  <a:srgbClr val="00517B"/>
                </a:solidFill>
              </a:endParaRP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6603525" y="3141318"/>
              <a:ext cx="1473675" cy="1842841"/>
              <a:chOff x="6603525" y="2834991"/>
              <a:chExt cx="1473675" cy="1842841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7059837" y="4339278"/>
                <a:ext cx="56105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solidFill>
                      <a:srgbClr val="00517B"/>
                    </a:solidFill>
                  </a:rPr>
                  <a:t>Test</a:t>
                </a:r>
                <a:endParaRPr lang="en-US" sz="1600" dirty="0">
                  <a:solidFill>
                    <a:srgbClr val="00517B"/>
                  </a:solidFill>
                </a:endParaRPr>
              </a:p>
            </p:txBody>
          </p:sp>
          <p:pic>
            <p:nvPicPr>
              <p:cNvPr id="7" name="Picture 2" descr="C:\Users\yzhao\Dropbox\Spectro Literature\Product Photos\Q200\Q200_6514.jpg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03525" y="2834991"/>
                <a:ext cx="1473675" cy="15296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5" name="Straight Arrow Connector 24"/>
            <p:cNvCxnSpPr/>
            <p:nvPr/>
          </p:nvCxnSpPr>
          <p:spPr>
            <a:xfrm>
              <a:off x="4198253" y="3941211"/>
              <a:ext cx="457200" cy="0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053" y="3420325"/>
            <a:ext cx="1135747" cy="109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332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dirty="0" smtClean="0">
                <a:solidFill>
                  <a:schemeClr val="bg1"/>
                </a:solidFill>
              </a:rPr>
              <a:t>10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28600" y="0"/>
            <a:ext cx="8839200" cy="61689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Four simple </a:t>
            </a:r>
            <a:r>
              <a:rPr lang="en-US" dirty="0" smtClean="0"/>
              <a:t>tests - Viscosity &amp; Chemistry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4949071" y="1309688"/>
            <a:ext cx="4038600" cy="20431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 </a:t>
            </a:r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3: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Viscosity</a:t>
            </a:r>
          </a:p>
          <a:p>
            <a:pPr lvl="0"/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Pipette oil 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sample,drop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60 uL into viscometer with positive displacement pipette</a:t>
            </a:r>
          </a:p>
          <a:p>
            <a:pPr lvl="0"/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Not homogenized</a:t>
            </a:r>
          </a:p>
          <a:p>
            <a:pPr lvl="0"/>
            <a:endParaRPr lang="en-US" sz="1600" dirty="0" smtClean="0"/>
          </a:p>
          <a:p>
            <a:pPr lvl="1"/>
            <a:endParaRPr lang="en-US" sz="1600" dirty="0" smtClean="0"/>
          </a:p>
          <a:p>
            <a:pPr lvl="1"/>
            <a:endParaRPr lang="en-US" sz="1600" dirty="0" smtClean="0"/>
          </a:p>
          <a:p>
            <a:pPr lvl="1"/>
            <a:endParaRPr lang="en-US" sz="1600" dirty="0" smtClean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71" y="1600200"/>
            <a:ext cx="1633921" cy="1089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271" y="1569253"/>
            <a:ext cx="1676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278" y="4560739"/>
            <a:ext cx="1730394" cy="1153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1981281" y="1972705"/>
            <a:ext cx="304800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457200" y="3442201"/>
            <a:ext cx="8530471" cy="62999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48" y="4100921"/>
            <a:ext cx="1199824" cy="1852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 Placeholder 2"/>
          <p:cNvSpPr txBox="1">
            <a:spLocks/>
          </p:cNvSpPr>
          <p:nvPr/>
        </p:nvSpPr>
        <p:spPr>
          <a:xfrm>
            <a:off x="4949072" y="3942053"/>
            <a:ext cx="4038599" cy="20777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4263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Test 4: Chemistry and Water</a:t>
            </a:r>
          </a:p>
          <a:p>
            <a:pPr marL="0" indent="0">
              <a:buNone/>
            </a:pPr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Homogenize sample, pipette 2 drops onto FluidScan </a:t>
            </a:r>
          </a:p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Homogenization finely disperses free water so it can be accurately measured by the </a:t>
            </a:r>
            <a:r>
              <a:rPr lang="en-US" sz="17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FluidScan</a:t>
            </a:r>
            <a:endParaRPr lang="en-US" sz="17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2137610" y="4980927"/>
            <a:ext cx="304800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96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10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4431846" cy="23988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014605"/>
            <a:ext cx="2502657" cy="134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673" y="2421272"/>
            <a:ext cx="3780175" cy="20519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6" name="Title 4"/>
          <p:cNvSpPr txBox="1">
            <a:spLocks/>
          </p:cNvSpPr>
          <p:nvPr/>
        </p:nvSpPr>
        <p:spPr>
          <a:xfrm>
            <a:off x="125787" y="76200"/>
            <a:ext cx="9026652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OilView Alarm analytics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5638800" y="1066800"/>
            <a:ext cx="320006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Review Alarm history by individual component or class of components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Adjust initial alarm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limits using the OilView cumulative probability distribution analysis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capability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54729" y="5410200"/>
            <a:ext cx="51460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Analyze correlations between Analysis Parameters for insight into root cause</a:t>
            </a:r>
          </a:p>
        </p:txBody>
      </p:sp>
    </p:spTree>
    <p:extLst>
      <p:ext uri="{BB962C8B-B14F-4D97-AF65-F5344CB8AC3E}">
        <p14:creationId xmlns:p14="http://schemas.microsoft.com/office/powerpoint/2010/main" val="2494515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154691" y="3505200"/>
            <a:ext cx="3655310" cy="182842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Trivector Reports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11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Use the command - INSERT - SLIDE NUMBER - FOOTER - type text into box - APPLY TO ALL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896" y="75829"/>
            <a:ext cx="4409439" cy="533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81" y="4495800"/>
            <a:ext cx="950004" cy="78491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80" y="5752909"/>
            <a:ext cx="716020" cy="547089"/>
          </a:xfrm>
          <a:prstGeom prst="rect">
            <a:avLst/>
          </a:prstGeom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489" y="4419600"/>
            <a:ext cx="943511" cy="79171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599" y="5231182"/>
            <a:ext cx="4385735" cy="9848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54691" y="1447800"/>
            <a:ext cx="42412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Trend Report with automatic import of Wear Image ‘thumbnails”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3697069"/>
            <a:ext cx="3235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Optional WDA Module imports images from microscope camera or from LNF export file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-Export all images or filter by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765511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All traditional OilView</a:t>
            </a:r>
          </a:p>
          <a:p>
            <a:pPr algn="ctr"/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reports still available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572" y="5752909"/>
            <a:ext cx="2941059" cy="5470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1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5" y="1933575"/>
            <a:ext cx="302895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Performance verification with standard fluids</a:t>
            </a:r>
            <a:endParaRPr lang="en-US" sz="28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12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304800" y="1295400"/>
            <a:ext cx="2590800" cy="2819399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Total Ferrous and Ferrous Particle Count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LNF-545 Ferrous Validation Standard for Magnetometer</a:t>
            </a:r>
          </a:p>
          <a:p>
            <a:pPr lvl="1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Total Ferrous Content, nominal 100 ppm</a:t>
            </a:r>
          </a:p>
          <a:p>
            <a:pPr lvl="1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Large Ferrous particle count, nominal 42 um particles</a:t>
            </a:r>
          </a:p>
        </p:txBody>
      </p:sp>
      <p:sp>
        <p:nvSpPr>
          <p:cNvPr id="13" name="Text Placeholder 10"/>
          <p:cNvSpPr txBox="1">
            <a:spLocks/>
          </p:cNvSpPr>
          <p:nvPr/>
        </p:nvSpPr>
        <p:spPr>
          <a:xfrm>
            <a:off x="4267200" y="1119691"/>
            <a:ext cx="3646087" cy="8615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4263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Particle </a:t>
            </a:r>
            <a:r>
              <a:rPr lang="en-US" sz="1800" dirty="0" smtClean="0">
                <a:solidFill>
                  <a:srgbClr val="FF0000"/>
                </a:solidFill>
              </a:rPr>
              <a:t>count  </a:t>
            </a:r>
          </a:p>
          <a:p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LNF-509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</a:t>
            </a:r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alibration check fluid</a:t>
            </a:r>
          </a:p>
        </p:txBody>
      </p:sp>
      <p:sp>
        <p:nvSpPr>
          <p:cNvPr id="15" name="Text Placeholder 10"/>
          <p:cNvSpPr txBox="1">
            <a:spLocks/>
          </p:cNvSpPr>
          <p:nvPr/>
        </p:nvSpPr>
        <p:spPr>
          <a:xfrm>
            <a:off x="609600" y="5105400"/>
            <a:ext cx="3776948" cy="9705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4263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800" dirty="0" err="1" smtClean="0">
                <a:solidFill>
                  <a:srgbClr val="FF0000"/>
                </a:solidFill>
              </a:rPr>
              <a:t>Fluidscan</a:t>
            </a:r>
            <a:r>
              <a:rPr lang="en-US" sz="1800" dirty="0" smtClean="0">
                <a:solidFill>
                  <a:srgbClr val="FF0000"/>
                </a:solidFill>
              </a:rPr>
              <a:t> IR check fluid</a:t>
            </a:r>
          </a:p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FL311 FluidScan Check Fluid</a:t>
            </a:r>
          </a:p>
        </p:txBody>
      </p:sp>
      <p:sp>
        <p:nvSpPr>
          <p:cNvPr id="16" name="Text Placeholder 10"/>
          <p:cNvSpPr txBox="1">
            <a:spLocks/>
          </p:cNvSpPr>
          <p:nvPr/>
        </p:nvSpPr>
        <p:spPr>
          <a:xfrm>
            <a:off x="5531451" y="5105400"/>
            <a:ext cx="3239672" cy="1275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4263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Viscosity standards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PV1025 Visc 30 standard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PV1026 Visc120 standard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276600" y="4876800"/>
            <a:ext cx="266700" cy="22860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6086475" y="3429000"/>
            <a:ext cx="390525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724400" y="1905000"/>
            <a:ext cx="0" cy="273683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4724400" y="4876800"/>
            <a:ext cx="685800" cy="44931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0"/>
          <p:cNvSpPr txBox="1">
            <a:spLocks/>
          </p:cNvSpPr>
          <p:nvPr/>
        </p:nvSpPr>
        <p:spPr>
          <a:xfrm>
            <a:off x="6705599" y="3050660"/>
            <a:ext cx="2065524" cy="8615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9863" algn="l"/>
              </a:tabLst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4263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69863" algn="l" defTabSz="457200" rtl="0" eaLnBrk="1" latinLnBrk="0" hangingPunct="1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Elemental  </a:t>
            </a:r>
          </a:p>
          <a:p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CS-24 standard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895600" y="2743200"/>
            <a:ext cx="266699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09636" y="6107541"/>
            <a:ext cx="55223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C24722"/>
                </a:solidFill>
              </a:rPr>
              <a:t>NIST traceable standards and an ASTM </a:t>
            </a:r>
            <a:r>
              <a:rPr lang="en-US" sz="1400" dirty="0">
                <a:solidFill>
                  <a:srgbClr val="C24722"/>
                </a:solidFill>
              </a:rPr>
              <a:t>method </a:t>
            </a:r>
            <a:r>
              <a:rPr lang="en-US" sz="1400" dirty="0" smtClean="0">
                <a:solidFill>
                  <a:srgbClr val="C24722"/>
                </a:solidFill>
              </a:rPr>
              <a:t>for instrumentation</a:t>
            </a:r>
            <a:endParaRPr lang="en-US" sz="1400" dirty="0">
              <a:solidFill>
                <a:srgbClr val="C247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51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13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95250" y="139536"/>
            <a:ext cx="4933950" cy="533400"/>
          </a:xfrm>
        </p:spPr>
        <p:txBody>
          <a:bodyPr>
            <a:normAutofit/>
          </a:bodyPr>
          <a:lstStyle/>
          <a:p>
            <a:r>
              <a:rPr lang="en-US" dirty="0" smtClean="0"/>
              <a:t>Minilab series configurations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724400" y="6062246"/>
            <a:ext cx="3760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rgbClr val="FF0000"/>
                </a:solidFill>
              </a:defRPr>
            </a:lvl1pPr>
          </a:lstStyle>
          <a:p>
            <a:r>
              <a:rPr lang="en-US" dirty="0" smtClean="0"/>
              <a:t>Three models with increasing capability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51352" y="4530804"/>
            <a:ext cx="25119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en-US" sz="2400" b="1" dirty="0" smtClean="0">
                <a:solidFill>
                  <a:schemeClr val="bg1">
                    <a:lumMod val="50000"/>
                  </a:schemeClr>
                </a:solidFill>
              </a:rPr>
              <a:t> Minilab 23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1406604"/>
            <a:ext cx="27858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8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Minilab </a:t>
            </a:r>
            <a:r>
              <a:rPr lang="en-US" sz="2800" b="1" dirty="0" smtClean="0">
                <a:solidFill>
                  <a:schemeClr val="bg1">
                    <a:lumMod val="50000"/>
                  </a:schemeClr>
                </a:solidFill>
              </a:rPr>
              <a:t>153</a:t>
            </a:r>
            <a:endParaRPr lang="en-US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94574" y="3083004"/>
            <a:ext cx="26255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Minilab </a:t>
            </a:r>
            <a:r>
              <a:rPr lang="en-US" sz="2800" b="1" dirty="0" smtClean="0">
                <a:solidFill>
                  <a:schemeClr val="bg1">
                    <a:lumMod val="50000"/>
                  </a:schemeClr>
                </a:solidFill>
              </a:rPr>
              <a:t>53</a:t>
            </a:r>
            <a:endParaRPr lang="en-US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5-Point Star 24"/>
          <p:cNvSpPr/>
          <p:nvPr/>
        </p:nvSpPr>
        <p:spPr>
          <a:xfrm>
            <a:off x="1246345" y="1143000"/>
            <a:ext cx="274476" cy="45720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/>
          </a:p>
        </p:txBody>
      </p:sp>
      <p:sp>
        <p:nvSpPr>
          <p:cNvPr id="26" name="5-Point Star 25"/>
          <p:cNvSpPr/>
          <p:nvPr/>
        </p:nvSpPr>
        <p:spPr>
          <a:xfrm>
            <a:off x="1551145" y="1143000"/>
            <a:ext cx="274476" cy="45720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27" name="5-Point Star 26"/>
          <p:cNvSpPr/>
          <p:nvPr/>
        </p:nvSpPr>
        <p:spPr>
          <a:xfrm>
            <a:off x="1901821" y="1143000"/>
            <a:ext cx="274476" cy="45720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28" name="5-Point Star 27"/>
          <p:cNvSpPr/>
          <p:nvPr/>
        </p:nvSpPr>
        <p:spPr>
          <a:xfrm>
            <a:off x="2206621" y="1143000"/>
            <a:ext cx="274476" cy="45720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29" name="5-Point Star 28"/>
          <p:cNvSpPr/>
          <p:nvPr/>
        </p:nvSpPr>
        <p:spPr>
          <a:xfrm>
            <a:off x="1566697" y="3048000"/>
            <a:ext cx="274476" cy="45720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30" name="5-Point Star 29"/>
          <p:cNvSpPr/>
          <p:nvPr/>
        </p:nvSpPr>
        <p:spPr>
          <a:xfrm>
            <a:off x="1917373" y="3048000"/>
            <a:ext cx="274476" cy="45720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31" name="5-Point Star 30"/>
          <p:cNvSpPr/>
          <p:nvPr/>
        </p:nvSpPr>
        <p:spPr>
          <a:xfrm>
            <a:off x="2222173" y="3048000"/>
            <a:ext cx="274476" cy="45720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32" name="5-Point Star 31"/>
          <p:cNvSpPr/>
          <p:nvPr/>
        </p:nvSpPr>
        <p:spPr>
          <a:xfrm>
            <a:off x="2222173" y="4495800"/>
            <a:ext cx="274476" cy="45720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33" name="5-Point Star 32"/>
          <p:cNvSpPr/>
          <p:nvPr/>
        </p:nvSpPr>
        <p:spPr>
          <a:xfrm>
            <a:off x="2557297" y="4495800"/>
            <a:ext cx="274476" cy="45720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34" name="5-Point Star 33"/>
          <p:cNvSpPr/>
          <p:nvPr/>
        </p:nvSpPr>
        <p:spPr>
          <a:xfrm>
            <a:off x="2534093" y="3054249"/>
            <a:ext cx="274476" cy="45720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35" name="5-Point Star 34"/>
          <p:cNvSpPr/>
          <p:nvPr/>
        </p:nvSpPr>
        <p:spPr>
          <a:xfrm>
            <a:off x="2533543" y="1143000"/>
            <a:ext cx="274476" cy="457200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697" y="883312"/>
            <a:ext cx="3943421" cy="492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06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707172"/>
            <a:ext cx="7391401" cy="5716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48625-5C6B-794F-9261-D96E023D5BA9}" type="slidenum">
              <a:rPr lang="en-US" smtClean="0"/>
              <a:pPr/>
              <a:t>14</a:t>
            </a:fld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114300" y="-457200"/>
            <a:ext cx="7886700" cy="1006475"/>
          </a:xfrm>
        </p:spPr>
        <p:txBody>
          <a:bodyPr/>
          <a:lstStyle/>
          <a:p>
            <a:r>
              <a:rPr lang="en-US" sz="2800" dirty="0" smtClean="0"/>
              <a:t>MiniLab parameters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-335536" y="4315433"/>
            <a:ext cx="426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	 		 </a:t>
            </a:r>
          </a:p>
          <a:p>
            <a:pPr lvl="1" algn="ctr"/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  <a:p>
            <a:pPr lvl="1" algn="ctr"/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90898" y="6138446"/>
            <a:ext cx="5375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A solution for every oil program with a clear </a:t>
            </a:r>
            <a:r>
              <a:rPr lang="en-US" sz="1600" dirty="0">
                <a:solidFill>
                  <a:srgbClr val="FF0000"/>
                </a:solidFill>
              </a:rPr>
              <a:t>upgrade path</a:t>
            </a:r>
          </a:p>
        </p:txBody>
      </p:sp>
    </p:spTree>
    <p:extLst>
      <p:ext uri="{BB962C8B-B14F-4D97-AF65-F5344CB8AC3E}">
        <p14:creationId xmlns:p14="http://schemas.microsoft.com/office/powerpoint/2010/main" val="353237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Excellent repeatability of measurements for trending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15</a:t>
            </a:fld>
            <a:r>
              <a:rPr lang="en-US" smtClean="0"/>
              <a:t>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388714"/>
              </p:ext>
            </p:extLst>
          </p:nvPr>
        </p:nvGraphicFramePr>
        <p:xfrm>
          <a:off x="1143000" y="1188096"/>
          <a:ext cx="6858000" cy="4679304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1694329"/>
                <a:gridCol w="2801471"/>
                <a:gridCol w="2362200"/>
              </a:tblGrid>
              <a:tr h="3719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Analytical Range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Repeatability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390098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u="none" strike="noStrike" dirty="0">
                          <a:effectLst/>
                        </a:rPr>
                        <a:t>Particle Count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4 um-100um 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 ± 6% RSD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38100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u="none" strike="noStrike" dirty="0">
                          <a:effectLst/>
                        </a:rPr>
                        <a:t>Total Ferrous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10 - 2,000 ppm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± 5% RSD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53340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u="none" strike="noStrike" dirty="0">
                          <a:effectLst/>
                        </a:rPr>
                        <a:t>Ferrous Particle Count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25-100 um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± 5% RSD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371902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u="none" strike="noStrike" dirty="0" smtClean="0">
                          <a:effectLst/>
                        </a:rPr>
                        <a:t>Viscosity (Low)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1-320 </a:t>
                      </a:r>
                      <a:r>
                        <a:rPr lang="en-US" sz="1800" u="none" strike="noStrike" dirty="0" err="1" smtClean="0">
                          <a:effectLst/>
                        </a:rPr>
                        <a:t>cSt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± 3% RSD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371902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u="none" strike="noStrike" dirty="0" smtClean="0">
                          <a:effectLst/>
                        </a:rPr>
                        <a:t>Viscosity (High)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320-700 cSt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± 5% RSD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371902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u="none" strike="noStrike" dirty="0">
                          <a:effectLst/>
                        </a:rPr>
                        <a:t>TAN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0-6 mg KOH/g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± 3% RSD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371902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u="none" strike="noStrike" dirty="0">
                          <a:effectLst/>
                        </a:rPr>
                        <a:t>Oxidation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0-3 abs/mm2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± 3% RSD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371902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u="none" strike="noStrike" dirty="0">
                          <a:effectLst/>
                        </a:rPr>
                        <a:t>Dissolved water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smtClean="0">
                          <a:effectLst/>
                        </a:rPr>
                        <a:t>200 </a:t>
                      </a:r>
                      <a:r>
                        <a:rPr lang="en-US" sz="1800" u="none" strike="noStrike">
                          <a:effectLst/>
                        </a:rPr>
                        <a:t>ppm-saturation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± 6% RSD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444686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u="none" strike="noStrike" dirty="0">
                          <a:effectLst/>
                        </a:rPr>
                        <a:t>Free water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0.1-6.5%  </a:t>
                      </a:r>
                      <a:endParaRPr lang="en-US" sz="1800" u="none" strike="noStrike" dirty="0" smtClean="0">
                        <a:effectLst/>
                      </a:endParaRPr>
                    </a:p>
                    <a:p>
                      <a:pPr algn="ctr" rtl="0" fontAlgn="ctr"/>
                      <a:r>
                        <a:rPr lang="en-US" sz="1400" u="none" strike="noStrike" dirty="0" smtClean="0">
                          <a:effectLst/>
                        </a:rPr>
                        <a:t>(</a:t>
                      </a:r>
                      <a:r>
                        <a:rPr lang="en-US" sz="1400" u="none" strike="noStrike" dirty="0">
                          <a:effectLst/>
                        </a:rPr>
                        <a:t>1,000-65,000 ppm)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± 25% RSD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  <a:tr h="444686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u="none" strike="noStrike" dirty="0" smtClean="0">
                          <a:effectLst/>
                        </a:rPr>
                        <a:t>Elemental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smtClean="0">
                          <a:effectLst/>
                        </a:rPr>
                        <a:t>Varies with</a:t>
                      </a:r>
                      <a:r>
                        <a:rPr lang="en-US" sz="1800" u="none" strike="noStrike" baseline="0" dirty="0" smtClean="0">
                          <a:effectLst/>
                        </a:rPr>
                        <a:t> element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smtClean="0">
                          <a:effectLst/>
                        </a:rPr>
                        <a:t>Varies with element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29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443330"/>
              </p:ext>
            </p:extLst>
          </p:nvPr>
        </p:nvGraphicFramePr>
        <p:xfrm>
          <a:off x="482424" y="685801"/>
          <a:ext cx="8322911" cy="5195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177"/>
                <a:gridCol w="2357868"/>
                <a:gridCol w="2027866"/>
              </a:tblGrid>
              <a:tr h="46897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Typical lab report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Trivector report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48606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Elemental analysis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rowSpan="6" gridSpan="2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606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Particle count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&amp; ISO codes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11248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Viscosity,40C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11248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Water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81403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TAN/TBN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618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Oxidation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4845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Ferrous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PQ/DR </a:t>
                      </a:r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ferrography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Fe in ppm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24845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Large Fe count &amp; distribution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DR </a:t>
                      </a:r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ferrography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Fe distribution &gt;20um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24845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Analytical </a:t>
                      </a:r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ferrography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Optional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Automated classification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24845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Wear images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24845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Wear classification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(cutting, sliding, fatigue)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Trendable data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275865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Non-metallic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count &amp; distribution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Trendable data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16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7734300" cy="533400"/>
          </a:xfrm>
        </p:spPr>
        <p:txBody>
          <a:bodyPr>
            <a:normAutofit/>
          </a:bodyPr>
          <a:lstStyle/>
          <a:p>
            <a:r>
              <a:rPr lang="en-US" sz="2600" dirty="0" smtClean="0"/>
              <a:t>Lab report vs. </a:t>
            </a:r>
            <a:r>
              <a:rPr lang="en-US" sz="2600" dirty="0" err="1" smtClean="0"/>
              <a:t>OilView</a:t>
            </a:r>
            <a:r>
              <a:rPr lang="en-US" sz="2600" baseline="30000" dirty="0" smtClean="0"/>
              <a:t>®</a:t>
            </a:r>
            <a:r>
              <a:rPr lang="en-US" sz="2600" dirty="0" smtClean="0"/>
              <a:t> </a:t>
            </a:r>
            <a:r>
              <a:rPr lang="en-US" sz="2600" dirty="0" err="1" smtClean="0"/>
              <a:t>TriVector</a:t>
            </a:r>
            <a:r>
              <a:rPr lang="en-US" sz="2600" baseline="30000" dirty="0" err="1" smtClean="0"/>
              <a:t>TM</a:t>
            </a:r>
            <a:r>
              <a:rPr lang="en-US" sz="2600" dirty="0" smtClean="0"/>
              <a:t> report</a:t>
            </a:r>
            <a:endParaRPr lang="en-US" sz="2600" dirty="0"/>
          </a:p>
        </p:txBody>
      </p:sp>
      <p:sp>
        <p:nvSpPr>
          <p:cNvPr id="9" name="TextBox 8"/>
          <p:cNvSpPr txBox="1"/>
          <p:nvPr/>
        </p:nvSpPr>
        <p:spPr>
          <a:xfrm>
            <a:off x="1155227" y="6132054"/>
            <a:ext cx="70743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Simplified for on-site oil analysis - automated </a:t>
            </a:r>
            <a:r>
              <a:rPr lang="en-US" sz="1600" dirty="0" err="1">
                <a:solidFill>
                  <a:srgbClr val="FF0000"/>
                </a:solidFill>
              </a:rPr>
              <a:t>f</a:t>
            </a:r>
            <a:r>
              <a:rPr lang="en-US" sz="1600" dirty="0" err="1" smtClean="0">
                <a:solidFill>
                  <a:srgbClr val="FF0000"/>
                </a:solidFill>
              </a:rPr>
              <a:t>errography</a:t>
            </a:r>
            <a:r>
              <a:rPr lang="en-US" sz="1600" dirty="0" smtClean="0">
                <a:solidFill>
                  <a:srgbClr val="FF0000"/>
                </a:solidFill>
              </a:rPr>
              <a:t> for the non-expert</a:t>
            </a:r>
          </a:p>
        </p:txBody>
      </p:sp>
    </p:spTree>
    <p:extLst>
      <p:ext uri="{BB962C8B-B14F-4D97-AF65-F5344CB8AC3E}">
        <p14:creationId xmlns:p14="http://schemas.microsoft.com/office/powerpoint/2010/main" val="35640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7349" y="-77519"/>
            <a:ext cx="9026652" cy="609600"/>
          </a:xfrm>
        </p:spPr>
        <p:txBody>
          <a:bodyPr/>
          <a:lstStyle/>
          <a:p>
            <a:r>
              <a:rPr lang="en-US" dirty="0" smtClean="0"/>
              <a:t>How does LNF </a:t>
            </a:r>
            <a:r>
              <a:rPr lang="en-US" dirty="0"/>
              <a:t>p</a:t>
            </a:r>
            <a:r>
              <a:rPr lang="en-US" dirty="0" smtClean="0"/>
              <a:t>article </a:t>
            </a:r>
            <a:r>
              <a:rPr lang="en-US" dirty="0"/>
              <a:t>a</a:t>
            </a:r>
            <a:r>
              <a:rPr lang="en-US" dirty="0" smtClean="0"/>
              <a:t>nalyzer work</a:t>
            </a:r>
            <a:endParaRPr lang="en-US" dirty="0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17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 rot="1764810">
            <a:off x="3208147" y="2406125"/>
            <a:ext cx="780378" cy="255080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4490703" y="3121228"/>
            <a:ext cx="403385" cy="255080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" descr="C:\Users\yzhao\Dropbox\Spectro Literature\Product Photos\Q200\Q200_651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6635" y="82764"/>
            <a:ext cx="1021421" cy="106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836" y="1371600"/>
            <a:ext cx="6948509" cy="491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1872198" cy="1556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322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the RDE Elemental analyzer work</a:t>
            </a:r>
            <a:endParaRPr lang="en-US" dirty="0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18</a:t>
            </a:fld>
            <a:r>
              <a:rPr lang="en-US" smtClean="0"/>
              <a:t> </a:t>
            </a:r>
            <a:endParaRPr 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817" y="1371600"/>
            <a:ext cx="3462337" cy="303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Rectangle 24"/>
          <p:cNvSpPr/>
          <p:nvPr/>
        </p:nvSpPr>
        <p:spPr>
          <a:xfrm>
            <a:off x="838201" y="1828800"/>
            <a:ext cx="373379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Oil sample is loaded into cup. Rotating disk carries oil into AC arc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Emission lines emitted representative of specific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Spectrum captured with CCD detectors</a:t>
            </a:r>
          </a:p>
          <a:p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36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</a:t>
            </a:r>
            <a:r>
              <a:rPr lang="en-US" dirty="0" err="1" smtClean="0"/>
              <a:t>Fluidscan</a:t>
            </a:r>
            <a:r>
              <a:rPr lang="en-US" baseline="30000" dirty="0" smtClean="0"/>
              <a:t>®</a:t>
            </a:r>
            <a:r>
              <a:rPr lang="en-US" dirty="0" smtClean="0"/>
              <a:t> work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19</a:t>
            </a:fld>
            <a:r>
              <a:rPr lang="en-US" smtClean="0"/>
              <a:t> 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5361992" y="990600"/>
            <a:ext cx="2892490" cy="1726163"/>
            <a:chOff x="5410200" y="1277706"/>
            <a:chExt cx="2892490" cy="1726163"/>
          </a:xfrm>
        </p:grpSpPr>
        <p:pic>
          <p:nvPicPr>
            <p:cNvPr id="16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87" t="22704" r="3134" b="28029"/>
            <a:stretch/>
          </p:blipFill>
          <p:spPr bwMode="auto">
            <a:xfrm>
              <a:off x="5410200" y="1277706"/>
              <a:ext cx="2892490" cy="1726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6438143" y="1426016"/>
              <a:ext cx="13933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IR Spectrum</a:t>
              </a:r>
            </a:p>
          </p:txBody>
        </p:sp>
      </p:grp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90" y="1183949"/>
            <a:ext cx="3804397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4582" y="11285"/>
            <a:ext cx="1077023" cy="1131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ight Arrow 12"/>
          <p:cNvSpPr/>
          <p:nvPr/>
        </p:nvSpPr>
        <p:spPr>
          <a:xfrm>
            <a:off x="4191000" y="1670957"/>
            <a:ext cx="1066800" cy="53340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6553200" y="3162300"/>
            <a:ext cx="533400" cy="952500"/>
          </a:xfrm>
          <a:prstGeom prst="down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980" y="3397445"/>
            <a:ext cx="2284414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ight Arrow 60"/>
          <p:cNvSpPr/>
          <p:nvPr/>
        </p:nvSpPr>
        <p:spPr>
          <a:xfrm flipH="1">
            <a:off x="4186335" y="4730945"/>
            <a:ext cx="1066800" cy="53340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295400" y="6117766"/>
            <a:ext cx="2066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Measured fluid properties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593702" y="4610164"/>
            <a:ext cx="2521844" cy="1277674"/>
            <a:chOff x="5593702" y="4610164"/>
            <a:chExt cx="2521844" cy="1277674"/>
          </a:xfrm>
        </p:grpSpPr>
        <p:sp>
          <p:nvSpPr>
            <p:cNvPr id="54" name="TextBox 53"/>
            <p:cNvSpPr txBox="1"/>
            <p:nvPr/>
          </p:nvSpPr>
          <p:spPr>
            <a:xfrm>
              <a:off x="5593702" y="5610839"/>
              <a:ext cx="25218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Built-in Fluid Reference Library 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5749724" y="4610164"/>
              <a:ext cx="2209800" cy="693644"/>
              <a:chOff x="5791200" y="4610164"/>
              <a:chExt cx="2209800" cy="693644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5791200" y="4610164"/>
                <a:ext cx="1619521" cy="693644"/>
                <a:chOff x="5791200" y="4610164"/>
                <a:chExt cx="1619521" cy="693644"/>
              </a:xfrm>
            </p:grpSpPr>
            <p:pic>
              <p:nvPicPr>
                <p:cNvPr id="29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87" t="22704" r="3134" b="28029"/>
                <a:stretch/>
              </p:blipFill>
              <p:spPr bwMode="auto">
                <a:xfrm>
                  <a:off x="5791200" y="4610164"/>
                  <a:ext cx="1162321" cy="6936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scene3d>
                  <a:camera prst="isometricOffAxis2Right"/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30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87" t="22704" r="3134" b="28029"/>
                <a:stretch/>
              </p:blipFill>
              <p:spPr bwMode="auto">
                <a:xfrm>
                  <a:off x="5943600" y="4610164"/>
                  <a:ext cx="1162321" cy="6936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scene3d>
                  <a:camera prst="isometricOffAxis2Right"/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31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87" t="22704" r="3134" b="28029"/>
                <a:stretch/>
              </p:blipFill>
              <p:spPr bwMode="auto">
                <a:xfrm>
                  <a:off x="6096000" y="4610164"/>
                  <a:ext cx="1162321" cy="6936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scene3d>
                  <a:camera prst="isometricOffAxis2Right"/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32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87" t="22704" r="3134" b="28029"/>
                <a:stretch/>
              </p:blipFill>
              <p:spPr bwMode="auto">
                <a:xfrm>
                  <a:off x="6248400" y="4610164"/>
                  <a:ext cx="1162321" cy="6936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scene3d>
                  <a:camera prst="isometricOffAxis2Right"/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grpSp>
            <p:nvGrpSpPr>
              <p:cNvPr id="34" name="Group 33"/>
              <p:cNvGrpSpPr/>
              <p:nvPr/>
            </p:nvGrpSpPr>
            <p:grpSpPr>
              <a:xfrm>
                <a:off x="6381479" y="4610164"/>
                <a:ext cx="1619521" cy="693644"/>
                <a:chOff x="5791200" y="4610164"/>
                <a:chExt cx="1619521" cy="693644"/>
              </a:xfrm>
            </p:grpSpPr>
            <p:pic>
              <p:nvPicPr>
                <p:cNvPr id="35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87" t="22704" r="3134" b="28029"/>
                <a:stretch/>
              </p:blipFill>
              <p:spPr bwMode="auto">
                <a:xfrm>
                  <a:off x="5791200" y="4610164"/>
                  <a:ext cx="1162321" cy="6936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scene3d>
                  <a:camera prst="isometricOffAxis2Right"/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36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87" t="22704" r="3134" b="28029"/>
                <a:stretch/>
              </p:blipFill>
              <p:spPr bwMode="auto">
                <a:xfrm>
                  <a:off x="5943600" y="4610164"/>
                  <a:ext cx="1162321" cy="6936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scene3d>
                  <a:camera prst="isometricOffAxis2Right"/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37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87" t="22704" r="3134" b="28029"/>
                <a:stretch/>
              </p:blipFill>
              <p:spPr bwMode="auto">
                <a:xfrm>
                  <a:off x="6096000" y="4610164"/>
                  <a:ext cx="1162321" cy="6936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scene3d>
                  <a:camera prst="isometricOffAxis2Right"/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38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87" t="22704" r="3134" b="28029"/>
                <a:stretch/>
              </p:blipFill>
              <p:spPr bwMode="auto">
                <a:xfrm>
                  <a:off x="6248400" y="4610164"/>
                  <a:ext cx="1162321" cy="6936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scene3d>
                  <a:camera prst="isometricOffAxis2Right"/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82932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the viscometer work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20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Use the command - INSERT - SLIDE NUMBER - FOOTER - type text into box - APPLY TO ALL</a:t>
            </a:r>
            <a:endParaRPr lang="en-US" dirty="0"/>
          </a:p>
        </p:txBody>
      </p:sp>
      <p:pic>
        <p:nvPicPr>
          <p:cNvPr id="6" name="Picture 3" descr="\\ltnfs01\LTNShared\Product Design\SpectroPVisc\Portable Viscometer Photos\Updated UG photos 121311\DSC00448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09" b="98734" l="3272" r="99156">
                        <a14:foregroundMark x1="18100" y1="49648" x2="56095" y2="58615"/>
                        <a14:foregroundMark x1="20106" y1="53235" x2="11029" y2="52567"/>
                        <a14:foregroundMark x1="74723" y1="66596" x2="75884" y2="56751"/>
                        <a14:foregroundMark x1="52637" y1="86267" x2="71868" y2="747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68124" y="330769"/>
            <a:ext cx="922952" cy="138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4" name="TextBox 6153"/>
          <p:cNvSpPr txBox="1"/>
          <p:nvPr/>
        </p:nvSpPr>
        <p:spPr>
          <a:xfrm>
            <a:off x="1321202" y="5029200"/>
            <a:ext cx="667979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Elapsed time for sample to travel under gravity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down 40C heated cell 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is measured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and the Kinematic Viscosity calculated 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Viscosity=  A* (t</a:t>
            </a:r>
            <a:r>
              <a:rPr lang="en-US" sz="1600" baseline="-25000" dirty="0" smtClean="0">
                <a:solidFill>
                  <a:schemeClr val="bg1">
                    <a:lumMod val="50000"/>
                  </a:schemeClr>
                </a:solidFill>
              </a:rPr>
              <a:t>1 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- t</a:t>
            </a:r>
            <a:r>
              <a:rPr lang="en-US" sz="1600" baseline="-25000" dirty="0" smtClean="0">
                <a:solidFill>
                  <a:schemeClr val="bg1">
                    <a:lumMod val="50000"/>
                  </a:schemeClr>
                </a:solidFill>
              </a:rPr>
              <a:t>0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) + B</a:t>
            </a:r>
          </a:p>
          <a:p>
            <a:pPr lvl="1"/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     *A and B are calibration coefficients</a:t>
            </a:r>
          </a:p>
        </p:txBody>
      </p:sp>
      <p:grpSp>
        <p:nvGrpSpPr>
          <p:cNvPr id="6156" name="Group 6155"/>
          <p:cNvGrpSpPr/>
          <p:nvPr/>
        </p:nvGrpSpPr>
        <p:grpSpPr>
          <a:xfrm>
            <a:off x="947611" y="1422218"/>
            <a:ext cx="6280996" cy="3117419"/>
            <a:chOff x="359546" y="1366655"/>
            <a:chExt cx="6280996" cy="3117419"/>
          </a:xfrm>
        </p:grpSpPr>
        <p:pic>
          <p:nvPicPr>
            <p:cNvPr id="9" name="Picture 3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211" b="90316" l="7932" r="97059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28" t="9127" r="2360" b="7940"/>
            <a:stretch/>
          </p:blipFill>
          <p:spPr bwMode="auto">
            <a:xfrm rot="19032697" flipH="1">
              <a:off x="359546" y="1366655"/>
              <a:ext cx="3778241" cy="2534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8" name="Group 27"/>
            <p:cNvGrpSpPr/>
            <p:nvPr/>
          </p:nvGrpSpPr>
          <p:grpSpPr>
            <a:xfrm>
              <a:off x="4351215" y="1752600"/>
              <a:ext cx="1406179" cy="2589370"/>
              <a:chOff x="4258491" y="928823"/>
              <a:chExt cx="1800225" cy="3857625"/>
            </a:xfrm>
          </p:grpSpPr>
          <p:pic>
            <p:nvPicPr>
              <p:cNvPr id="6146" name="Picture 2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0" b="100000" l="9524" r="89418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58491" y="928823"/>
                <a:ext cx="1800225" cy="3857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Right Arrow 16"/>
              <p:cNvSpPr/>
              <p:nvPr/>
            </p:nvSpPr>
            <p:spPr>
              <a:xfrm rot="1848633">
                <a:off x="5302827" y="3172001"/>
                <a:ext cx="641680" cy="68112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ight Arrow 20"/>
              <p:cNvSpPr/>
              <p:nvPr/>
            </p:nvSpPr>
            <p:spPr>
              <a:xfrm rot="1848633">
                <a:off x="5098596" y="3826706"/>
                <a:ext cx="822935" cy="68112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" name="Straight Arrow Connector 21"/>
            <p:cNvCxnSpPr/>
            <p:nvPr/>
          </p:nvCxnSpPr>
          <p:spPr>
            <a:xfrm>
              <a:off x="2743200" y="1569131"/>
              <a:ext cx="2173989" cy="183469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1676400" y="2133600"/>
              <a:ext cx="2819400" cy="1752600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7" name="Straight Arrow Connector 6146"/>
            <p:cNvCxnSpPr/>
            <p:nvPr/>
          </p:nvCxnSpPr>
          <p:spPr>
            <a:xfrm>
              <a:off x="5564224" y="1981200"/>
              <a:ext cx="0" cy="100269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49" name="TextBox 6148"/>
            <p:cNvSpPr txBox="1"/>
            <p:nvPr/>
          </p:nvSpPr>
          <p:spPr>
            <a:xfrm rot="5400000">
              <a:off x="4978978" y="2234528"/>
              <a:ext cx="15568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Oil Flow by gravity</a:t>
              </a:r>
            </a:p>
          </p:txBody>
        </p:sp>
        <p:sp>
          <p:nvSpPr>
            <p:cNvPr id="6152" name="TextBox 6151"/>
            <p:cNvSpPr txBox="1"/>
            <p:nvPr/>
          </p:nvSpPr>
          <p:spPr>
            <a:xfrm>
              <a:off x="5533055" y="3240061"/>
              <a:ext cx="11010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Time = t</a:t>
              </a:r>
              <a:r>
                <a:rPr lang="en-US" baseline="-25000" dirty="0" smtClean="0"/>
                <a:t>0</a:t>
              </a:r>
              <a:endParaRPr lang="en-US" dirty="0" smtClean="0"/>
            </a:p>
          </p:txBody>
        </p:sp>
        <p:sp>
          <p:nvSpPr>
            <p:cNvPr id="6153" name="Rectangle 6152"/>
            <p:cNvSpPr/>
            <p:nvPr/>
          </p:nvSpPr>
          <p:spPr>
            <a:xfrm>
              <a:off x="5539535" y="3745410"/>
              <a:ext cx="11010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Time = </a:t>
              </a:r>
              <a:r>
                <a:rPr lang="en-US" dirty="0" smtClean="0"/>
                <a:t>t</a:t>
              </a:r>
              <a:r>
                <a:rPr lang="en-US" baseline="-25000" dirty="0" smtClean="0"/>
                <a:t>1</a:t>
              </a:r>
              <a:endParaRPr lang="en-US" dirty="0"/>
            </a:p>
          </p:txBody>
        </p:sp>
        <p:sp>
          <p:nvSpPr>
            <p:cNvPr id="6155" name="TextBox 6154"/>
            <p:cNvSpPr txBox="1"/>
            <p:nvPr/>
          </p:nvSpPr>
          <p:spPr>
            <a:xfrm>
              <a:off x="2352357" y="4114742"/>
              <a:ext cx="2166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Temperature = 40C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952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/>
          <p:cNvSpPr txBox="1">
            <a:spLocks/>
          </p:cNvSpPr>
          <p:nvPr/>
        </p:nvSpPr>
        <p:spPr>
          <a:xfrm>
            <a:off x="8805334" y="6515100"/>
            <a:ext cx="16933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E81006-2E78-4CA8-9281-5B111224417B}" type="slidenum">
              <a:rPr lang="en-US" sz="1200" smtClean="0">
                <a:solidFill>
                  <a:prstClr val="white"/>
                </a:solidFill>
              </a:rPr>
              <a:pPr/>
              <a:t>21</a:t>
            </a:fld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9" name="Slide Number Placeholder 16"/>
          <p:cNvSpPr txBox="1">
            <a:spLocks/>
          </p:cNvSpPr>
          <p:nvPr/>
        </p:nvSpPr>
        <p:spPr>
          <a:xfrm>
            <a:off x="8805334" y="6515100"/>
            <a:ext cx="338666" cy="34290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0" i="0" kern="1200">
                <a:solidFill>
                  <a:schemeClr val="bg1"/>
                </a:solidFill>
                <a:latin typeface="Univers 55"/>
                <a:ea typeface="+mn-ea"/>
                <a:cs typeface="Univers 55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</a:rPr>
              <a:pPr algn="ctr"/>
              <a:t>21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4"/>
          <p:cNvSpPr txBox="1">
            <a:spLocks/>
          </p:cNvSpPr>
          <p:nvPr/>
        </p:nvSpPr>
        <p:spPr>
          <a:xfrm>
            <a:off x="114300" y="1"/>
            <a:ext cx="9026652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78AE"/>
                </a:solidFill>
                <a:latin typeface="Arial Narrow bold"/>
              </a:rPr>
              <a:t>MiniLab 153 analyses</a:t>
            </a:r>
            <a:endParaRPr lang="en-US" dirty="0">
              <a:solidFill>
                <a:srgbClr val="0078AE"/>
              </a:solidFill>
              <a:latin typeface="Arial Narrow bold"/>
            </a:endParaRPr>
          </a:p>
        </p:txBody>
      </p:sp>
      <p:grpSp>
        <p:nvGrpSpPr>
          <p:cNvPr id="19470" name="Group 19469"/>
          <p:cNvGrpSpPr/>
          <p:nvPr/>
        </p:nvGrpSpPr>
        <p:grpSpPr>
          <a:xfrm>
            <a:off x="281797" y="914400"/>
            <a:ext cx="2438400" cy="897714"/>
            <a:chOff x="777795" y="3137002"/>
            <a:chExt cx="2438400" cy="838200"/>
          </a:xfrm>
        </p:grpSpPr>
        <p:sp>
          <p:nvSpPr>
            <p:cNvPr id="22" name="Rounded Rectangle 21"/>
            <p:cNvSpPr/>
            <p:nvPr/>
          </p:nvSpPr>
          <p:spPr>
            <a:xfrm>
              <a:off x="777795" y="3137002"/>
              <a:ext cx="2438400" cy="83820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</a:endParaRPr>
            </a:p>
          </p:txBody>
        </p:sp>
        <p:pic>
          <p:nvPicPr>
            <p:cNvPr id="1946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610" y="3200316"/>
              <a:ext cx="2188323" cy="667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TextBox 10"/>
          <p:cNvSpPr txBox="1"/>
          <p:nvPr/>
        </p:nvSpPr>
        <p:spPr>
          <a:xfrm>
            <a:off x="2971800" y="703183"/>
            <a:ext cx="5833534" cy="135421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The Infrared Spectrometer measures TAN (Total Acid Number), Water and Oxidation for machinery oils and hydraulics. </a:t>
            </a:r>
            <a:endParaRPr lang="en-US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For engine oil it measures oxidation, nitration, sulfation, total base number (TBN), soot and water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90423" y="2430210"/>
            <a:ext cx="8514911" cy="923330"/>
            <a:chOff x="290423" y="2430210"/>
            <a:chExt cx="8514911" cy="923330"/>
          </a:xfrm>
        </p:grpSpPr>
        <p:grpSp>
          <p:nvGrpSpPr>
            <p:cNvPr id="3" name="Group 2"/>
            <p:cNvGrpSpPr/>
            <p:nvPr/>
          </p:nvGrpSpPr>
          <p:grpSpPr>
            <a:xfrm>
              <a:off x="290423" y="2455086"/>
              <a:ext cx="2438400" cy="897714"/>
              <a:chOff x="5943600" y="1043995"/>
              <a:chExt cx="2438400" cy="838200"/>
            </a:xfrm>
          </p:grpSpPr>
          <p:grpSp>
            <p:nvGrpSpPr>
              <p:cNvPr id="19468" name="Group 19467"/>
              <p:cNvGrpSpPr/>
              <p:nvPr/>
            </p:nvGrpSpPr>
            <p:grpSpPr>
              <a:xfrm>
                <a:off x="5943600" y="1043995"/>
                <a:ext cx="2438400" cy="838200"/>
                <a:chOff x="5943600" y="1043995"/>
                <a:chExt cx="2438400" cy="838200"/>
              </a:xfrm>
            </p:grpSpPr>
            <p:sp>
              <p:nvSpPr>
                <p:cNvPr id="6" name="Rounded Rectangle 5"/>
                <p:cNvSpPr/>
                <p:nvPr/>
              </p:nvSpPr>
              <p:spPr>
                <a:xfrm>
                  <a:off x="5943600" y="1043995"/>
                  <a:ext cx="2438400" cy="838200"/>
                </a:xfrm>
                <a:prstGeom prst="roundRect">
                  <a:avLst/>
                </a:prstGeom>
                <a:solidFill>
                  <a:schemeClr val="bg1"/>
                </a:solidFill>
                <a:ln w="3810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pic>
              <p:nvPicPr>
                <p:cNvPr id="19460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80839"/>
                <a:stretch/>
              </p:blipFill>
              <p:spPr bwMode="auto">
                <a:xfrm>
                  <a:off x="6073695" y="1189525"/>
                  <a:ext cx="660689" cy="5877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7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509" t="24070" r="39130" b="25930"/>
                <a:stretch/>
              </p:blipFill>
              <p:spPr bwMode="auto">
                <a:xfrm>
                  <a:off x="6781992" y="1189525"/>
                  <a:ext cx="1426174" cy="2938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1029" name="Picture 5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163" b="11793"/>
              <a:stretch/>
            </p:blipFill>
            <p:spPr bwMode="auto">
              <a:xfrm>
                <a:off x="6909007" y="1496608"/>
                <a:ext cx="1277160" cy="2806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0" name="TextBox 49"/>
            <p:cNvSpPr txBox="1"/>
            <p:nvPr/>
          </p:nvSpPr>
          <p:spPr>
            <a:xfrm>
              <a:off x="2971800" y="2430210"/>
              <a:ext cx="5833534" cy="92333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</a:rPr>
                <a:t>The Optical Emission Spectrometer  measures 23 elements: wear metals from mechanical components, elements in oil additives and contamination.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04800" y="3758625"/>
            <a:ext cx="8500534" cy="926019"/>
            <a:chOff x="304800" y="3758625"/>
            <a:chExt cx="8500534" cy="926019"/>
          </a:xfrm>
        </p:grpSpPr>
        <p:grpSp>
          <p:nvGrpSpPr>
            <p:cNvPr id="4" name="Group 3"/>
            <p:cNvGrpSpPr/>
            <p:nvPr/>
          </p:nvGrpSpPr>
          <p:grpSpPr>
            <a:xfrm>
              <a:off x="304800" y="3786930"/>
              <a:ext cx="2438400" cy="897714"/>
              <a:chOff x="6019800" y="3224676"/>
              <a:chExt cx="2438400" cy="838200"/>
            </a:xfrm>
          </p:grpSpPr>
          <p:sp>
            <p:nvSpPr>
              <p:cNvPr id="21" name="Rounded Rectangle 20"/>
              <p:cNvSpPr/>
              <p:nvPr/>
            </p:nvSpPr>
            <p:spPr>
              <a:xfrm>
                <a:off x="6019800" y="3224676"/>
                <a:ext cx="2438400" cy="8382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US">
                  <a:solidFill>
                    <a:prstClr val="white"/>
                  </a:solidFill>
                </a:endParaRPr>
              </a:p>
            </p:txBody>
          </p:sp>
          <p:pic>
            <p:nvPicPr>
              <p:cNvPr id="1028" name="Picture 4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72200" y="3276600"/>
                <a:ext cx="2127521" cy="6097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1" name="TextBox 50"/>
            <p:cNvSpPr txBox="1"/>
            <p:nvPr/>
          </p:nvSpPr>
          <p:spPr>
            <a:xfrm>
              <a:off x="2971800" y="3758625"/>
              <a:ext cx="5833534" cy="92333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</a:rPr>
                <a:t>The  Viscometer measures 40C kinematic viscosity.</a:t>
              </a:r>
            </a:p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</a:rPr>
                <a:t>It also calculates 100C  viscosity using the Viscosity  Index (VI).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305573" y="5198286"/>
            <a:ext cx="2438400" cy="89771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5BA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71433" y="5320702"/>
            <a:ext cx="1814567" cy="652883"/>
            <a:chOff x="3432970" y="4114794"/>
            <a:chExt cx="1814567" cy="609599"/>
          </a:xfrm>
        </p:grpSpPr>
        <p:pic>
          <p:nvPicPr>
            <p:cNvPr id="19461" name="Picture 5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8147"/>
            <a:stretch/>
          </p:blipFill>
          <p:spPr bwMode="auto">
            <a:xfrm>
              <a:off x="3432970" y="4114794"/>
              <a:ext cx="680894" cy="609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5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196" t="34252" r="13811" b="33399"/>
            <a:stretch/>
          </p:blipFill>
          <p:spPr bwMode="auto">
            <a:xfrm>
              <a:off x="4056644" y="4456445"/>
              <a:ext cx="812021" cy="197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5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92" t="36526" r="39548" b="26948"/>
            <a:stretch/>
          </p:blipFill>
          <p:spPr bwMode="auto">
            <a:xfrm>
              <a:off x="3999386" y="4196937"/>
              <a:ext cx="1248151" cy="222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" name="TextBox 51"/>
          <p:cNvSpPr txBox="1"/>
          <p:nvPr/>
        </p:nvSpPr>
        <p:spPr>
          <a:xfrm>
            <a:off x="2995749" y="4928287"/>
            <a:ext cx="5833534" cy="138499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The Particle Counter, Ferrous Monitor and Wear Classifier provides: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Particle Count &amp; ISO Contamination Codes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Total Ferrous content and Ferrous particle count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Wear particle count and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43991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001" y="4267200"/>
            <a:ext cx="1809508" cy="1906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latin typeface="+mn-lt"/>
              </a:rPr>
              <a:pPr algn="ctr"/>
              <a:t>22</a:t>
            </a:fld>
            <a:r>
              <a:rPr lang="en-US" smtClean="0"/>
              <a:t>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28600" y="381001"/>
            <a:ext cx="8686800" cy="1142999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>
                <a:solidFill>
                  <a:schemeClr val="accent1"/>
                </a:solidFill>
              </a:rPr>
              <a:t>The </a:t>
            </a:r>
            <a:r>
              <a:rPr lang="en-US" sz="2800" b="1" dirty="0">
                <a:solidFill>
                  <a:schemeClr val="accent1"/>
                </a:solidFill>
              </a:rPr>
              <a:t>MiniLab </a:t>
            </a:r>
            <a:r>
              <a:rPr lang="en-US" sz="2800" b="1" dirty="0" smtClean="0">
                <a:solidFill>
                  <a:schemeClr val="accent1"/>
                </a:solidFill>
              </a:rPr>
              <a:t>153 </a:t>
            </a:r>
            <a:r>
              <a:rPr lang="en-US" sz="2800" dirty="0">
                <a:solidFill>
                  <a:schemeClr val="accent1"/>
                </a:solidFill>
              </a:rPr>
              <a:t>delivers comprehensive on-site oil </a:t>
            </a:r>
            <a:r>
              <a:rPr lang="en-US" sz="2800" dirty="0" smtClean="0">
                <a:solidFill>
                  <a:schemeClr val="accent1"/>
                </a:solidFill>
              </a:rPr>
              <a:t>analysis with: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Picture 6" descr="C:\Users\rwopperer\AppData\Local\Microsoft\Windows\Temporary Internet Files\Content.Outlook\X37PS253\TrivectorGRAPHIC_201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054833"/>
            <a:ext cx="106873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024466" y="2099608"/>
            <a:ext cx="804333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4 simple tests and results in &lt; 20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Lab-quality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analysis results in your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plant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Simplified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workflow for the non-expert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Trivector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reports with immediate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actionable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Full integration to AMS OilView software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14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1B48625-5C6B-794F-9261-D96E023D5BA9}" type="slidenum">
              <a:rPr lang="en-US" sz="900" smtClean="0">
                <a:solidFill>
                  <a:prstClr val="white"/>
                </a:solidFill>
                <a:latin typeface="Arial"/>
              </a:rPr>
              <a:pPr algn="ctr"/>
              <a:t>23</a:t>
            </a:fld>
            <a:r>
              <a:rPr lang="en-US" smtClean="0">
                <a:solidFill>
                  <a:prstClr val="white"/>
                </a:solidFill>
              </a:rPr>
              <a:t> 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43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pectro">
  <a:themeElements>
    <a:clrScheme name="SPECTRO 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8AE"/>
      </a:accent1>
      <a:accent2>
        <a:srgbClr val="522E91"/>
      </a:accent2>
      <a:accent3>
        <a:srgbClr val="00A0AF"/>
      </a:accent3>
      <a:accent4>
        <a:srgbClr val="7AC143"/>
      </a:accent4>
      <a:accent5>
        <a:srgbClr val="FFC425"/>
      </a:accent5>
      <a:accent6>
        <a:srgbClr val="E87D1E"/>
      </a:accent6>
      <a:hlink>
        <a:srgbClr val="0000FF"/>
      </a:hlink>
      <a:folHlink>
        <a:srgbClr val="800080"/>
      </a:folHlink>
    </a:clrScheme>
    <a:fontScheme name="Custom 7">
      <a:majorFont>
        <a:latin typeface="Arial Narrow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2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pectro">
  <a:themeElements>
    <a:clrScheme name="SPECTRO 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8AE"/>
      </a:accent1>
      <a:accent2>
        <a:srgbClr val="522E91"/>
      </a:accent2>
      <a:accent3>
        <a:srgbClr val="00A0AF"/>
      </a:accent3>
      <a:accent4>
        <a:srgbClr val="7AC143"/>
      </a:accent4>
      <a:accent5>
        <a:srgbClr val="FFC425"/>
      </a:accent5>
      <a:accent6>
        <a:srgbClr val="E87D1E"/>
      </a:accent6>
      <a:hlink>
        <a:srgbClr val="0000FF"/>
      </a:hlink>
      <a:folHlink>
        <a:srgbClr val="800080"/>
      </a:folHlink>
    </a:clrScheme>
    <a:fontScheme name="Custom 7">
      <a:majorFont>
        <a:latin typeface="Arial Narrow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200" dirty="0" smtClean="0"/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10344</TotalTime>
  <Words>986</Words>
  <Application>Microsoft Office PowerPoint</Application>
  <PresentationFormat>On-screen Show (4:3)</PresentationFormat>
  <Paragraphs>237</Paragraphs>
  <Slides>23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Spectro</vt:lpstr>
      <vt:lpstr>1_Custom Design</vt:lpstr>
      <vt:lpstr>Custom Design</vt:lpstr>
      <vt:lpstr>1_Spectro</vt:lpstr>
      <vt:lpstr> MiniLab Series for  Industrial Plants</vt:lpstr>
      <vt:lpstr>PowerPoint Presentation</vt:lpstr>
      <vt:lpstr>PowerPoint Presentation</vt:lpstr>
      <vt:lpstr>Typical limits for machinery types</vt:lpstr>
      <vt:lpstr>Key Analysis Parameters of the MiniLab 153</vt:lpstr>
      <vt:lpstr>PowerPoint Presentation</vt:lpstr>
      <vt:lpstr>Four simple tests - Elemental Analysis</vt:lpstr>
      <vt:lpstr>Four simple tests - Particle Count and Ferrous</vt:lpstr>
      <vt:lpstr>Four simple tests - Viscosity &amp; Chemistry</vt:lpstr>
      <vt:lpstr>PowerPoint Presentation</vt:lpstr>
      <vt:lpstr>Trivector Reports</vt:lpstr>
      <vt:lpstr>Performance verification with standard fluids</vt:lpstr>
      <vt:lpstr>Minilab series configurations</vt:lpstr>
      <vt:lpstr>MiniLab parameters</vt:lpstr>
      <vt:lpstr>Excellent repeatability of measurements for trending</vt:lpstr>
      <vt:lpstr>Lab report vs. OilView® TriVectorTM report</vt:lpstr>
      <vt:lpstr>How does LNF particle analyzer work</vt:lpstr>
      <vt:lpstr>How does the RDE Elemental analyzer work</vt:lpstr>
      <vt:lpstr>How does Fluidscan® work</vt:lpstr>
      <vt:lpstr>How does the viscometer work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Hall</dc:creator>
  <cp:lastModifiedBy>Ken Caldwell</cp:lastModifiedBy>
  <cp:revision>776</cp:revision>
  <cp:lastPrinted>2016-03-31T00:34:52Z</cp:lastPrinted>
  <dcterms:created xsi:type="dcterms:W3CDTF">2014-03-10T16:26:05Z</dcterms:created>
  <dcterms:modified xsi:type="dcterms:W3CDTF">2016-08-25T16:12:16Z</dcterms:modified>
</cp:coreProperties>
</file>